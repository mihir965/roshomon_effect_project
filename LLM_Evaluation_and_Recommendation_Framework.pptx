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we're introducing a robust framework for evaluating and recommending Large Language Models, focusing on something often overlooked: the quality of their reasoning. We'll explore how to move beyond just correct answers to truly understand an LLM's underlying logic. This framework is crucial for deploying LLMs responsibly, especially in high-stakes environments. Let's dive into why this distinction matters so much.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call this challenge the "Rashomon Effect" in LLMs, drawing inspiration from Akira Kurosawa's classic film. Just as characters in the film offer conflicting yet plausible accounts of the same event, LLMs can arrive at the same correct answer through vastly different, and sometimes flawed, reasoning paths. This is a critical blind spot in standard benchmarks, which often only assess the final output. For fields like medicine or law, where trust and transparency are paramount, we can't afford to overlook flawed reasoning, even if the final answer appears correct. This brings us to the core of our evaluation strategy.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address the Rashomon Effect, we've developed a suite of core evaluation metrics, starting with Answer Alignment Score, or AAS, which measures if the final answer is correct. But the real innovation lies in Reasoning Alignment Score, or RAS. RAS directly quantifies how well an LLM's reasoning matches a golden reference, exposing instances where a correct answer might mask poor logic. This is our Rashomon metric; it's designed to reveal those divergent reasoning paths. And then we have Step-Level Matching, or SLMS, which checks if the model covers all necessary steps in its reasoning. These metrics collectively provide a much deeper understanding of an LLM's performance than just looking at the final answer. Now, let's look at some additional metrics that round out our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on our core metrics, we also incorporate Consistency Score, or CS, which assesses the stability of an LLM's reasoning across multiple runs. We also include Domain Knowledge Utilization Score, or DKUS, to measure how effectively the model uses relevant domain concepts. All these metrics feed into our Final Preference Score, or FPS, which is a weighted aggregate. The beauty of FPS is its flexibility: we can adjust the weights in real-time based on the specific application's priorities. For example, in a medical context, reasoning alignment might be weighted much higher than in a tutoring application. This adaptability ensures our framework is relevant across diverse use cases. So, how do we put all these metrics into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data pipeline and methodology are designed for rigorous evaluation. We start by loading a dataset of challenging reasoning problems and their golden truths. Then, we query various LLMs using Chain-of-Thought prompts to elicit their reasoning processes. Next, we parse both the reasoning and the final answers to prepare them for metric computation. Finally, we aggregate and visualize these semantic metrics in a real-time dashboard. We use a standardized dataset from German-RAG-ORPO-Alpaca-HESSIAN-AI, focusing on 50 to 100 hard reasoning problems in English, ensuring fairness by using identical system prompts for all models. For the technical implementation, we leverage all-MiniLM-L6-v2 for embeddings in RAS and AAS calculations, and asymmetric step-matching for SLMS. The entire process is presented through a Streamlit-based dashboard, providing an intuitive interface for real-time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support a diverse range of models, balancing cutting-edge performance with cost-efficiency. This flexibility allows us to tailor our approach to specific project needs, ensuring both quality and budget adherence. We integrate high-quality API-based models like GPT-4o and Claude 3.5 Sonnet for superior performance. For cost-effective experimentation, we also leverage open-source models such as Llama 3.2 and Gemma 2. Our optimization strategies include strict token limits and configurable run controls, which significantly reduce per-call costs and enable rapid iteration. This careful balance ensures we can experiment broadly without incurring prohibitive expenses. Now, let's see how we visualize and interact with these models through our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interactive Streamlit dashboard provides a centralized hub for exploring datasets and evaluating model performance. This dashboard is crucial for understanding how different models behave and for making informed decisions. You can browse golden truth questions, examine reasoning steps, and delve into domain concepts, gaining a comprehensive view of the data. The evaluation controls allow you to select models, adjust question counts, and configure consistency settings for robust stability analysis. This level of control ensures that our evaluations are thorough and reliable. From here, we can dive into the visual representations of these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truly understand model performance, we need powerful visualizations that go beyond simple accuracy metrics. These visualizations reveal the nuances of model behavior and help us identify critical insights. Radar charts provide a unique metric profile for each model, highlighting its strengths across various dimensions. Box plots visualize score distribution, exposing model volatility and reasoning inconsistency, which is vital for high-stakes applications. The head-to-head delta offers a direct comparison between two models, pinpointing specific 'Rashomon moments' where reasoning diverges despite similar answers. This deep visual analysis prepares us for a closer look at individual reasoning paths.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Reasoning Comparison Tool allows us to deep-dive into specific instances where models might arrive at the same answer through different logical paths. This is where the 'Rashomon Effect' truly comes into play, revealing the hidden complexities of AI reasoning. For example, in Question ID 42, both Model A and Model B correctly calculate the heat engine efficiency. However, their step-by-step reasoning, while both valid, follows distinct approaches. Our RAS Delta metric quantifies this divergence, indicating a 'Strong Rashomon Effect' when the difference exceeds 0.15. This tool is indispensable for understanding the underlying logic, not just the final output. This brings us to our key takeaways and the broader implications of this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we've developed a robust framework that goes beyond mere accuracy to evaluate the quality of AI reasoning. This framework is critical for building trustworthy AI, especially in high-stakes domains. We've built a system with five interpretable metrics and interactive dashboards for detailed reasoning comparison, supporting both API and open-source models. This work exposes the 'Rashomon Effect,' demonstrating that identical answers don't always mean identical, or equally sound, reasoning. This is paramount for fields like medicine, law, and engineering, where verifiable logic is non-negotiable. Our goal is to provide actionable insights, ensuring that we trust not just the answer, but the path taken to get there. As the question asks, 'Would you trust a model that got the right answer via flawed reasoning?'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5400675" cy="5143500"/>
          </a:xfrm>
          <a:prstGeom prst="rect">
            <a:avLst/>
          </a:prstGeom>
          <a:solidFill>
            <a:srgbClr val="0A2342"/>
          </a:solidFill>
          <a:ln/>
        </p:spPr>
      </p:sp>
      <p:sp>
        <p:nvSpPr>
          <p:cNvPr id="5" name="Text 1"/>
          <p:cNvSpPr/>
          <p:nvPr/>
        </p:nvSpPr>
        <p:spPr>
          <a:xfrm>
            <a:off x="571500" y="571500"/>
            <a:ext cx="4543425" cy="207169"/>
          </a:xfrm>
          <a:prstGeom prst="rect">
            <a:avLst/>
          </a:prstGeom>
          <a:noFill/>
          <a:ln/>
        </p:spPr>
        <p:txBody>
          <a:bodyPr wrap="square" lIns="0" tIns="0" rIns="0" bIns="0" rtlCol="0" anchor="t">
            <a:spAutoFit/>
          </a:bodyPr>
          <a:lstStyle/>
          <a:p>
            <a:pPr algn="l" indent="0" marL="0">
              <a:buNone/>
            </a:pPr>
            <a:r>
              <a:rPr lang="en-US" sz="1200" spc="2" kern="0" dirty="0">
                <a:solidFill>
                  <a:srgbClr val="3182CE"/>
                </a:solidFill>
                <a:latin typeface="Inter SemiBold" pitchFamily="34" charset="0"/>
                <a:ea typeface="Inter SemiBold" pitchFamily="34" charset="-122"/>
                <a:cs typeface="Inter SemiBold" pitchFamily="34" charset="-120"/>
              </a:rPr>
              <a:t>RESEARCH PRESENTATION</a:t>
            </a:r>
            <a:endParaRPr lang="en-US" sz="1200" dirty="0"/>
          </a:p>
        </p:txBody>
      </p:sp>
      <p:sp>
        <p:nvSpPr>
          <p:cNvPr id="6" name="Text 2"/>
          <p:cNvSpPr/>
          <p:nvPr/>
        </p:nvSpPr>
        <p:spPr>
          <a:xfrm>
            <a:off x="571500" y="835819"/>
            <a:ext cx="4543425" cy="1320115"/>
          </a:xfrm>
          <a:prstGeom prst="rect">
            <a:avLst/>
          </a:prstGeom>
          <a:noFill/>
          <a:ln/>
        </p:spPr>
        <p:txBody>
          <a:bodyPr wrap="square" lIns="0" tIns="0" rIns="0" bIns="0" rtlCol="0" anchor="t">
            <a:spAutoFit/>
          </a:bodyPr>
          <a:lstStyle/>
          <a:p>
            <a:pPr algn="l" indent="0" marL="0">
              <a:lnSpc>
                <a:spcPct val="88000"/>
              </a:lnSpc>
              <a:buNone/>
            </a:pPr>
            <a:r>
              <a:rPr lang="en-US" sz="2850" b="1" dirty="0">
                <a:solidFill>
                  <a:srgbClr val="FFFFFF"/>
                </a:solidFill>
                <a:latin typeface="Montserrat Bold" pitchFamily="34" charset="0"/>
                <a:ea typeface="Montserrat Bold" pitchFamily="34" charset="-122"/>
                <a:cs typeface="Montserrat Bold" pitchFamily="34" charset="-120"/>
              </a:rPr>
              <a:t>Evaluation and Recommendation Framework for LLMs</a:t>
            </a:r>
            <a:endParaRPr lang="en-US" sz="2850" dirty="0"/>
          </a:p>
        </p:txBody>
      </p:sp>
      <p:sp>
        <p:nvSpPr>
          <p:cNvPr id="7" name="Shape 3"/>
          <p:cNvSpPr/>
          <p:nvPr/>
        </p:nvSpPr>
        <p:spPr>
          <a:xfrm>
            <a:off x="5400675" y="0"/>
            <a:ext cx="3743325" cy="5143500"/>
          </a:xfrm>
          <a:prstGeom prst="rect">
            <a:avLst/>
          </a:prstGeom>
          <a:solidFill>
            <a:srgbClr val="F8FAFC"/>
          </a:solidFill>
          <a:ln/>
        </p:spPr>
      </p:sp>
      <p:sp>
        <p:nvSpPr>
          <p:cNvPr id="8" name="Text 4"/>
          <p:cNvSpPr/>
          <p:nvPr/>
        </p:nvSpPr>
        <p:spPr>
          <a:xfrm>
            <a:off x="5829300" y="485775"/>
            <a:ext cx="3028950" cy="155377"/>
          </a:xfrm>
          <a:prstGeom prst="rect">
            <a:avLst/>
          </a:prstGeom>
          <a:noFill/>
          <a:ln/>
        </p:spPr>
        <p:txBody>
          <a:bodyPr wrap="square" lIns="0" tIns="0" rIns="0" bIns="0" rtlCol="0" anchor="t">
            <a:spAutoFit/>
          </a:bodyPr>
          <a:lstStyle/>
          <a:p>
            <a:pPr algn="l" indent="0" marL="0">
              <a:buNone/>
            </a:pPr>
            <a:r>
              <a:rPr lang="en-US" sz="900" dirty="0">
                <a:solidFill>
                  <a:srgbClr val="0A2342"/>
                </a:solidFill>
                <a:latin typeface="Inter SemiBold" pitchFamily="34" charset="0"/>
                <a:ea typeface="Inter SemiBold" pitchFamily="34" charset="-122"/>
                <a:cs typeface="Inter SemiBold" pitchFamily="34" charset="-120"/>
              </a:rPr>
              <a:t>PRESENTED BY</a:t>
            </a:r>
            <a:endParaRPr lang="en-US" sz="900" dirty="0"/>
          </a:p>
        </p:txBody>
      </p:sp>
      <p:sp>
        <p:nvSpPr>
          <p:cNvPr id="9" name="Text 5"/>
          <p:cNvSpPr/>
          <p:nvPr/>
        </p:nvSpPr>
        <p:spPr>
          <a:xfrm>
            <a:off x="5829300" y="684014"/>
            <a:ext cx="3028950" cy="242888"/>
          </a:xfrm>
          <a:prstGeom prst="rect">
            <a:avLst/>
          </a:prstGeom>
          <a:noFill/>
          <a:ln/>
        </p:spPr>
        <p:txBody>
          <a:bodyPr wrap="square" lIns="0" tIns="0" rIns="0" bIns="0" rtlCol="0" anchor="t">
            <a:spAutoFit/>
          </a:bodyPr>
          <a:lstStyle/>
          <a:p>
            <a:pPr algn="l" indent="0" marL="0">
              <a:buNone/>
            </a:pPr>
            <a:r>
              <a:rPr lang="en-US" sz="1500" dirty="0">
                <a:solidFill>
                  <a:srgbClr val="2D3748"/>
                </a:solidFill>
                <a:latin typeface="Inter" pitchFamily="34" charset="0"/>
                <a:ea typeface="Inter" pitchFamily="34" charset="-122"/>
                <a:cs typeface="Inter" pitchFamily="34" charset="-120"/>
              </a:rPr>
              <a:t>Pranika, Varun, Mihir</a:t>
            </a:r>
            <a:endParaRPr lang="en-US" sz="1500" dirty="0"/>
          </a:p>
        </p:txBody>
      </p:sp>
      <p:sp>
        <p:nvSpPr>
          <p:cNvPr id="10" name="Text 6"/>
          <p:cNvSpPr/>
          <p:nvPr/>
        </p:nvSpPr>
        <p:spPr>
          <a:xfrm>
            <a:off x="5829300" y="1012627"/>
            <a:ext cx="3028950" cy="155377"/>
          </a:xfrm>
          <a:prstGeom prst="rect">
            <a:avLst/>
          </a:prstGeom>
          <a:noFill/>
          <a:ln/>
        </p:spPr>
        <p:txBody>
          <a:bodyPr wrap="square" lIns="0" tIns="0" rIns="0" bIns="0" rtlCol="0" anchor="t">
            <a:spAutoFit/>
          </a:bodyPr>
          <a:lstStyle/>
          <a:p>
            <a:pPr algn="l" indent="0" marL="0">
              <a:buNone/>
            </a:pPr>
            <a:r>
              <a:rPr lang="en-US" sz="900" dirty="0">
                <a:solidFill>
                  <a:srgbClr val="0A2342"/>
                </a:solidFill>
                <a:latin typeface="Inter SemiBold" pitchFamily="34" charset="0"/>
                <a:ea typeface="Inter SemiBold" pitchFamily="34" charset="-122"/>
                <a:cs typeface="Inter SemiBold" pitchFamily="34" charset="-120"/>
              </a:rPr>
              <a:t>COURSE</a:t>
            </a:r>
            <a:endParaRPr lang="en-US" sz="900" dirty="0"/>
          </a:p>
        </p:txBody>
      </p:sp>
      <p:sp>
        <p:nvSpPr>
          <p:cNvPr id="11" name="Text 7"/>
          <p:cNvSpPr/>
          <p:nvPr/>
        </p:nvSpPr>
        <p:spPr>
          <a:xfrm>
            <a:off x="5829300" y="1210866"/>
            <a:ext cx="3028950" cy="173236"/>
          </a:xfrm>
          <a:prstGeom prst="rect">
            <a:avLst/>
          </a:prstGeom>
          <a:noFill/>
          <a:ln/>
        </p:spPr>
        <p:txBody>
          <a:bodyPr wrap="square" lIns="0" tIns="0" rIns="0" bIns="0" rtlCol="0" anchor="t">
            <a:spAutoFit/>
          </a:bodyPr>
          <a:lstStyle/>
          <a:p>
            <a:pPr algn="l" indent="0" marL="0">
              <a:buNone/>
            </a:pPr>
            <a:r>
              <a:rPr lang="en-US" sz="1050" dirty="0">
                <a:solidFill>
                  <a:srgbClr val="718096"/>
                </a:solidFill>
                <a:latin typeface="Inter" pitchFamily="34" charset="0"/>
                <a:ea typeface="Inter" pitchFamily="34" charset="-122"/>
                <a:cs typeface="Inter" pitchFamily="34" charset="-120"/>
              </a:rPr>
              <a:t>CS 671 — Rutgers MSCS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9144000" cy="1285875"/>
          </a:xfrm>
          <a:prstGeom prst="rect">
            <a:avLst/>
          </a:prstGeom>
          <a:solidFill>
            <a:srgbClr val="0A2342"/>
          </a:solidFill>
          <a:ln/>
        </p:spPr>
      </p:sp>
      <p:sp>
        <p:nvSpPr>
          <p:cNvPr id="5" name="Text 1"/>
          <p:cNvSpPr/>
          <p:nvPr/>
        </p:nvSpPr>
        <p:spPr>
          <a:xfrm>
            <a:off x="428625" y="576858"/>
            <a:ext cx="8286750" cy="417909"/>
          </a:xfrm>
          <a:prstGeom prst="rect">
            <a:avLst/>
          </a:prstGeom>
          <a:noFill/>
          <a:ln/>
        </p:spPr>
        <p:txBody>
          <a:bodyPr wrap="square" lIns="0" tIns="0" rIns="0" bIns="0" rtlCol="0" anchor="t">
            <a:spAutoFit/>
          </a:bodyPr>
          <a:lstStyle/>
          <a:p>
            <a:pPr algn="l" indent="0" marL="0">
              <a:buNone/>
            </a:pPr>
            <a:r>
              <a:rPr lang="en-US" sz="2450" b="1" dirty="0">
                <a:solidFill>
                  <a:srgbClr val="FFFFFF"/>
                </a:solidFill>
                <a:latin typeface="Montserrat Bold" pitchFamily="34" charset="0"/>
                <a:ea typeface="Montserrat Bold" pitchFamily="34" charset="-122"/>
                <a:cs typeface="Montserrat Bold" pitchFamily="34" charset="-120"/>
              </a:rPr>
              <a:t>The Rashomon Effect in LLMs</a:t>
            </a:r>
            <a:endParaRPr lang="en-US" sz="2450" dirty="0"/>
          </a:p>
        </p:txBody>
      </p:sp>
      <p:sp>
        <p:nvSpPr>
          <p:cNvPr id="6" name="Shape 2"/>
          <p:cNvSpPr/>
          <p:nvPr/>
        </p:nvSpPr>
        <p:spPr>
          <a:xfrm>
            <a:off x="428625" y="1835944"/>
            <a:ext cx="8286750" cy="1390464"/>
          </a:xfrm>
          <a:prstGeom prst="rect">
            <a:avLst/>
          </a:prstGeom>
          <a:solidFill>
            <a:srgbClr val="F8FAFC"/>
          </a:solidFill>
          <a:ln w="9144">
            <a:solidFill>
              <a:srgbClr val="E2E8F0"/>
            </a:solidFill>
            <a:prstDash val="solid"/>
          </a:ln>
        </p:spPr>
      </p:sp>
      <p:sp>
        <p:nvSpPr>
          <p:cNvPr id="7" name="Text 3"/>
          <p:cNvSpPr/>
          <p:nvPr/>
        </p:nvSpPr>
        <p:spPr>
          <a:xfrm>
            <a:off x="571500" y="1978819"/>
            <a:ext cx="1835944" cy="230386"/>
          </a:xfrm>
          <a:prstGeom prst="rect">
            <a:avLst/>
          </a:prstGeom>
          <a:noFill/>
          <a:ln/>
        </p:spPr>
        <p:txBody>
          <a:bodyPr wrap="square" lIns="0" tIns="0" rIns="0" bIns="0" rtlCol="0" anchor="t">
            <a:spAutoFit/>
          </a:bodyPr>
          <a:lstStyle/>
          <a:p>
            <a:pPr algn="l" indent="0" marL="0">
              <a:buNone/>
            </a:pPr>
            <a:r>
              <a:rPr lang="en-US" sz="1250" dirty="0">
                <a:solidFill>
                  <a:srgbClr val="0A2342"/>
                </a:solidFill>
                <a:latin typeface="Montserrat Bold" pitchFamily="34" charset="0"/>
                <a:ea typeface="Montserrat Bold" pitchFamily="34" charset="-122"/>
                <a:cs typeface="Montserrat Bold" pitchFamily="34" charset="-120"/>
              </a:rPr>
              <a:t>The LLM Application</a:t>
            </a:r>
            <a:endParaRPr lang="en-US" sz="1250" dirty="0"/>
          </a:p>
        </p:txBody>
      </p:sp>
      <p:sp>
        <p:nvSpPr>
          <p:cNvPr id="8" name="Text 4"/>
          <p:cNvSpPr/>
          <p:nvPr/>
        </p:nvSpPr>
        <p:spPr>
          <a:xfrm>
            <a:off x="857250" y="2337792"/>
            <a:ext cx="7715250" cy="205718"/>
          </a:xfrm>
          <a:prstGeom prst="rect">
            <a:avLst/>
          </a:prstGeom>
          <a:noFill/>
          <a:ln/>
        </p:spPr>
        <p:txBody>
          <a:bodyPr wrap="none" lIns="212598" tIns="0" rIns="0" bIns="0" rtlCol="0" anchor="t">
            <a:spAutoFit/>
          </a:bodyPr>
          <a:lstStyle/>
          <a:p>
            <a:pPr algn="l" indent="0" marL="0">
              <a:lnSpc>
                <a:spcPct val="128000"/>
              </a:lnSpc>
              <a:buNone/>
            </a:pPr>
            <a:r>
              <a:rPr lang="en-US" sz="950" dirty="0">
                <a:solidFill>
                  <a:srgbClr val="2D3748"/>
                </a:solidFill>
                <a:latin typeface="Inter" pitchFamily="34" charset="0"/>
                <a:ea typeface="Inter" pitchFamily="34" charset="-122"/>
                <a:cs typeface="Inter" pitchFamily="34" charset="-120"/>
              </a:rPr>
              <a:t>Two models reach the </a:t>
            </a:r>
            <a:r>
              <a:rPr lang="en-US" sz="900" dirty="0">
                <a:solidFill>
                  <a:srgbClr val="3182CE"/>
                </a:solidFill>
                <a:latin typeface="Inter SemiBold" pitchFamily="34" charset="0"/>
                <a:ea typeface="Inter SemiBold" pitchFamily="34" charset="-122"/>
                <a:cs typeface="Inter SemiBold" pitchFamily="34" charset="-120"/>
              </a:rPr>
              <a:t>same correct answer</a:t>
            </a:r>
            <a:r>
              <a:rPr lang="en-US" sz="950" dirty="0">
                <a:solidFill>
                  <a:srgbClr val="2D3748"/>
                </a:solidFill>
                <a:latin typeface="Inter" pitchFamily="34" charset="0"/>
                <a:ea typeface="Inter" pitchFamily="34" charset="-122"/>
                <a:cs typeface="Inter" pitchFamily="34" charset="-120"/>
              </a:rPr>
              <a:t> via completely different reasoning paths.</a:t>
            </a:r>
            <a:endParaRPr lang="en-US" sz="950" dirty="0"/>
          </a:p>
        </p:txBody>
      </p:sp>
      <p:sp>
        <p:nvSpPr>
          <p:cNvPr id="9" name="Text 5"/>
          <p:cNvSpPr/>
          <p:nvPr/>
        </p:nvSpPr>
        <p:spPr>
          <a:xfrm>
            <a:off x="857250" y="2629235"/>
            <a:ext cx="7715250" cy="205718"/>
          </a:xfrm>
          <a:prstGeom prst="rect">
            <a:avLst/>
          </a:prstGeom>
          <a:noFill/>
          <a:ln/>
        </p:spPr>
        <p:txBody>
          <a:bodyPr wrap="none" lIns="212598" tIns="0" rIns="0" bIns="0" rtlCol="0" anchor="t">
            <a:spAutoFit/>
          </a:bodyPr>
          <a:lstStyle/>
          <a:p>
            <a:pPr algn="l" indent="0" marL="0">
              <a:lnSpc>
                <a:spcPct val="128000"/>
              </a:lnSpc>
              <a:buNone/>
            </a:pPr>
            <a:r>
              <a:rPr lang="en-US" sz="950" dirty="0">
                <a:solidFill>
                  <a:srgbClr val="2D3748"/>
                </a:solidFill>
                <a:latin typeface="Inter" pitchFamily="34" charset="0"/>
                <a:ea typeface="Inter" pitchFamily="34" charset="-122"/>
                <a:cs typeface="Inter" pitchFamily="34" charset="-120"/>
              </a:rPr>
              <a:t>Standard benchmarks miss </a:t>
            </a:r>
            <a:r>
              <a:rPr lang="en-US" sz="900" dirty="0">
                <a:solidFill>
                  <a:srgbClr val="3182CE"/>
                </a:solidFill>
                <a:latin typeface="Inter SemiBold" pitchFamily="34" charset="0"/>
                <a:ea typeface="Inter SemiBold" pitchFamily="34" charset="-122"/>
                <a:cs typeface="Inter SemiBold" pitchFamily="34" charset="-120"/>
              </a:rPr>
              <a:t>flawed reasoning</a:t>
            </a:r>
            <a:r>
              <a:rPr lang="en-US" sz="950" dirty="0">
                <a:solidFill>
                  <a:srgbClr val="2D3748"/>
                </a:solidFill>
                <a:latin typeface="Inter" pitchFamily="34" charset="0"/>
                <a:ea typeface="Inter" pitchFamily="34" charset="-122"/>
                <a:cs typeface="Inter" pitchFamily="34" charset="-120"/>
              </a:rPr>
              <a:t> if the final output is correct.</a:t>
            </a:r>
            <a:endParaRPr lang="en-US" sz="950" dirty="0"/>
          </a:p>
        </p:txBody>
      </p:sp>
      <p:sp>
        <p:nvSpPr>
          <p:cNvPr id="10" name="Text 6"/>
          <p:cNvSpPr/>
          <p:nvPr/>
        </p:nvSpPr>
        <p:spPr>
          <a:xfrm>
            <a:off x="857250" y="2920678"/>
            <a:ext cx="7715250" cy="205718"/>
          </a:xfrm>
          <a:prstGeom prst="rect">
            <a:avLst/>
          </a:prstGeom>
          <a:noFill/>
          <a:ln/>
        </p:spPr>
        <p:txBody>
          <a:bodyPr wrap="none" lIns="212598" tIns="0" rIns="0" bIns="0" rtlCol="0" anchor="t">
            <a:spAutoFit/>
          </a:bodyPr>
          <a:lstStyle/>
          <a:p>
            <a:pPr algn="l" indent="0" marL="0">
              <a:lnSpc>
                <a:spcPct val="128000"/>
              </a:lnSpc>
              <a:buNone/>
            </a:pPr>
            <a:r>
              <a:rPr lang="en-US" sz="950" dirty="0">
                <a:solidFill>
                  <a:srgbClr val="2D3748"/>
                </a:solidFill>
                <a:latin typeface="Inter" pitchFamily="34" charset="0"/>
                <a:ea typeface="Inter" pitchFamily="34" charset="-122"/>
                <a:cs typeface="Inter" pitchFamily="34" charset="-120"/>
              </a:rPr>
              <a:t>Critical fields (Medical, Legal) require </a:t>
            </a:r>
            <a:r>
              <a:rPr lang="en-US" sz="900" dirty="0">
                <a:solidFill>
                  <a:srgbClr val="3182CE"/>
                </a:solidFill>
                <a:latin typeface="Inter SemiBold" pitchFamily="34" charset="0"/>
                <a:ea typeface="Inter SemiBold" pitchFamily="34" charset="-122"/>
                <a:cs typeface="Inter SemiBold" pitchFamily="34" charset="-120"/>
              </a:rPr>
              <a:t>trustworthy logic</a:t>
            </a:r>
            <a:r>
              <a:rPr lang="en-US" sz="950" dirty="0">
                <a:solidFill>
                  <a:srgbClr val="2D3748"/>
                </a:solidFill>
                <a:latin typeface="Inter" pitchFamily="34" charset="0"/>
                <a:ea typeface="Inter" pitchFamily="34" charset="-122"/>
                <a:cs typeface="Inter" pitchFamily="34" charset="-120"/>
              </a:rPr>
              <a:t>.</a:t>
            </a:r>
            <a:endParaRPr lang="en-US" sz="950" dirty="0"/>
          </a:p>
        </p:txBody>
      </p:sp>
      <p:sp>
        <p:nvSpPr>
          <p:cNvPr id="11" name="Text 7"/>
          <p:cNvSpPr/>
          <p:nvPr/>
        </p:nvSpPr>
        <p:spPr>
          <a:xfrm>
            <a:off x="857250" y="2337792"/>
            <a:ext cx="64294" cy="205718"/>
          </a:xfrm>
          <a:prstGeom prst="rect">
            <a:avLst/>
          </a:prstGeom>
          <a:noFill/>
          <a:ln/>
        </p:spPr>
        <p:txBody>
          <a:bodyPr wrap="none" lIns="0" tIns="0" rIns="0" bIns="0" rtlCol="0" anchor="t">
            <a:spAutoFit/>
          </a:bodyPr>
          <a:lstStyle/>
          <a:p>
            <a:pPr algn="l" indent="0" marL="0">
              <a:lnSpc>
                <a:spcPct val="128000"/>
              </a:lnSpc>
              <a:buNone/>
            </a:pPr>
            <a:r>
              <a:rPr lang="en-US" sz="900" b="1" dirty="0">
                <a:solidFill>
                  <a:srgbClr val="3182CE"/>
                </a:solidFill>
                <a:latin typeface="Inter SemiBold" pitchFamily="34" charset="0"/>
                <a:ea typeface="Inter SemiBold" pitchFamily="34" charset="-122"/>
                <a:cs typeface="Inter SemiBold" pitchFamily="34" charset="-120"/>
              </a:rPr>
              <a:t>•</a:t>
            </a:r>
            <a:endParaRPr lang="en-US" sz="900" dirty="0"/>
          </a:p>
        </p:txBody>
      </p:sp>
      <p:sp>
        <p:nvSpPr>
          <p:cNvPr id="12" name="Text 8"/>
          <p:cNvSpPr/>
          <p:nvPr/>
        </p:nvSpPr>
        <p:spPr>
          <a:xfrm>
            <a:off x="857250" y="2629235"/>
            <a:ext cx="64294" cy="205718"/>
          </a:xfrm>
          <a:prstGeom prst="rect">
            <a:avLst/>
          </a:prstGeom>
          <a:noFill/>
          <a:ln/>
        </p:spPr>
        <p:txBody>
          <a:bodyPr wrap="none" lIns="0" tIns="0" rIns="0" bIns="0" rtlCol="0" anchor="t">
            <a:spAutoFit/>
          </a:bodyPr>
          <a:lstStyle/>
          <a:p>
            <a:pPr algn="l" indent="0" marL="0">
              <a:lnSpc>
                <a:spcPct val="128000"/>
              </a:lnSpc>
              <a:buNone/>
            </a:pPr>
            <a:r>
              <a:rPr lang="en-US" sz="900" b="1" dirty="0">
                <a:solidFill>
                  <a:srgbClr val="3182CE"/>
                </a:solidFill>
                <a:latin typeface="Inter SemiBold" pitchFamily="34" charset="0"/>
                <a:ea typeface="Inter SemiBold" pitchFamily="34" charset="-122"/>
                <a:cs typeface="Inter SemiBold" pitchFamily="34" charset="-120"/>
              </a:rPr>
              <a:t>•</a:t>
            </a:r>
            <a:endParaRPr lang="en-US" sz="900" dirty="0"/>
          </a:p>
        </p:txBody>
      </p:sp>
      <p:sp>
        <p:nvSpPr>
          <p:cNvPr id="13" name="Text 9"/>
          <p:cNvSpPr/>
          <p:nvPr/>
        </p:nvSpPr>
        <p:spPr>
          <a:xfrm>
            <a:off x="857250" y="2920678"/>
            <a:ext cx="64294" cy="205718"/>
          </a:xfrm>
          <a:prstGeom prst="rect">
            <a:avLst/>
          </a:prstGeom>
          <a:noFill/>
          <a:ln/>
        </p:spPr>
        <p:txBody>
          <a:bodyPr wrap="none" lIns="0" tIns="0" rIns="0" bIns="0" rtlCol="0" anchor="t">
            <a:spAutoFit/>
          </a:bodyPr>
          <a:lstStyle/>
          <a:p>
            <a:pPr algn="l" indent="0" marL="0">
              <a:lnSpc>
                <a:spcPct val="128000"/>
              </a:lnSpc>
              <a:buNone/>
            </a:pPr>
            <a:r>
              <a:rPr lang="en-US" sz="900" b="1" dirty="0">
                <a:solidFill>
                  <a:srgbClr val="3182CE"/>
                </a:solidFill>
                <a:latin typeface="Inter SemiBold" pitchFamily="34" charset="0"/>
                <a:ea typeface="Inter SemiBold" pitchFamily="34" charset="-122"/>
                <a:cs typeface="Inter SemiBold" pitchFamily="34" charset="-120"/>
              </a:rPr>
              <a:t>•</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9144000" cy="1143000"/>
          </a:xfrm>
          <a:prstGeom prst="rect">
            <a:avLst/>
          </a:prstGeom>
          <a:solidFill>
            <a:srgbClr val="0A2342"/>
          </a:solidFill>
          <a:ln/>
        </p:spPr>
      </p:sp>
      <p:sp>
        <p:nvSpPr>
          <p:cNvPr id="5" name="Text 1"/>
          <p:cNvSpPr/>
          <p:nvPr/>
        </p:nvSpPr>
        <p:spPr>
          <a:xfrm>
            <a:off x="571500" y="505420"/>
            <a:ext cx="8001000" cy="417909"/>
          </a:xfrm>
          <a:prstGeom prst="rect">
            <a:avLst/>
          </a:prstGeom>
          <a:noFill/>
          <a:ln/>
        </p:spPr>
        <p:txBody>
          <a:bodyPr wrap="square" lIns="0" tIns="0" rIns="0" bIns="0" rtlCol="0" anchor="t">
            <a:spAutoFit/>
          </a:bodyPr>
          <a:lstStyle/>
          <a:p>
            <a:pPr algn="l" indent="0" marL="0">
              <a:buNone/>
            </a:pPr>
            <a:r>
              <a:rPr lang="en-US" sz="2450" b="1" dirty="0">
                <a:solidFill>
                  <a:srgbClr val="FFFFFF"/>
                </a:solidFill>
                <a:latin typeface="Montserrat Bold" pitchFamily="34" charset="0"/>
                <a:ea typeface="Montserrat Bold" pitchFamily="34" charset="-122"/>
                <a:cs typeface="Montserrat Bold" pitchFamily="34" charset="-120"/>
              </a:rPr>
              <a:t>Core Evaluation Metrics (Part 1)</a:t>
            </a:r>
            <a:endParaRPr lang="en-US" sz="2450" dirty="0"/>
          </a:p>
        </p:txBody>
      </p:sp>
      <p:sp>
        <p:nvSpPr>
          <p:cNvPr id="6" name="Shape 2"/>
          <p:cNvSpPr/>
          <p:nvPr/>
        </p:nvSpPr>
        <p:spPr>
          <a:xfrm>
            <a:off x="432197" y="1375172"/>
            <a:ext cx="1383236" cy="258961"/>
          </a:xfrm>
          <a:prstGeom prst="rect">
            <a:avLst/>
          </a:prstGeom>
          <a:solidFill>
            <a:srgbClr val="3182CE"/>
          </a:solidFill>
          <a:ln w="9144">
            <a:solidFill>
              <a:srgbClr val="3182CE"/>
            </a:solidFill>
            <a:prstDash val="solid"/>
          </a:ln>
        </p:spPr>
      </p:sp>
      <p:sp>
        <p:nvSpPr>
          <p:cNvPr id="7" name="Text 3"/>
          <p:cNvSpPr/>
          <p:nvPr/>
        </p:nvSpPr>
        <p:spPr>
          <a:xfrm>
            <a:off x="432197" y="1375172"/>
            <a:ext cx="1383236" cy="258961"/>
          </a:xfrm>
          <a:prstGeom prst="rect">
            <a:avLst/>
          </a:prstGeom>
          <a:noFill/>
          <a:ln/>
        </p:spPr>
        <p:txBody>
          <a:bodyPr wrap="square" lIns="102108" tIns="85090" rIns="102108" bIns="8509" rtlCol="0" anchor="ctr">
            <a:spAutoFit/>
          </a:bodyPr>
          <a:lstStyle/>
          <a:p>
            <a:pPr algn="l" indent="0" marL="0">
              <a:buNone/>
            </a:pPr>
            <a:r>
              <a:rPr lang="en-US" sz="1000" b="1" dirty="0">
                <a:solidFill>
                  <a:srgbClr val="FFFFFF"/>
                </a:solidFill>
                <a:latin typeface="Montserrat Bold" pitchFamily="34" charset="0"/>
                <a:ea typeface="Montserrat Bold" pitchFamily="34" charset="-122"/>
                <a:cs typeface="Montserrat Bold" pitchFamily="34" charset="-120"/>
              </a:rPr>
              <a:t>Metric</a:t>
            </a:r>
            <a:endParaRPr lang="en-US" sz="1000" dirty="0"/>
          </a:p>
        </p:txBody>
      </p:sp>
      <p:sp>
        <p:nvSpPr>
          <p:cNvPr id="8" name="Shape 4"/>
          <p:cNvSpPr/>
          <p:nvPr/>
        </p:nvSpPr>
        <p:spPr>
          <a:xfrm>
            <a:off x="1815433" y="1375172"/>
            <a:ext cx="1723569" cy="258961"/>
          </a:xfrm>
          <a:prstGeom prst="rect">
            <a:avLst/>
          </a:prstGeom>
          <a:solidFill>
            <a:srgbClr val="3182CE"/>
          </a:solidFill>
          <a:ln w="9144">
            <a:solidFill>
              <a:srgbClr val="3182CE"/>
            </a:solidFill>
            <a:prstDash val="solid"/>
          </a:ln>
        </p:spPr>
      </p:sp>
      <p:sp>
        <p:nvSpPr>
          <p:cNvPr id="9" name="Text 5"/>
          <p:cNvSpPr/>
          <p:nvPr/>
        </p:nvSpPr>
        <p:spPr>
          <a:xfrm>
            <a:off x="1815433" y="1375172"/>
            <a:ext cx="1723569" cy="258961"/>
          </a:xfrm>
          <a:prstGeom prst="rect">
            <a:avLst/>
          </a:prstGeom>
          <a:noFill/>
          <a:ln/>
        </p:spPr>
        <p:txBody>
          <a:bodyPr wrap="square" lIns="102108" tIns="85090" rIns="102108" bIns="8509" rtlCol="0" anchor="ctr">
            <a:spAutoFit/>
          </a:bodyPr>
          <a:lstStyle/>
          <a:p>
            <a:pPr algn="l" indent="0" marL="0">
              <a:buNone/>
            </a:pPr>
            <a:r>
              <a:rPr lang="en-US" sz="1000" b="1" dirty="0">
                <a:solidFill>
                  <a:srgbClr val="FFFFFF"/>
                </a:solidFill>
                <a:latin typeface="Montserrat Bold" pitchFamily="34" charset="0"/>
                <a:ea typeface="Montserrat Bold" pitchFamily="34" charset="-122"/>
                <a:cs typeface="Montserrat Bold" pitchFamily="34" charset="-120"/>
              </a:rPr>
              <a:t>Measures</a:t>
            </a:r>
            <a:endParaRPr lang="en-US" sz="1000" dirty="0"/>
          </a:p>
        </p:txBody>
      </p:sp>
      <p:sp>
        <p:nvSpPr>
          <p:cNvPr id="10" name="Shape 6"/>
          <p:cNvSpPr/>
          <p:nvPr/>
        </p:nvSpPr>
        <p:spPr>
          <a:xfrm>
            <a:off x="3538556" y="1375172"/>
            <a:ext cx="2272885" cy="258961"/>
          </a:xfrm>
          <a:prstGeom prst="rect">
            <a:avLst/>
          </a:prstGeom>
          <a:solidFill>
            <a:srgbClr val="3182CE"/>
          </a:solidFill>
          <a:ln w="9144">
            <a:solidFill>
              <a:srgbClr val="3182CE"/>
            </a:solidFill>
            <a:prstDash val="solid"/>
          </a:ln>
        </p:spPr>
      </p:sp>
      <p:sp>
        <p:nvSpPr>
          <p:cNvPr id="11" name="Text 7"/>
          <p:cNvSpPr/>
          <p:nvPr/>
        </p:nvSpPr>
        <p:spPr>
          <a:xfrm>
            <a:off x="3538556" y="1375172"/>
            <a:ext cx="2272885" cy="258961"/>
          </a:xfrm>
          <a:prstGeom prst="rect">
            <a:avLst/>
          </a:prstGeom>
          <a:noFill/>
          <a:ln/>
        </p:spPr>
        <p:txBody>
          <a:bodyPr wrap="square" lIns="102108" tIns="85090" rIns="102108" bIns="8509" rtlCol="0" anchor="ctr">
            <a:spAutoFit/>
          </a:bodyPr>
          <a:lstStyle/>
          <a:p>
            <a:pPr algn="l" indent="0" marL="0">
              <a:buNone/>
            </a:pPr>
            <a:r>
              <a:rPr lang="en-US" sz="1000" b="1" dirty="0">
                <a:solidFill>
                  <a:srgbClr val="FFFFFF"/>
                </a:solidFill>
                <a:latin typeface="Montserrat Bold" pitchFamily="34" charset="0"/>
                <a:ea typeface="Montserrat Bold" pitchFamily="34" charset="-122"/>
                <a:cs typeface="Montserrat Bold" pitchFamily="34" charset="-120"/>
              </a:rPr>
              <a:t>Formula / Approach</a:t>
            </a:r>
            <a:endParaRPr lang="en-US" sz="1000" dirty="0"/>
          </a:p>
        </p:txBody>
      </p:sp>
      <p:sp>
        <p:nvSpPr>
          <p:cNvPr id="12" name="Text 8"/>
          <p:cNvSpPr/>
          <p:nvPr/>
        </p:nvSpPr>
        <p:spPr>
          <a:xfrm>
            <a:off x="432197" y="1626989"/>
            <a:ext cx="1384325" cy="471488"/>
          </a:xfrm>
          <a:prstGeom prst="rect">
            <a:avLst/>
          </a:prstGeom>
          <a:noFill/>
          <a:ln/>
        </p:spPr>
        <p:txBody>
          <a:bodyPr wrap="square" lIns="102108" tIns="85090" rIns="102108" bIns="8509" rtlCol="0" anchor="ctr">
            <a:spAutoFit/>
          </a:bodyPr>
          <a:lstStyle/>
          <a:p>
            <a:pPr algn="l" indent="0" marL="0">
              <a:lnSpc>
                <a:spcPct val="120000"/>
              </a:lnSpc>
              <a:buNone/>
            </a:pPr>
            <a:r>
              <a:rPr lang="en-US" sz="900" b="1" dirty="0">
                <a:solidFill>
                  <a:srgbClr val="0A2342"/>
                </a:solidFill>
                <a:latin typeface="Inter SemiBold" pitchFamily="34" charset="0"/>
                <a:ea typeface="Inter SemiBold" pitchFamily="34" charset="-122"/>
                <a:cs typeface="Inter SemiBold" pitchFamily="34" charset="-120"/>
              </a:rPr>
              <a:t>AAS (Answer Alignment)</a:t>
            </a:r>
            <a:endParaRPr lang="en-US" sz="900" dirty="0"/>
          </a:p>
        </p:txBody>
      </p:sp>
      <p:sp>
        <p:nvSpPr>
          <p:cNvPr id="13" name="Text 9"/>
          <p:cNvSpPr/>
          <p:nvPr/>
        </p:nvSpPr>
        <p:spPr>
          <a:xfrm>
            <a:off x="1816522" y="1626989"/>
            <a:ext cx="1721588" cy="471488"/>
          </a:xfrm>
          <a:prstGeom prst="rect">
            <a:avLst/>
          </a:prstGeom>
          <a:noFill/>
          <a:ln/>
        </p:spPr>
        <p:txBody>
          <a:bodyPr wrap="square" lIns="102108" tIns="85090" rIns="102108" bIns="8509" rtlCol="0" anchor="ctr">
            <a:spAutoFit/>
          </a:bodyPr>
          <a:lstStyle/>
          <a:p>
            <a:pPr algn="l" indent="0" marL="0">
              <a:lnSpc>
                <a:spcPct val="120000"/>
              </a:lnSpc>
              <a:buNone/>
            </a:pPr>
            <a:r>
              <a:rPr lang="en-US" sz="950" dirty="0">
                <a:solidFill>
                  <a:srgbClr val="2D3748"/>
                </a:solidFill>
                <a:latin typeface="Inter" pitchFamily="34" charset="0"/>
                <a:ea typeface="Inter" pitchFamily="34" charset="-122"/>
                <a:cs typeface="Inter" pitchFamily="34" charset="-120"/>
              </a:rPr>
              <a:t>Is the final answer correct?</a:t>
            </a:r>
            <a:endParaRPr lang="en-US" sz="950" dirty="0"/>
          </a:p>
        </p:txBody>
      </p:sp>
      <p:sp>
        <p:nvSpPr>
          <p:cNvPr id="14" name="Text 10"/>
          <p:cNvSpPr/>
          <p:nvPr/>
        </p:nvSpPr>
        <p:spPr>
          <a:xfrm>
            <a:off x="3538110" y="1626989"/>
            <a:ext cx="2273331" cy="471488"/>
          </a:xfrm>
          <a:prstGeom prst="rect">
            <a:avLst/>
          </a:prstGeom>
          <a:noFill/>
          <a:ln/>
        </p:spPr>
        <p:txBody>
          <a:bodyPr wrap="square" lIns="102108" tIns="85090" rIns="102108" bIns="8509" rtlCol="0" anchor="ctr">
            <a:spAutoFit/>
          </a:bodyPr>
          <a:lstStyle/>
          <a:p>
            <a:pPr algn="l" indent="0" marL="0">
              <a:lnSpc>
                <a:spcPct val="120000"/>
              </a:lnSpc>
              <a:buNone/>
            </a:pPr>
            <a:r>
              <a:rPr lang="en-US" sz="900" dirty="0">
                <a:solidFill>
                  <a:srgbClr val="3182CE"/>
                </a:solidFill>
                <a:latin typeface="Courier New" pitchFamily="34" charset="0"/>
                <a:ea typeface="Courier New" pitchFamily="34" charset="-122"/>
                <a:cs typeface="Courier New" pitchFamily="34" charset="-120"/>
              </a:rPr>
              <a:t>cosine_sim(model_ans, gold_ans)</a:t>
            </a:r>
            <a:endParaRPr lang="en-US" sz="900" dirty="0"/>
          </a:p>
        </p:txBody>
      </p:sp>
      <p:sp>
        <p:nvSpPr>
          <p:cNvPr id="15" name="Text 11"/>
          <p:cNvSpPr/>
          <p:nvPr/>
        </p:nvSpPr>
        <p:spPr>
          <a:xfrm>
            <a:off x="432197" y="2098477"/>
            <a:ext cx="1384325" cy="471488"/>
          </a:xfrm>
          <a:prstGeom prst="rect">
            <a:avLst/>
          </a:prstGeom>
          <a:noFill/>
          <a:ln/>
        </p:spPr>
        <p:txBody>
          <a:bodyPr wrap="square" lIns="102108" tIns="85090" rIns="102108" bIns="8509" rtlCol="0" anchor="ctr">
            <a:spAutoFit/>
          </a:bodyPr>
          <a:lstStyle/>
          <a:p>
            <a:pPr algn="l" indent="0" marL="0">
              <a:lnSpc>
                <a:spcPct val="120000"/>
              </a:lnSpc>
              <a:buNone/>
            </a:pPr>
            <a:r>
              <a:rPr lang="en-US" sz="900" b="1" dirty="0">
                <a:solidFill>
                  <a:srgbClr val="0A2342"/>
                </a:solidFill>
                <a:latin typeface="Inter SemiBold" pitchFamily="34" charset="0"/>
                <a:ea typeface="Inter SemiBold" pitchFamily="34" charset="-122"/>
                <a:cs typeface="Inter SemiBold" pitchFamily="34" charset="-120"/>
              </a:rPr>
              <a:t>RAS (Reasoning Alignment)</a:t>
            </a:r>
            <a:endParaRPr lang="en-US" sz="900" dirty="0"/>
          </a:p>
        </p:txBody>
      </p:sp>
      <p:sp>
        <p:nvSpPr>
          <p:cNvPr id="16" name="Text 12"/>
          <p:cNvSpPr/>
          <p:nvPr/>
        </p:nvSpPr>
        <p:spPr>
          <a:xfrm>
            <a:off x="1816522" y="2098477"/>
            <a:ext cx="1721588" cy="471488"/>
          </a:xfrm>
          <a:prstGeom prst="rect">
            <a:avLst/>
          </a:prstGeom>
          <a:noFill/>
          <a:ln/>
        </p:spPr>
        <p:txBody>
          <a:bodyPr wrap="square" lIns="102108" tIns="85090" rIns="102108" bIns="8509" rtlCol="0" anchor="ctr">
            <a:spAutoFit/>
          </a:bodyPr>
          <a:lstStyle/>
          <a:p>
            <a:pPr algn="l" indent="0" marL="0">
              <a:lnSpc>
                <a:spcPct val="120000"/>
              </a:lnSpc>
              <a:buNone/>
            </a:pPr>
            <a:r>
              <a:rPr lang="en-US" sz="950" dirty="0">
                <a:solidFill>
                  <a:srgbClr val="2D3748"/>
                </a:solidFill>
                <a:latin typeface="Inter" pitchFamily="34" charset="0"/>
                <a:ea typeface="Inter" pitchFamily="34" charset="-122"/>
                <a:cs typeface="Inter" pitchFamily="34" charset="-120"/>
              </a:rPr>
              <a:t>Does reasoning match golden reference?</a:t>
            </a:r>
            <a:endParaRPr lang="en-US" sz="950" dirty="0"/>
          </a:p>
        </p:txBody>
      </p:sp>
      <p:sp>
        <p:nvSpPr>
          <p:cNvPr id="17" name="Text 13"/>
          <p:cNvSpPr/>
          <p:nvPr/>
        </p:nvSpPr>
        <p:spPr>
          <a:xfrm>
            <a:off x="3538110" y="2098477"/>
            <a:ext cx="2273331" cy="471488"/>
          </a:xfrm>
          <a:prstGeom prst="rect">
            <a:avLst/>
          </a:prstGeom>
          <a:noFill/>
          <a:ln/>
        </p:spPr>
        <p:txBody>
          <a:bodyPr wrap="square" lIns="102108" tIns="85090" rIns="102108" bIns="8509" rtlCol="0" anchor="ctr">
            <a:spAutoFit/>
          </a:bodyPr>
          <a:lstStyle/>
          <a:p>
            <a:pPr algn="l" indent="0" marL="0">
              <a:lnSpc>
                <a:spcPct val="120000"/>
              </a:lnSpc>
              <a:buNone/>
            </a:pPr>
            <a:r>
              <a:rPr lang="en-US" sz="900" dirty="0">
                <a:solidFill>
                  <a:srgbClr val="3182CE"/>
                </a:solidFill>
                <a:latin typeface="Courier New" pitchFamily="34" charset="0"/>
                <a:ea typeface="Courier New" pitchFamily="34" charset="-122"/>
                <a:cs typeface="Courier New" pitchFamily="34" charset="-120"/>
              </a:rPr>
              <a:t>cosine_sim(model_reas, gold_reas)</a:t>
            </a:r>
            <a:endParaRPr lang="en-US" sz="900" dirty="0"/>
          </a:p>
        </p:txBody>
      </p:sp>
      <p:sp>
        <p:nvSpPr>
          <p:cNvPr id="18" name="Text 14"/>
          <p:cNvSpPr/>
          <p:nvPr/>
        </p:nvSpPr>
        <p:spPr>
          <a:xfrm>
            <a:off x="432197" y="2569964"/>
            <a:ext cx="1384325" cy="471488"/>
          </a:xfrm>
          <a:prstGeom prst="rect">
            <a:avLst/>
          </a:prstGeom>
          <a:noFill/>
          <a:ln/>
        </p:spPr>
        <p:txBody>
          <a:bodyPr wrap="square" lIns="102108" tIns="85090" rIns="102108" bIns="8509" rtlCol="0" anchor="ctr">
            <a:spAutoFit/>
          </a:bodyPr>
          <a:lstStyle/>
          <a:p>
            <a:pPr algn="l" indent="0" marL="0">
              <a:lnSpc>
                <a:spcPct val="120000"/>
              </a:lnSpc>
              <a:buNone/>
            </a:pPr>
            <a:r>
              <a:rPr lang="en-US" sz="900" b="1" dirty="0">
                <a:solidFill>
                  <a:srgbClr val="0A2342"/>
                </a:solidFill>
                <a:latin typeface="Inter SemiBold" pitchFamily="34" charset="0"/>
                <a:ea typeface="Inter SemiBold" pitchFamily="34" charset="-122"/>
                <a:cs typeface="Inter SemiBold" pitchFamily="34" charset="-120"/>
              </a:rPr>
              <a:t>SLMS (Step-Level Matching)</a:t>
            </a:r>
            <a:endParaRPr lang="en-US" sz="900" dirty="0"/>
          </a:p>
        </p:txBody>
      </p:sp>
      <p:sp>
        <p:nvSpPr>
          <p:cNvPr id="19" name="Text 15"/>
          <p:cNvSpPr/>
          <p:nvPr/>
        </p:nvSpPr>
        <p:spPr>
          <a:xfrm>
            <a:off x="1816522" y="2569964"/>
            <a:ext cx="1721588" cy="471488"/>
          </a:xfrm>
          <a:prstGeom prst="rect">
            <a:avLst/>
          </a:prstGeom>
          <a:noFill/>
          <a:ln/>
        </p:spPr>
        <p:txBody>
          <a:bodyPr wrap="square" lIns="102108" tIns="85090" rIns="102108" bIns="8509" rtlCol="0" anchor="ctr">
            <a:spAutoFit/>
          </a:bodyPr>
          <a:lstStyle/>
          <a:p>
            <a:pPr algn="l" indent="0" marL="0">
              <a:lnSpc>
                <a:spcPct val="120000"/>
              </a:lnSpc>
              <a:buNone/>
            </a:pPr>
            <a:r>
              <a:rPr lang="en-US" sz="950" dirty="0">
                <a:solidFill>
                  <a:srgbClr val="2D3748"/>
                </a:solidFill>
                <a:latin typeface="Inter" pitchFamily="34" charset="0"/>
                <a:ea typeface="Inter" pitchFamily="34" charset="-122"/>
                <a:cs typeface="Inter" pitchFamily="34" charset="-120"/>
              </a:rPr>
              <a:t>Does model cover all golden steps?</a:t>
            </a:r>
            <a:endParaRPr lang="en-US" sz="950" dirty="0"/>
          </a:p>
        </p:txBody>
      </p:sp>
      <p:sp>
        <p:nvSpPr>
          <p:cNvPr id="20" name="Text 16"/>
          <p:cNvSpPr/>
          <p:nvPr/>
        </p:nvSpPr>
        <p:spPr>
          <a:xfrm>
            <a:off x="3538110" y="2569964"/>
            <a:ext cx="2273331" cy="471488"/>
          </a:xfrm>
          <a:prstGeom prst="rect">
            <a:avLst/>
          </a:prstGeom>
          <a:noFill/>
          <a:ln/>
        </p:spPr>
        <p:txBody>
          <a:bodyPr wrap="square" lIns="102108" tIns="85090" rIns="102108" bIns="8509" rtlCol="0" anchor="ctr">
            <a:spAutoFit/>
          </a:bodyPr>
          <a:lstStyle/>
          <a:p>
            <a:pPr algn="l" indent="0" marL="0">
              <a:lnSpc>
                <a:spcPct val="120000"/>
              </a:lnSpc>
              <a:buNone/>
            </a:pPr>
            <a:r>
              <a:rPr lang="en-US" sz="900" dirty="0">
                <a:solidFill>
                  <a:srgbClr val="3182CE"/>
                </a:solidFill>
                <a:latin typeface="Courier New" pitchFamily="34" charset="0"/>
                <a:ea typeface="Courier New" pitchFamily="34" charset="-122"/>
                <a:cs typeface="Courier New" pitchFamily="34" charset="-120"/>
              </a:rPr>
              <a:t>Asymmetric step-by-step matching</a:t>
            </a:r>
            <a:endParaRPr lang="en-US" sz="900" dirty="0"/>
          </a:p>
        </p:txBody>
      </p:sp>
      <p:sp>
        <p:nvSpPr>
          <p:cNvPr id="21" name="Shape 17"/>
          <p:cNvSpPr/>
          <p:nvPr/>
        </p:nvSpPr>
        <p:spPr>
          <a:xfrm>
            <a:off x="5986463" y="1400175"/>
            <a:ext cx="2651754" cy="992981"/>
          </a:xfrm>
          <a:prstGeom prst="rect">
            <a:avLst/>
          </a:prstGeom>
          <a:solidFill>
            <a:srgbClr val="E2E8F0"/>
          </a:solidFill>
          <a:ln/>
        </p:spPr>
      </p:sp>
      <p:sp>
        <p:nvSpPr>
          <p:cNvPr id="22" name="Shape 18"/>
          <p:cNvSpPr/>
          <p:nvPr/>
        </p:nvSpPr>
        <p:spPr>
          <a:xfrm>
            <a:off x="5986463" y="1400175"/>
            <a:ext cx="35719" cy="992981"/>
          </a:xfrm>
          <a:prstGeom prst="rect">
            <a:avLst/>
          </a:prstGeom>
          <a:solidFill>
            <a:srgbClr val="3182CE"/>
          </a:solidFill>
          <a:ln/>
        </p:spPr>
      </p:sp>
      <p:sp>
        <p:nvSpPr>
          <p:cNvPr id="23" name="Text 19"/>
          <p:cNvSpPr/>
          <p:nvPr/>
        </p:nvSpPr>
        <p:spPr>
          <a:xfrm>
            <a:off x="6100763" y="1485900"/>
            <a:ext cx="2423154" cy="157163"/>
          </a:xfrm>
          <a:prstGeom prst="rect">
            <a:avLst/>
          </a:prstGeom>
          <a:noFill/>
          <a:ln/>
        </p:spPr>
        <p:txBody>
          <a:bodyPr wrap="square" lIns="0" tIns="0" rIns="0" bIns="0" rtlCol="0" anchor="t">
            <a:spAutoFit/>
          </a:bodyPr>
          <a:lstStyle/>
          <a:p>
            <a:pPr algn="l" indent="0" marL="0">
              <a:buNone/>
            </a:pPr>
            <a:r>
              <a:rPr lang="en-US" sz="950" dirty="0">
                <a:solidFill>
                  <a:srgbClr val="0A2342"/>
                </a:solidFill>
                <a:latin typeface="Montserrat Bold" pitchFamily="34" charset="0"/>
                <a:ea typeface="Montserrat Bold" pitchFamily="34" charset="-122"/>
                <a:cs typeface="Montserrat Bold" pitchFamily="34" charset="-120"/>
              </a:rPr>
              <a:t>KEY INSIGHT</a:t>
            </a:r>
            <a:endParaRPr lang="en-US" sz="950" dirty="0"/>
          </a:p>
        </p:txBody>
      </p:sp>
      <p:sp>
        <p:nvSpPr>
          <p:cNvPr id="24" name="Text 20"/>
          <p:cNvSpPr/>
          <p:nvPr/>
        </p:nvSpPr>
        <p:spPr>
          <a:xfrm>
            <a:off x="6100763" y="1685925"/>
            <a:ext cx="2423154" cy="621506"/>
          </a:xfrm>
          <a:prstGeom prst="rect">
            <a:avLst/>
          </a:prstGeom>
          <a:noFill/>
          <a:ln/>
        </p:spPr>
        <p:txBody>
          <a:bodyPr wrap="square" lIns="0" tIns="0" rIns="0" bIns="0" rtlCol="0" anchor="t">
            <a:spAutoFit/>
          </a:bodyPr>
          <a:lstStyle/>
          <a:p>
            <a:pPr algn="l" indent="0" marL="0">
              <a:buNone/>
            </a:pPr>
            <a:r>
              <a:rPr lang="en-US" sz="900" b="1" dirty="0">
                <a:solidFill>
                  <a:srgbClr val="2D3748"/>
                </a:solidFill>
                <a:latin typeface="Inter SemiBold" pitchFamily="34" charset="0"/>
                <a:ea typeface="Inter SemiBold" pitchFamily="34" charset="-122"/>
                <a:cs typeface="Inter SemiBold" pitchFamily="34" charset="-120"/>
              </a:rPr>
              <a:t>RAS is the Rashomon metric</a:t>
            </a:r>
            <a:r>
              <a:rPr lang="en-US" sz="950" dirty="0">
                <a:solidFill>
                  <a:srgbClr val="2D3748"/>
                </a:solidFill>
                <a:latin typeface="Inter" pitchFamily="34" charset="0"/>
                <a:ea typeface="Inter" pitchFamily="34" charset="-122"/>
                <a:cs typeface="Inter" pitchFamily="34" charset="-120"/>
              </a:rPr>
              <a:t>—it </a:t>
            </a:r>
            <a:r>
              <a:rPr lang="en-US" sz="950" dirty="0">
                <a:solidFill>
                  <a:srgbClr val="2D3748"/>
                </a:solidFill>
                <a:latin typeface="Inter" pitchFamily="34" charset="0"/>
                <a:ea typeface="Inter" pitchFamily="34" charset="-122"/>
                <a:cs typeface="Inter" pitchFamily="34" charset="-120"/>
              </a:rPr>
              <a:t>reveals when two models reach the </a:t>
            </a:r>
            <a:r>
              <a:rPr lang="en-US" sz="950" dirty="0">
                <a:solidFill>
                  <a:srgbClr val="2D3748"/>
                </a:solidFill>
                <a:latin typeface="Inter" pitchFamily="34" charset="0"/>
                <a:ea typeface="Inter" pitchFamily="34" charset="-122"/>
                <a:cs typeface="Inter" pitchFamily="34" charset="-120"/>
              </a:rPr>
              <a:t>same answer via different reasoning </a:t>
            </a:r>
            <a:r>
              <a:rPr lang="en-US" sz="950" dirty="0">
                <a:solidFill>
                  <a:srgbClr val="2D3748"/>
                </a:solidFill>
                <a:latin typeface="Inter" pitchFamily="34" charset="0"/>
                <a:ea typeface="Inter" pitchFamily="34" charset="-122"/>
                <a:cs typeface="Inter" pitchFamily="34" charset="-120"/>
              </a:rPr>
              <a:t>paths, exposing flawed logic.</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9144000" cy="1143000"/>
          </a:xfrm>
          <a:prstGeom prst="rect">
            <a:avLst/>
          </a:prstGeom>
          <a:solidFill>
            <a:srgbClr val="0A2342"/>
          </a:solidFill>
          <a:ln/>
        </p:spPr>
      </p:sp>
      <p:sp>
        <p:nvSpPr>
          <p:cNvPr id="5" name="Text 1"/>
          <p:cNvSpPr/>
          <p:nvPr/>
        </p:nvSpPr>
        <p:spPr>
          <a:xfrm>
            <a:off x="571500" y="505420"/>
            <a:ext cx="8001000" cy="417909"/>
          </a:xfrm>
          <a:prstGeom prst="rect">
            <a:avLst/>
          </a:prstGeom>
          <a:noFill/>
          <a:ln/>
        </p:spPr>
        <p:txBody>
          <a:bodyPr wrap="square" lIns="0" tIns="0" rIns="0" bIns="0" rtlCol="0" anchor="t">
            <a:spAutoFit/>
          </a:bodyPr>
          <a:lstStyle/>
          <a:p>
            <a:pPr algn="l" indent="0" marL="0">
              <a:buNone/>
            </a:pPr>
            <a:r>
              <a:rPr lang="en-US" sz="2450" b="1" dirty="0">
                <a:solidFill>
                  <a:srgbClr val="FFFFFF"/>
                </a:solidFill>
                <a:latin typeface="Montserrat Bold" pitchFamily="34" charset="0"/>
                <a:ea typeface="Montserrat Bold" pitchFamily="34" charset="-122"/>
                <a:cs typeface="Montserrat Bold" pitchFamily="34" charset="-120"/>
              </a:rPr>
              <a:t>Core Evaluation Metrics (Part 2)</a:t>
            </a:r>
            <a:endParaRPr lang="en-US" sz="2450" dirty="0"/>
          </a:p>
        </p:txBody>
      </p:sp>
      <p:sp>
        <p:nvSpPr>
          <p:cNvPr id="6" name="Shape 2"/>
          <p:cNvSpPr/>
          <p:nvPr/>
        </p:nvSpPr>
        <p:spPr>
          <a:xfrm>
            <a:off x="575072" y="1346597"/>
            <a:ext cx="2211660" cy="294680"/>
          </a:xfrm>
          <a:prstGeom prst="rect">
            <a:avLst/>
          </a:prstGeom>
          <a:solidFill>
            <a:srgbClr val="3182CE"/>
          </a:solidFill>
          <a:ln w="9144">
            <a:solidFill>
              <a:srgbClr val="3182CE"/>
            </a:solidFill>
            <a:prstDash val="solid"/>
          </a:ln>
        </p:spPr>
      </p:sp>
      <p:sp>
        <p:nvSpPr>
          <p:cNvPr id="7" name="Text 3"/>
          <p:cNvSpPr/>
          <p:nvPr/>
        </p:nvSpPr>
        <p:spPr>
          <a:xfrm>
            <a:off x="575072" y="1346597"/>
            <a:ext cx="2211660" cy="294680"/>
          </a:xfrm>
          <a:prstGeom prst="rect">
            <a:avLst/>
          </a:prstGeom>
          <a:noFill/>
          <a:ln/>
        </p:spPr>
        <p:txBody>
          <a:bodyPr wrap="square" lIns="127508" tIns="68072" rIns="127508" bIns="68072" rtlCol="0" anchor="ctr">
            <a:spAutoFit/>
          </a:bodyPr>
          <a:lstStyle/>
          <a:p>
            <a:pPr algn="l" indent="0" marL="0">
              <a:buNone/>
            </a:pPr>
            <a:r>
              <a:rPr lang="en-US" sz="1000" b="1" dirty="0">
                <a:solidFill>
                  <a:srgbClr val="FFFFFF"/>
                </a:solidFill>
                <a:latin typeface="Montserrat Bold" pitchFamily="34" charset="0"/>
                <a:ea typeface="Montserrat Bold" pitchFamily="34" charset="-122"/>
                <a:cs typeface="Montserrat Bold" pitchFamily="34" charset="-120"/>
              </a:rPr>
              <a:t>Metric</a:t>
            </a:r>
            <a:endParaRPr lang="en-US" sz="1000" dirty="0"/>
          </a:p>
        </p:txBody>
      </p:sp>
      <p:sp>
        <p:nvSpPr>
          <p:cNvPr id="8" name="Shape 4"/>
          <p:cNvSpPr/>
          <p:nvPr/>
        </p:nvSpPr>
        <p:spPr>
          <a:xfrm>
            <a:off x="2786732" y="1346597"/>
            <a:ext cx="2590586" cy="294680"/>
          </a:xfrm>
          <a:prstGeom prst="rect">
            <a:avLst/>
          </a:prstGeom>
          <a:solidFill>
            <a:srgbClr val="3182CE"/>
          </a:solidFill>
          <a:ln w="9144">
            <a:solidFill>
              <a:srgbClr val="3182CE"/>
            </a:solidFill>
            <a:prstDash val="solid"/>
          </a:ln>
        </p:spPr>
      </p:sp>
      <p:sp>
        <p:nvSpPr>
          <p:cNvPr id="9" name="Text 5"/>
          <p:cNvSpPr/>
          <p:nvPr/>
        </p:nvSpPr>
        <p:spPr>
          <a:xfrm>
            <a:off x="2786732" y="1346597"/>
            <a:ext cx="2590586" cy="294680"/>
          </a:xfrm>
          <a:prstGeom prst="rect">
            <a:avLst/>
          </a:prstGeom>
          <a:noFill/>
          <a:ln/>
        </p:spPr>
        <p:txBody>
          <a:bodyPr wrap="square" lIns="127508" tIns="68072" rIns="127508" bIns="68072" rtlCol="0" anchor="ctr">
            <a:spAutoFit/>
          </a:bodyPr>
          <a:lstStyle/>
          <a:p>
            <a:pPr algn="l" indent="0" marL="0">
              <a:buNone/>
            </a:pPr>
            <a:r>
              <a:rPr lang="en-US" sz="1000" b="1" dirty="0">
                <a:solidFill>
                  <a:srgbClr val="FFFFFF"/>
                </a:solidFill>
                <a:latin typeface="Montserrat Bold" pitchFamily="34" charset="0"/>
                <a:ea typeface="Montserrat Bold" pitchFamily="34" charset="-122"/>
                <a:cs typeface="Montserrat Bold" pitchFamily="34" charset="-120"/>
              </a:rPr>
              <a:t>Measures</a:t>
            </a:r>
            <a:endParaRPr lang="en-US" sz="1000" dirty="0"/>
          </a:p>
        </p:txBody>
      </p:sp>
      <p:sp>
        <p:nvSpPr>
          <p:cNvPr id="10" name="Shape 6"/>
          <p:cNvSpPr/>
          <p:nvPr/>
        </p:nvSpPr>
        <p:spPr>
          <a:xfrm>
            <a:off x="5377318" y="1346597"/>
            <a:ext cx="3191610" cy="294680"/>
          </a:xfrm>
          <a:prstGeom prst="rect">
            <a:avLst/>
          </a:prstGeom>
          <a:solidFill>
            <a:srgbClr val="3182CE"/>
          </a:solidFill>
          <a:ln w="9144">
            <a:solidFill>
              <a:srgbClr val="3182CE"/>
            </a:solidFill>
            <a:prstDash val="solid"/>
          </a:ln>
        </p:spPr>
      </p:sp>
      <p:sp>
        <p:nvSpPr>
          <p:cNvPr id="11" name="Text 7"/>
          <p:cNvSpPr/>
          <p:nvPr/>
        </p:nvSpPr>
        <p:spPr>
          <a:xfrm>
            <a:off x="5377318" y="1346597"/>
            <a:ext cx="3191610" cy="294680"/>
          </a:xfrm>
          <a:prstGeom prst="rect">
            <a:avLst/>
          </a:prstGeom>
          <a:noFill/>
          <a:ln/>
        </p:spPr>
        <p:txBody>
          <a:bodyPr wrap="square" lIns="127508" tIns="68072" rIns="127508" bIns="68072" rtlCol="0" anchor="ctr">
            <a:spAutoFit/>
          </a:bodyPr>
          <a:lstStyle/>
          <a:p>
            <a:pPr algn="l" indent="0" marL="0">
              <a:buNone/>
            </a:pPr>
            <a:r>
              <a:rPr lang="en-US" sz="1000" b="1" dirty="0">
                <a:solidFill>
                  <a:srgbClr val="FFFFFF"/>
                </a:solidFill>
                <a:latin typeface="Montserrat Bold" pitchFamily="34" charset="0"/>
                <a:ea typeface="Montserrat Bold" pitchFamily="34" charset="-122"/>
                <a:cs typeface="Montserrat Bold" pitchFamily="34" charset="-120"/>
              </a:rPr>
              <a:t>Formula / Approach</a:t>
            </a:r>
            <a:endParaRPr lang="en-US" sz="1000" dirty="0"/>
          </a:p>
        </p:txBody>
      </p:sp>
      <p:sp>
        <p:nvSpPr>
          <p:cNvPr id="12" name="Text 8"/>
          <p:cNvSpPr/>
          <p:nvPr/>
        </p:nvSpPr>
        <p:spPr>
          <a:xfrm>
            <a:off x="575072" y="1634133"/>
            <a:ext cx="2211660" cy="314325"/>
          </a:xfrm>
          <a:prstGeom prst="rect">
            <a:avLst/>
          </a:prstGeom>
          <a:noFill/>
          <a:ln/>
        </p:spPr>
        <p:txBody>
          <a:bodyPr wrap="square" lIns="127508" tIns="68072" rIns="127508" bIns="68072" rtlCol="0" anchor="ctr">
            <a:spAutoFit/>
          </a:bodyPr>
          <a:lstStyle/>
          <a:p>
            <a:pPr algn="l" indent="0" marL="0">
              <a:lnSpc>
                <a:spcPct val="120000"/>
              </a:lnSpc>
              <a:buNone/>
            </a:pPr>
            <a:r>
              <a:rPr lang="en-US" sz="900" b="1" dirty="0">
                <a:solidFill>
                  <a:srgbClr val="0A2342"/>
                </a:solidFill>
                <a:latin typeface="Inter SemiBold" pitchFamily="34" charset="0"/>
                <a:ea typeface="Inter SemiBold" pitchFamily="34" charset="-122"/>
                <a:cs typeface="Inter SemiBold" pitchFamily="34" charset="-120"/>
              </a:rPr>
              <a:t>CS (Consistency Score)</a:t>
            </a:r>
            <a:endParaRPr lang="en-US" sz="900" dirty="0"/>
          </a:p>
        </p:txBody>
      </p:sp>
      <p:sp>
        <p:nvSpPr>
          <p:cNvPr id="13" name="Text 9"/>
          <p:cNvSpPr/>
          <p:nvPr/>
        </p:nvSpPr>
        <p:spPr>
          <a:xfrm>
            <a:off x="2786732" y="1634133"/>
            <a:ext cx="2590586" cy="314325"/>
          </a:xfrm>
          <a:prstGeom prst="rect">
            <a:avLst/>
          </a:prstGeom>
          <a:noFill/>
          <a:ln/>
        </p:spPr>
        <p:txBody>
          <a:bodyPr wrap="square" lIns="127508" tIns="68072" rIns="127508" bIns="68072" rtlCol="0" anchor="ctr">
            <a:spAutoFit/>
          </a:bodyPr>
          <a:lstStyle/>
          <a:p>
            <a:pPr algn="l" indent="0" marL="0">
              <a:lnSpc>
                <a:spcPct val="120000"/>
              </a:lnSpc>
              <a:buNone/>
            </a:pPr>
            <a:r>
              <a:rPr lang="en-US" sz="950" dirty="0">
                <a:solidFill>
                  <a:srgbClr val="2D3748"/>
                </a:solidFill>
                <a:latin typeface="Inter" pitchFamily="34" charset="0"/>
                <a:ea typeface="Inter" pitchFamily="34" charset="-122"/>
                <a:cs typeface="Inter" pitchFamily="34" charset="-120"/>
              </a:rPr>
              <a:t>Stability of reasoning across runs</a:t>
            </a:r>
            <a:endParaRPr lang="en-US" sz="950" dirty="0"/>
          </a:p>
        </p:txBody>
      </p:sp>
      <p:sp>
        <p:nvSpPr>
          <p:cNvPr id="14" name="Text 10"/>
          <p:cNvSpPr/>
          <p:nvPr/>
        </p:nvSpPr>
        <p:spPr>
          <a:xfrm>
            <a:off x="5377318" y="1634133"/>
            <a:ext cx="3191610" cy="314325"/>
          </a:xfrm>
          <a:prstGeom prst="rect">
            <a:avLst/>
          </a:prstGeom>
          <a:noFill/>
          <a:ln/>
        </p:spPr>
        <p:txBody>
          <a:bodyPr wrap="square" lIns="127508" tIns="68072" rIns="127508" bIns="68072" rtlCol="0" anchor="ctr">
            <a:spAutoFit/>
          </a:bodyPr>
          <a:lstStyle/>
          <a:p>
            <a:pPr algn="l" indent="0" marL="0">
              <a:lnSpc>
                <a:spcPct val="120000"/>
              </a:lnSpc>
              <a:buNone/>
            </a:pPr>
            <a:r>
              <a:rPr lang="en-US" sz="900" dirty="0">
                <a:solidFill>
                  <a:srgbClr val="3182CE"/>
                </a:solidFill>
                <a:latin typeface="Courier New" pitchFamily="34" charset="0"/>
                <a:ea typeface="Courier New" pitchFamily="34" charset="-122"/>
                <a:cs typeface="Courier New" pitchFamily="34" charset="-120"/>
              </a:rPr>
              <a:t>1 − variance(RAS₁, ..., RASₜ)</a:t>
            </a:r>
            <a:endParaRPr lang="en-US" sz="900" dirty="0"/>
          </a:p>
        </p:txBody>
      </p:sp>
      <p:sp>
        <p:nvSpPr>
          <p:cNvPr id="15" name="Text 11"/>
          <p:cNvSpPr/>
          <p:nvPr/>
        </p:nvSpPr>
        <p:spPr>
          <a:xfrm>
            <a:off x="575072" y="1948458"/>
            <a:ext cx="2211660" cy="314325"/>
          </a:xfrm>
          <a:prstGeom prst="rect">
            <a:avLst/>
          </a:prstGeom>
          <a:noFill/>
          <a:ln/>
        </p:spPr>
        <p:txBody>
          <a:bodyPr wrap="square" lIns="127508" tIns="68072" rIns="127508" bIns="68072" rtlCol="0" anchor="ctr">
            <a:spAutoFit/>
          </a:bodyPr>
          <a:lstStyle/>
          <a:p>
            <a:pPr algn="l" indent="0" marL="0">
              <a:lnSpc>
                <a:spcPct val="120000"/>
              </a:lnSpc>
              <a:buNone/>
            </a:pPr>
            <a:r>
              <a:rPr lang="en-US" sz="900" b="1" dirty="0">
                <a:solidFill>
                  <a:srgbClr val="0A2342"/>
                </a:solidFill>
                <a:latin typeface="Inter SemiBold" pitchFamily="34" charset="0"/>
                <a:ea typeface="Inter SemiBold" pitchFamily="34" charset="-122"/>
                <a:cs typeface="Inter SemiBold" pitchFamily="34" charset="-120"/>
              </a:rPr>
              <a:t>DKUS (Domain Knowledge)</a:t>
            </a:r>
            <a:endParaRPr lang="en-US" sz="900" dirty="0"/>
          </a:p>
        </p:txBody>
      </p:sp>
      <p:sp>
        <p:nvSpPr>
          <p:cNvPr id="16" name="Text 12"/>
          <p:cNvSpPr/>
          <p:nvPr/>
        </p:nvSpPr>
        <p:spPr>
          <a:xfrm>
            <a:off x="2786732" y="1948458"/>
            <a:ext cx="2590586" cy="314325"/>
          </a:xfrm>
          <a:prstGeom prst="rect">
            <a:avLst/>
          </a:prstGeom>
          <a:noFill/>
          <a:ln/>
        </p:spPr>
        <p:txBody>
          <a:bodyPr wrap="square" lIns="127508" tIns="68072" rIns="127508" bIns="68072" rtlCol="0" anchor="ctr">
            <a:spAutoFit/>
          </a:bodyPr>
          <a:lstStyle/>
          <a:p>
            <a:pPr algn="l" indent="0" marL="0">
              <a:lnSpc>
                <a:spcPct val="120000"/>
              </a:lnSpc>
              <a:buNone/>
            </a:pPr>
            <a:r>
              <a:rPr lang="en-US" sz="950" dirty="0">
                <a:solidFill>
                  <a:srgbClr val="2D3748"/>
                </a:solidFill>
                <a:latin typeface="Inter" pitchFamily="34" charset="0"/>
                <a:ea typeface="Inter" pitchFamily="34" charset="-122"/>
                <a:cs typeface="Inter" pitchFamily="34" charset="-120"/>
              </a:rPr>
              <a:t>Utilization of domain concepts</a:t>
            </a:r>
            <a:endParaRPr lang="en-US" sz="950" dirty="0"/>
          </a:p>
        </p:txBody>
      </p:sp>
      <p:sp>
        <p:nvSpPr>
          <p:cNvPr id="17" name="Text 13"/>
          <p:cNvSpPr/>
          <p:nvPr/>
        </p:nvSpPr>
        <p:spPr>
          <a:xfrm>
            <a:off x="5377318" y="1948458"/>
            <a:ext cx="3191610" cy="314325"/>
          </a:xfrm>
          <a:prstGeom prst="rect">
            <a:avLst/>
          </a:prstGeom>
          <a:noFill/>
          <a:ln/>
        </p:spPr>
        <p:txBody>
          <a:bodyPr wrap="square" lIns="127508" tIns="68072" rIns="127508" bIns="68072" rtlCol="0" anchor="ctr">
            <a:spAutoFit/>
          </a:bodyPr>
          <a:lstStyle/>
          <a:p>
            <a:pPr algn="l" indent="0" marL="0">
              <a:lnSpc>
                <a:spcPct val="120000"/>
              </a:lnSpc>
              <a:buNone/>
            </a:pPr>
            <a:r>
              <a:rPr lang="en-US" sz="900" dirty="0">
                <a:solidFill>
                  <a:srgbClr val="3182CE"/>
                </a:solidFill>
                <a:latin typeface="Courier New" pitchFamily="34" charset="0"/>
                <a:ea typeface="Courier New" pitchFamily="34" charset="-122"/>
                <a:cs typeface="Courier New" pitchFamily="34" charset="-120"/>
              </a:rPr>
              <a:t>Concept overlap / Golden concepts</a:t>
            </a:r>
            <a:endParaRPr lang="en-US" sz="900" dirty="0"/>
          </a:p>
        </p:txBody>
      </p:sp>
      <p:sp>
        <p:nvSpPr>
          <p:cNvPr id="18" name="Shape 14"/>
          <p:cNvSpPr/>
          <p:nvPr/>
        </p:nvSpPr>
        <p:spPr>
          <a:xfrm>
            <a:off x="571500" y="2409230"/>
            <a:ext cx="8001000" cy="935831"/>
          </a:xfrm>
          <a:prstGeom prst="rect">
            <a:avLst/>
          </a:prstGeom>
          <a:solidFill>
            <a:srgbClr val="F8FAFC"/>
          </a:solidFill>
          <a:ln w="9144">
            <a:solidFill>
              <a:srgbClr val="E2E8F0"/>
            </a:solidFill>
            <a:prstDash val="solid"/>
          </a:ln>
        </p:spPr>
      </p:sp>
      <p:sp>
        <p:nvSpPr>
          <p:cNvPr id="19" name="Text 15"/>
          <p:cNvSpPr/>
          <p:nvPr/>
        </p:nvSpPr>
        <p:spPr>
          <a:xfrm>
            <a:off x="714375" y="2516386"/>
            <a:ext cx="2252067" cy="205383"/>
          </a:xfrm>
          <a:prstGeom prst="rect">
            <a:avLst/>
          </a:prstGeom>
          <a:noFill/>
          <a:ln/>
        </p:spPr>
        <p:txBody>
          <a:bodyPr wrap="square" lIns="0" tIns="0" rIns="0" bIns="0" rtlCol="0" anchor="t">
            <a:spAutoFit/>
          </a:bodyPr>
          <a:lstStyle/>
          <a:p>
            <a:pPr algn="l" indent="0" marL="0">
              <a:buNone/>
            </a:pPr>
            <a:r>
              <a:rPr lang="en-US" sz="1150" dirty="0">
                <a:solidFill>
                  <a:srgbClr val="0A2342"/>
                </a:solidFill>
                <a:latin typeface="Montserrat Bold" pitchFamily="34" charset="0"/>
                <a:ea typeface="Montserrat Bold" pitchFamily="34" charset="-122"/>
                <a:cs typeface="Montserrat Bold" pitchFamily="34" charset="-120"/>
              </a:rPr>
              <a:t>FPS: Final Preference Score</a:t>
            </a:r>
            <a:endParaRPr lang="en-US" sz="1150" dirty="0"/>
          </a:p>
        </p:txBody>
      </p:sp>
      <p:sp>
        <p:nvSpPr>
          <p:cNvPr id="20" name="Text 16"/>
          <p:cNvSpPr/>
          <p:nvPr/>
        </p:nvSpPr>
        <p:spPr>
          <a:xfrm>
            <a:off x="714375" y="2864644"/>
            <a:ext cx="7715250" cy="242888"/>
          </a:xfrm>
          <a:prstGeom prst="rect">
            <a:avLst/>
          </a:prstGeom>
          <a:noFill/>
          <a:ln/>
        </p:spPr>
        <p:txBody>
          <a:bodyPr wrap="square" lIns="0" tIns="0" rIns="0" bIns="0" rtlCol="0" anchor="t">
            <a:spAutoFit/>
          </a:bodyPr>
          <a:lstStyle/>
          <a:p>
            <a:pPr algn="ctr" indent="0" marL="0">
              <a:buNone/>
            </a:pPr>
            <a:r>
              <a:rPr lang="en-US" sz="1400" dirty="0">
                <a:solidFill>
                  <a:srgbClr val="2D3748"/>
                </a:solidFill>
                <a:latin typeface="Inter SemiBold" pitchFamily="34" charset="0"/>
                <a:ea typeface="Inter SemiBold" pitchFamily="34" charset="-122"/>
                <a:cs typeface="Inter SemiBold" pitchFamily="34" charset="-120"/>
              </a:rPr>
              <a:t>FPS = w₁·AAS + w₂·RAS + w₃·SLMS + w₄·CS + w₅·DKUS</a:t>
            </a:r>
            <a:endParaRPr lang="en-US" sz="1400" dirty="0"/>
          </a:p>
        </p:txBody>
      </p:sp>
      <p:sp>
        <p:nvSpPr>
          <p:cNvPr id="21" name="Text 17"/>
          <p:cNvSpPr/>
          <p:nvPr/>
        </p:nvSpPr>
        <p:spPr>
          <a:xfrm>
            <a:off x="714375" y="3193256"/>
            <a:ext cx="7715250" cy="137517"/>
          </a:xfrm>
          <a:prstGeom prst="rect">
            <a:avLst/>
          </a:prstGeom>
          <a:noFill/>
          <a:ln/>
        </p:spPr>
        <p:txBody>
          <a:bodyPr wrap="square" lIns="0" tIns="0" rIns="0" bIns="0" rtlCol="0" anchor="t">
            <a:spAutoFit/>
          </a:bodyPr>
          <a:lstStyle/>
          <a:p>
            <a:pPr algn="ctr" indent="0" marL="0">
              <a:buNone/>
            </a:pPr>
            <a:r>
              <a:rPr lang="en-US" sz="850" i="1" dirty="0">
                <a:solidFill>
                  <a:srgbClr val="718096"/>
                </a:solidFill>
                <a:latin typeface="Inter" pitchFamily="34" charset="0"/>
                <a:ea typeface="Inter" pitchFamily="34" charset="-122"/>
                <a:cs typeface="Inter" pitchFamily="34" charset="-120"/>
              </a:rPr>
              <a:t>Weights are configurable in real-time — adjust on-the-fly based on application priorities (e.g., Medical vs. Tutoring).</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7144"/>
            <a:ext cx="9144000" cy="1143000"/>
          </a:xfrm>
          <a:prstGeom prst="rect">
            <a:avLst/>
          </a:prstGeom>
          <a:solidFill>
            <a:srgbClr val="0A2342"/>
          </a:solidFill>
          <a:ln/>
        </p:spPr>
      </p:sp>
      <p:sp>
        <p:nvSpPr>
          <p:cNvPr id="5" name="Text 1"/>
          <p:cNvSpPr/>
          <p:nvPr/>
        </p:nvSpPr>
        <p:spPr>
          <a:xfrm>
            <a:off x="571500" y="498277"/>
            <a:ext cx="8001000" cy="417909"/>
          </a:xfrm>
          <a:prstGeom prst="rect">
            <a:avLst/>
          </a:prstGeom>
          <a:noFill/>
          <a:ln/>
        </p:spPr>
        <p:txBody>
          <a:bodyPr wrap="square" lIns="0" tIns="0" rIns="0" bIns="0" rtlCol="0" anchor="t">
            <a:spAutoFit/>
          </a:bodyPr>
          <a:lstStyle/>
          <a:p>
            <a:pPr algn="l" indent="0" marL="0">
              <a:buNone/>
            </a:pPr>
            <a:r>
              <a:rPr lang="en-US" sz="2450" b="1" dirty="0">
                <a:solidFill>
                  <a:srgbClr val="FFFFFF"/>
                </a:solidFill>
                <a:latin typeface="Montserrat Bold" pitchFamily="34" charset="0"/>
                <a:ea typeface="Montserrat Bold" pitchFamily="34" charset="-122"/>
                <a:cs typeface="Montserrat Bold" pitchFamily="34" charset="-120"/>
              </a:rPr>
              <a:t>Data Pipeline and Methodology</a:t>
            </a:r>
            <a:endParaRPr lang="en-US" sz="2450" dirty="0"/>
          </a:p>
        </p:txBody>
      </p:sp>
      <p:sp>
        <p:nvSpPr>
          <p:cNvPr id="6" name="Shape 2"/>
          <p:cNvSpPr/>
          <p:nvPr/>
        </p:nvSpPr>
        <p:spPr>
          <a:xfrm>
            <a:off x="428625" y="1564481"/>
            <a:ext cx="1551617" cy="1014413"/>
          </a:xfrm>
          <a:prstGeom prst="rect">
            <a:avLst/>
          </a:prstGeom>
          <a:solidFill>
            <a:srgbClr val="F8FAFC"/>
          </a:solidFill>
          <a:ln w="9144">
            <a:solidFill>
              <a:srgbClr val="3182CE"/>
            </a:solidFill>
            <a:prstDash val="solid"/>
          </a:ln>
        </p:spPr>
      </p:sp>
      <p:sp>
        <p:nvSpPr>
          <p:cNvPr id="7" name="Text 3"/>
          <p:cNvSpPr/>
          <p:nvPr/>
        </p:nvSpPr>
        <p:spPr>
          <a:xfrm>
            <a:off x="535781" y="1916311"/>
            <a:ext cx="1325891" cy="121444"/>
          </a:xfrm>
          <a:prstGeom prst="rect">
            <a:avLst/>
          </a:prstGeom>
          <a:noFill/>
          <a:ln/>
        </p:spPr>
        <p:txBody>
          <a:bodyPr wrap="square" lIns="0" tIns="0" rIns="0" bIns="0" rtlCol="0" anchor="t">
            <a:spAutoFit/>
          </a:bodyPr>
          <a:lstStyle/>
          <a:p>
            <a:pPr algn="ctr" indent="0" marL="0">
              <a:buNone/>
            </a:pPr>
            <a:r>
              <a:rPr lang="en-US" sz="700" b="1" dirty="0">
                <a:solidFill>
                  <a:srgbClr val="3182CE"/>
                </a:solidFill>
                <a:latin typeface="Montserrat Bold" pitchFamily="34" charset="0"/>
                <a:ea typeface="Montserrat Bold" pitchFamily="34" charset="-122"/>
                <a:cs typeface="Montserrat Bold" pitchFamily="34" charset="-120"/>
              </a:rPr>
              <a:t>STEP 1</a:t>
            </a:r>
            <a:endParaRPr lang="en-US" sz="700" dirty="0"/>
          </a:p>
        </p:txBody>
      </p:sp>
      <p:sp>
        <p:nvSpPr>
          <p:cNvPr id="8" name="Text 4"/>
          <p:cNvSpPr/>
          <p:nvPr/>
        </p:nvSpPr>
        <p:spPr>
          <a:xfrm>
            <a:off x="535781" y="2094905"/>
            <a:ext cx="1325891" cy="275034"/>
          </a:xfrm>
          <a:prstGeom prst="rect">
            <a:avLst/>
          </a:prstGeom>
          <a:noFill/>
          <a:ln/>
        </p:spPr>
        <p:txBody>
          <a:bodyPr wrap="square" lIns="0" tIns="0" rIns="0" bIns="0" rtlCol="0" anchor="t">
            <a:spAutoFit/>
          </a:bodyPr>
          <a:lstStyle/>
          <a:p>
            <a:pPr algn="ctr" indent="0" marL="0">
              <a:buNone/>
            </a:pPr>
            <a:r>
              <a:rPr lang="en-US" sz="800" dirty="0">
                <a:solidFill>
                  <a:srgbClr val="0A2342"/>
                </a:solidFill>
                <a:latin typeface="Inter SemiBold" pitchFamily="34" charset="0"/>
                <a:ea typeface="Inter SemiBold" pitchFamily="34" charset="-122"/>
                <a:cs typeface="Inter SemiBold" pitchFamily="34" charset="-120"/>
              </a:rPr>
              <a:t>Load Dataset &amp; Golden Truth</a:t>
            </a:r>
            <a:endParaRPr lang="en-US" sz="800" dirty="0"/>
          </a:p>
        </p:txBody>
      </p:sp>
      <p:sp>
        <p:nvSpPr>
          <p:cNvPr id="9" name="Text 5"/>
          <p:cNvSpPr/>
          <p:nvPr/>
        </p:nvSpPr>
        <p:spPr>
          <a:xfrm>
            <a:off x="1968829" y="1968103"/>
            <a:ext cx="132159" cy="207169"/>
          </a:xfrm>
          <a:prstGeom prst="rect">
            <a:avLst/>
          </a:prstGeom>
          <a:noFill/>
          <a:ln/>
        </p:spPr>
        <p:txBody>
          <a:bodyPr wrap="none" lIns="0" tIns="0" rIns="0" bIns="0" rtlCol="0" anchor="t">
            <a:spAutoFit/>
          </a:bodyPr>
          <a:lstStyle/>
          <a:p>
            <a:pPr algn="l" indent="0" marL="0">
              <a:buNone/>
            </a:pPr>
            <a:r>
              <a:rPr lang="en-US" sz="1250" dirty="0">
                <a:solidFill>
                  <a:srgbClr val="3182CE"/>
                </a:solidFill>
                <a:latin typeface="Inter" pitchFamily="34" charset="0"/>
                <a:ea typeface="Inter" pitchFamily="34" charset="-122"/>
                <a:cs typeface="Inter" pitchFamily="34" charset="-120"/>
              </a:rPr>
              <a:t>▶</a:t>
            </a:r>
            <a:endParaRPr lang="en-US" sz="1250" dirty="0"/>
          </a:p>
        </p:txBody>
      </p:sp>
      <p:sp>
        <p:nvSpPr>
          <p:cNvPr id="10" name="Shape 6"/>
          <p:cNvSpPr/>
          <p:nvPr/>
        </p:nvSpPr>
        <p:spPr>
          <a:xfrm>
            <a:off x="2100988" y="1564481"/>
            <a:ext cx="1554491" cy="1014413"/>
          </a:xfrm>
          <a:prstGeom prst="rect">
            <a:avLst/>
          </a:prstGeom>
          <a:solidFill>
            <a:srgbClr val="F8FAFC"/>
          </a:solidFill>
          <a:ln w="9144">
            <a:solidFill>
              <a:srgbClr val="3182CE"/>
            </a:solidFill>
            <a:prstDash val="solid"/>
          </a:ln>
        </p:spPr>
      </p:sp>
      <p:sp>
        <p:nvSpPr>
          <p:cNvPr id="11" name="Text 7"/>
          <p:cNvSpPr/>
          <p:nvPr/>
        </p:nvSpPr>
        <p:spPr>
          <a:xfrm>
            <a:off x="2210991" y="1916311"/>
            <a:ext cx="1328738" cy="121444"/>
          </a:xfrm>
          <a:prstGeom prst="rect">
            <a:avLst/>
          </a:prstGeom>
          <a:noFill/>
          <a:ln/>
        </p:spPr>
        <p:txBody>
          <a:bodyPr wrap="square" lIns="0" tIns="0" rIns="0" bIns="0" rtlCol="0" anchor="t">
            <a:spAutoFit/>
          </a:bodyPr>
          <a:lstStyle/>
          <a:p>
            <a:pPr algn="ctr" indent="0" marL="0">
              <a:buNone/>
            </a:pPr>
            <a:r>
              <a:rPr lang="en-US" sz="700" b="1" dirty="0">
                <a:solidFill>
                  <a:srgbClr val="3182CE"/>
                </a:solidFill>
                <a:latin typeface="Montserrat Bold" pitchFamily="34" charset="0"/>
                <a:ea typeface="Montserrat Bold" pitchFamily="34" charset="-122"/>
                <a:cs typeface="Montserrat Bold" pitchFamily="34" charset="-120"/>
              </a:rPr>
              <a:t>STEP 2</a:t>
            </a:r>
            <a:endParaRPr lang="en-US" sz="700" dirty="0"/>
          </a:p>
        </p:txBody>
      </p:sp>
      <p:sp>
        <p:nvSpPr>
          <p:cNvPr id="12" name="Text 8"/>
          <p:cNvSpPr/>
          <p:nvPr/>
        </p:nvSpPr>
        <p:spPr>
          <a:xfrm>
            <a:off x="2210991" y="2094905"/>
            <a:ext cx="1328738" cy="275034"/>
          </a:xfrm>
          <a:prstGeom prst="rect">
            <a:avLst/>
          </a:prstGeom>
          <a:noFill/>
          <a:ln/>
        </p:spPr>
        <p:txBody>
          <a:bodyPr wrap="square" lIns="0" tIns="0" rIns="0" bIns="0" rtlCol="0" anchor="t">
            <a:spAutoFit/>
          </a:bodyPr>
          <a:lstStyle/>
          <a:p>
            <a:pPr algn="ctr" indent="0" marL="0">
              <a:buNone/>
            </a:pPr>
            <a:r>
              <a:rPr lang="en-US" sz="800" dirty="0">
                <a:solidFill>
                  <a:srgbClr val="0A2342"/>
                </a:solidFill>
                <a:latin typeface="Inter SemiBold" pitchFamily="34" charset="0"/>
                <a:ea typeface="Inter SemiBold" pitchFamily="34" charset="-122"/>
                <a:cs typeface="Inter SemiBold" pitchFamily="34" charset="-120"/>
              </a:rPr>
              <a:t>Query LLMs with CoT Prompts</a:t>
            </a:r>
            <a:endParaRPr lang="en-US" sz="800" dirty="0"/>
          </a:p>
        </p:txBody>
      </p:sp>
      <p:sp>
        <p:nvSpPr>
          <p:cNvPr id="13" name="Text 9"/>
          <p:cNvSpPr/>
          <p:nvPr/>
        </p:nvSpPr>
        <p:spPr>
          <a:xfrm>
            <a:off x="3646884" y="1968103"/>
            <a:ext cx="132159" cy="207169"/>
          </a:xfrm>
          <a:prstGeom prst="rect">
            <a:avLst/>
          </a:prstGeom>
          <a:noFill/>
          <a:ln/>
        </p:spPr>
        <p:txBody>
          <a:bodyPr wrap="none" lIns="0" tIns="0" rIns="0" bIns="0" rtlCol="0" anchor="t">
            <a:spAutoFit/>
          </a:bodyPr>
          <a:lstStyle/>
          <a:p>
            <a:pPr algn="l" indent="0" marL="0">
              <a:buNone/>
            </a:pPr>
            <a:r>
              <a:rPr lang="en-US" sz="1250" dirty="0">
                <a:solidFill>
                  <a:srgbClr val="3182CE"/>
                </a:solidFill>
                <a:latin typeface="Inter" pitchFamily="34" charset="0"/>
                <a:ea typeface="Inter" pitchFamily="34" charset="-122"/>
                <a:cs typeface="Inter" pitchFamily="34" charset="-120"/>
              </a:rPr>
              <a:t>▶</a:t>
            </a:r>
            <a:endParaRPr lang="en-US" sz="1250" dirty="0"/>
          </a:p>
        </p:txBody>
      </p:sp>
      <p:sp>
        <p:nvSpPr>
          <p:cNvPr id="14" name="Shape 10"/>
          <p:cNvSpPr/>
          <p:nvPr/>
        </p:nvSpPr>
        <p:spPr>
          <a:xfrm>
            <a:off x="3779044" y="1564481"/>
            <a:ext cx="1557338" cy="1014413"/>
          </a:xfrm>
          <a:prstGeom prst="rect">
            <a:avLst/>
          </a:prstGeom>
          <a:solidFill>
            <a:srgbClr val="F8FAFC"/>
          </a:solidFill>
          <a:ln w="9144">
            <a:solidFill>
              <a:srgbClr val="3182CE"/>
            </a:solidFill>
            <a:prstDash val="solid"/>
          </a:ln>
        </p:spPr>
      </p:sp>
      <p:sp>
        <p:nvSpPr>
          <p:cNvPr id="15" name="Text 11"/>
          <p:cNvSpPr/>
          <p:nvPr/>
        </p:nvSpPr>
        <p:spPr>
          <a:xfrm>
            <a:off x="3891893" y="1916311"/>
            <a:ext cx="1331584" cy="121444"/>
          </a:xfrm>
          <a:prstGeom prst="rect">
            <a:avLst/>
          </a:prstGeom>
          <a:noFill/>
          <a:ln/>
        </p:spPr>
        <p:txBody>
          <a:bodyPr wrap="square" lIns="0" tIns="0" rIns="0" bIns="0" rtlCol="0" anchor="t">
            <a:spAutoFit/>
          </a:bodyPr>
          <a:lstStyle/>
          <a:p>
            <a:pPr algn="ctr" indent="0" marL="0">
              <a:buNone/>
            </a:pPr>
            <a:r>
              <a:rPr lang="en-US" sz="700" b="1" dirty="0">
                <a:solidFill>
                  <a:srgbClr val="3182CE"/>
                </a:solidFill>
                <a:latin typeface="Montserrat Bold" pitchFamily="34" charset="0"/>
                <a:ea typeface="Montserrat Bold" pitchFamily="34" charset="-122"/>
                <a:cs typeface="Montserrat Bold" pitchFamily="34" charset="-120"/>
              </a:rPr>
              <a:t>STEP 3</a:t>
            </a:r>
            <a:endParaRPr lang="en-US" sz="700" dirty="0"/>
          </a:p>
        </p:txBody>
      </p:sp>
      <p:sp>
        <p:nvSpPr>
          <p:cNvPr id="16" name="Text 12"/>
          <p:cNvSpPr/>
          <p:nvPr/>
        </p:nvSpPr>
        <p:spPr>
          <a:xfrm>
            <a:off x="3891893" y="2094905"/>
            <a:ext cx="1331584" cy="275034"/>
          </a:xfrm>
          <a:prstGeom prst="rect">
            <a:avLst/>
          </a:prstGeom>
          <a:noFill/>
          <a:ln/>
        </p:spPr>
        <p:txBody>
          <a:bodyPr wrap="square" lIns="0" tIns="0" rIns="0" bIns="0" rtlCol="0" anchor="t">
            <a:spAutoFit/>
          </a:bodyPr>
          <a:lstStyle/>
          <a:p>
            <a:pPr algn="ctr" indent="0" marL="0">
              <a:buNone/>
            </a:pPr>
            <a:r>
              <a:rPr lang="en-US" sz="800" dirty="0">
                <a:solidFill>
                  <a:srgbClr val="0A2342"/>
                </a:solidFill>
                <a:latin typeface="Inter SemiBold" pitchFamily="34" charset="0"/>
                <a:ea typeface="Inter SemiBold" pitchFamily="34" charset="-122"/>
                <a:cs typeface="Inter SemiBold" pitchFamily="34" charset="-120"/>
              </a:rPr>
              <a:t>Parse Reasoning &amp; Answers</a:t>
            </a:r>
            <a:endParaRPr lang="en-US" sz="800" dirty="0"/>
          </a:p>
        </p:txBody>
      </p:sp>
      <p:sp>
        <p:nvSpPr>
          <p:cNvPr id="17" name="Text 13"/>
          <p:cNvSpPr/>
          <p:nvPr/>
        </p:nvSpPr>
        <p:spPr>
          <a:xfrm>
            <a:off x="5330633" y="1968103"/>
            <a:ext cx="132159" cy="207169"/>
          </a:xfrm>
          <a:prstGeom prst="rect">
            <a:avLst/>
          </a:prstGeom>
          <a:noFill/>
          <a:ln/>
        </p:spPr>
        <p:txBody>
          <a:bodyPr wrap="none" lIns="0" tIns="0" rIns="0" bIns="0" rtlCol="0" anchor="t">
            <a:spAutoFit/>
          </a:bodyPr>
          <a:lstStyle/>
          <a:p>
            <a:pPr algn="l" indent="0" marL="0">
              <a:buNone/>
            </a:pPr>
            <a:r>
              <a:rPr lang="en-US" sz="1250" dirty="0">
                <a:solidFill>
                  <a:srgbClr val="3182CE"/>
                </a:solidFill>
                <a:latin typeface="Inter" pitchFamily="34" charset="0"/>
                <a:ea typeface="Inter" pitchFamily="34" charset="-122"/>
                <a:cs typeface="Inter" pitchFamily="34" charset="-120"/>
              </a:rPr>
              <a:t>▶</a:t>
            </a:r>
            <a:endParaRPr lang="en-US" sz="1250" dirty="0"/>
          </a:p>
        </p:txBody>
      </p:sp>
      <p:sp>
        <p:nvSpPr>
          <p:cNvPr id="18" name="Shape 14"/>
          <p:cNvSpPr/>
          <p:nvPr/>
        </p:nvSpPr>
        <p:spPr>
          <a:xfrm>
            <a:off x="5462792" y="1564481"/>
            <a:ext cx="1560184" cy="1014413"/>
          </a:xfrm>
          <a:prstGeom prst="rect">
            <a:avLst/>
          </a:prstGeom>
          <a:solidFill>
            <a:srgbClr val="F8FAFC"/>
          </a:solidFill>
          <a:ln w="9144">
            <a:solidFill>
              <a:srgbClr val="3182CE"/>
            </a:solidFill>
            <a:prstDash val="solid"/>
          </a:ln>
        </p:spPr>
      </p:sp>
      <p:sp>
        <p:nvSpPr>
          <p:cNvPr id="19" name="Text 15"/>
          <p:cNvSpPr/>
          <p:nvPr/>
        </p:nvSpPr>
        <p:spPr>
          <a:xfrm>
            <a:off x="5578571" y="1916311"/>
            <a:ext cx="1334458" cy="121444"/>
          </a:xfrm>
          <a:prstGeom prst="rect">
            <a:avLst/>
          </a:prstGeom>
          <a:noFill/>
          <a:ln/>
        </p:spPr>
        <p:txBody>
          <a:bodyPr wrap="square" lIns="0" tIns="0" rIns="0" bIns="0" rtlCol="0" anchor="t">
            <a:spAutoFit/>
          </a:bodyPr>
          <a:lstStyle/>
          <a:p>
            <a:pPr algn="ctr" indent="0" marL="0">
              <a:buNone/>
            </a:pPr>
            <a:r>
              <a:rPr lang="en-US" sz="700" b="1" dirty="0">
                <a:solidFill>
                  <a:srgbClr val="3182CE"/>
                </a:solidFill>
                <a:latin typeface="Montserrat Bold" pitchFamily="34" charset="0"/>
                <a:ea typeface="Montserrat Bold" pitchFamily="34" charset="-122"/>
                <a:cs typeface="Montserrat Bold" pitchFamily="34" charset="-120"/>
              </a:rPr>
              <a:t>STEP 4</a:t>
            </a:r>
            <a:endParaRPr lang="en-US" sz="700" dirty="0"/>
          </a:p>
        </p:txBody>
      </p:sp>
      <p:sp>
        <p:nvSpPr>
          <p:cNvPr id="20" name="Text 16"/>
          <p:cNvSpPr/>
          <p:nvPr/>
        </p:nvSpPr>
        <p:spPr>
          <a:xfrm>
            <a:off x="5578571" y="2094905"/>
            <a:ext cx="1334458" cy="275034"/>
          </a:xfrm>
          <a:prstGeom prst="rect">
            <a:avLst/>
          </a:prstGeom>
          <a:noFill/>
          <a:ln/>
        </p:spPr>
        <p:txBody>
          <a:bodyPr wrap="square" lIns="0" tIns="0" rIns="0" bIns="0" rtlCol="0" anchor="t">
            <a:spAutoFit/>
          </a:bodyPr>
          <a:lstStyle/>
          <a:p>
            <a:pPr algn="ctr" indent="0" marL="0">
              <a:buNone/>
            </a:pPr>
            <a:r>
              <a:rPr lang="en-US" sz="800" dirty="0">
                <a:solidFill>
                  <a:srgbClr val="0A2342"/>
                </a:solidFill>
                <a:latin typeface="Inter SemiBold" pitchFamily="34" charset="0"/>
                <a:ea typeface="Inter SemiBold" pitchFamily="34" charset="-122"/>
                <a:cs typeface="Inter SemiBold" pitchFamily="34" charset="-120"/>
              </a:rPr>
              <a:t>Compute Semantic Metrics</a:t>
            </a:r>
            <a:endParaRPr lang="en-US" sz="800" dirty="0"/>
          </a:p>
        </p:txBody>
      </p:sp>
      <p:sp>
        <p:nvSpPr>
          <p:cNvPr id="21" name="Text 17"/>
          <p:cNvSpPr/>
          <p:nvPr/>
        </p:nvSpPr>
        <p:spPr>
          <a:xfrm>
            <a:off x="7020185" y="1968103"/>
            <a:ext cx="132159" cy="207169"/>
          </a:xfrm>
          <a:prstGeom prst="rect">
            <a:avLst/>
          </a:prstGeom>
          <a:noFill/>
          <a:ln/>
        </p:spPr>
        <p:txBody>
          <a:bodyPr wrap="none" lIns="0" tIns="0" rIns="0" bIns="0" rtlCol="0" anchor="t">
            <a:spAutoFit/>
          </a:bodyPr>
          <a:lstStyle/>
          <a:p>
            <a:pPr algn="l" indent="0" marL="0">
              <a:buNone/>
            </a:pPr>
            <a:r>
              <a:rPr lang="en-US" sz="1250" dirty="0">
                <a:solidFill>
                  <a:srgbClr val="3182CE"/>
                </a:solidFill>
                <a:latin typeface="Inter" pitchFamily="34" charset="0"/>
                <a:ea typeface="Inter" pitchFamily="34" charset="-122"/>
                <a:cs typeface="Inter" pitchFamily="34" charset="-120"/>
              </a:rPr>
              <a:t>▶</a:t>
            </a:r>
            <a:endParaRPr lang="en-US" sz="1250" dirty="0"/>
          </a:p>
        </p:txBody>
      </p:sp>
      <p:sp>
        <p:nvSpPr>
          <p:cNvPr id="22" name="Shape 18"/>
          <p:cNvSpPr/>
          <p:nvPr/>
        </p:nvSpPr>
        <p:spPr>
          <a:xfrm>
            <a:off x="7152345" y="1564481"/>
            <a:ext cx="1563058" cy="1014413"/>
          </a:xfrm>
          <a:prstGeom prst="rect">
            <a:avLst/>
          </a:prstGeom>
          <a:solidFill>
            <a:srgbClr val="F8FAFC"/>
          </a:solidFill>
          <a:ln w="9144">
            <a:solidFill>
              <a:srgbClr val="3182CE"/>
            </a:solidFill>
            <a:prstDash val="solid"/>
          </a:ln>
        </p:spPr>
      </p:sp>
      <p:sp>
        <p:nvSpPr>
          <p:cNvPr id="23" name="Text 19"/>
          <p:cNvSpPr/>
          <p:nvPr/>
        </p:nvSpPr>
        <p:spPr>
          <a:xfrm>
            <a:off x="7270886" y="1977926"/>
            <a:ext cx="1337304" cy="121444"/>
          </a:xfrm>
          <a:prstGeom prst="rect">
            <a:avLst/>
          </a:prstGeom>
          <a:noFill/>
          <a:ln/>
        </p:spPr>
        <p:txBody>
          <a:bodyPr wrap="square" lIns="0" tIns="0" rIns="0" bIns="0" rtlCol="0" anchor="t">
            <a:spAutoFit/>
          </a:bodyPr>
          <a:lstStyle/>
          <a:p>
            <a:pPr algn="ctr" indent="0" marL="0">
              <a:buNone/>
            </a:pPr>
            <a:r>
              <a:rPr lang="en-US" sz="700" b="1" dirty="0">
                <a:solidFill>
                  <a:srgbClr val="3182CE"/>
                </a:solidFill>
                <a:latin typeface="Montserrat Bold" pitchFamily="34" charset="0"/>
                <a:ea typeface="Montserrat Bold" pitchFamily="34" charset="-122"/>
                <a:cs typeface="Montserrat Bold" pitchFamily="34" charset="-120"/>
              </a:rPr>
              <a:t>STEP 5</a:t>
            </a:r>
            <a:endParaRPr lang="en-US" sz="700" dirty="0"/>
          </a:p>
        </p:txBody>
      </p:sp>
      <p:sp>
        <p:nvSpPr>
          <p:cNvPr id="24" name="Text 20"/>
          <p:cNvSpPr/>
          <p:nvPr/>
        </p:nvSpPr>
        <p:spPr>
          <a:xfrm>
            <a:off x="7270886" y="2156520"/>
            <a:ext cx="1337304" cy="137517"/>
          </a:xfrm>
          <a:prstGeom prst="rect">
            <a:avLst/>
          </a:prstGeom>
          <a:noFill/>
          <a:ln/>
        </p:spPr>
        <p:txBody>
          <a:bodyPr wrap="square" lIns="0" tIns="0" rIns="0" bIns="0" rtlCol="0" anchor="t">
            <a:spAutoFit/>
          </a:bodyPr>
          <a:lstStyle/>
          <a:p>
            <a:pPr algn="ctr" indent="0" marL="0">
              <a:buNone/>
            </a:pPr>
            <a:r>
              <a:rPr lang="en-US" sz="800" dirty="0">
                <a:solidFill>
                  <a:srgbClr val="0A2342"/>
                </a:solidFill>
                <a:latin typeface="Inter SemiBold" pitchFamily="34" charset="0"/>
                <a:ea typeface="Inter SemiBold" pitchFamily="34" charset="-122"/>
                <a:cs typeface="Inter SemiBold" pitchFamily="34" charset="-120"/>
              </a:rPr>
              <a:t>Aggregate &amp; Visualize</a:t>
            </a:r>
            <a:endParaRPr lang="en-US" sz="800" dirty="0"/>
          </a:p>
        </p:txBody>
      </p:sp>
      <p:sp>
        <p:nvSpPr>
          <p:cNvPr id="25" name="Shape 21"/>
          <p:cNvSpPr/>
          <p:nvPr/>
        </p:nvSpPr>
        <p:spPr>
          <a:xfrm>
            <a:off x="428625" y="2993231"/>
            <a:ext cx="4000500" cy="1121569"/>
          </a:xfrm>
          <a:prstGeom prst="rect">
            <a:avLst/>
          </a:prstGeom>
          <a:solidFill>
            <a:srgbClr val="F8FAFC"/>
          </a:solidFill>
          <a:ln w="9144">
            <a:solidFill>
              <a:srgbClr val="E2E8F0"/>
            </a:solidFill>
            <a:prstDash val="solid"/>
          </a:ln>
        </p:spPr>
      </p:sp>
      <p:sp>
        <p:nvSpPr>
          <p:cNvPr id="26" name="Text 22"/>
          <p:cNvSpPr/>
          <p:nvPr/>
        </p:nvSpPr>
        <p:spPr>
          <a:xfrm>
            <a:off x="607219" y="3136106"/>
            <a:ext cx="2098477" cy="171450"/>
          </a:xfrm>
          <a:prstGeom prst="rect">
            <a:avLst/>
          </a:prstGeom>
          <a:noFill/>
          <a:ln/>
        </p:spPr>
        <p:txBody>
          <a:bodyPr wrap="square" lIns="0" tIns="0" rIns="0" bIns="0" rtlCol="0" anchor="t">
            <a:spAutoFit/>
          </a:bodyPr>
          <a:lstStyle/>
          <a:p>
            <a:pPr algn="l" indent="0" marL="0">
              <a:buNone/>
            </a:pPr>
            <a:r>
              <a:rPr lang="en-US" sz="950" dirty="0">
                <a:solidFill>
                  <a:srgbClr val="0A2342"/>
                </a:solidFill>
                <a:latin typeface="Montserrat Bold" pitchFamily="34" charset="0"/>
                <a:ea typeface="Montserrat Bold" pitchFamily="34" charset="-122"/>
                <a:cs typeface="Montserrat Bold" pitchFamily="34" charset="-120"/>
              </a:rPr>
              <a:t>DATASET &amp; STANDARDIZATION</a:t>
            </a:r>
            <a:endParaRPr lang="en-US" sz="950" dirty="0"/>
          </a:p>
        </p:txBody>
      </p:sp>
      <p:sp>
        <p:nvSpPr>
          <p:cNvPr id="27" name="Text 23"/>
          <p:cNvSpPr/>
          <p:nvPr/>
        </p:nvSpPr>
        <p:spPr>
          <a:xfrm>
            <a:off x="892969" y="3414713"/>
            <a:ext cx="3357563" cy="171450"/>
          </a:xfrm>
          <a:prstGeom prst="rect">
            <a:avLst/>
          </a:prstGeom>
          <a:noFill/>
          <a:ln/>
        </p:spPr>
        <p:txBody>
          <a:bodyPr wrap="none" lIns="170053" tIns="0" rIns="0" bIns="0" rtlCol="0" anchor="t">
            <a:spAutoFit/>
          </a:bodyPr>
          <a:lstStyle/>
          <a:p>
            <a:pPr algn="l" indent="0" marL="0">
              <a:lnSpc>
                <a:spcPct val="120000"/>
              </a:lnSpc>
              <a:buNone/>
            </a:pPr>
            <a:r>
              <a:rPr lang="en-US" sz="800" b="1" dirty="0">
                <a:solidFill>
                  <a:srgbClr val="2D3748"/>
                </a:solidFill>
                <a:latin typeface="Inter SemiBold" pitchFamily="34" charset="0"/>
                <a:ea typeface="Inter SemiBold" pitchFamily="34" charset="-122"/>
                <a:cs typeface="Inter SemiBold" pitchFamily="34" charset="-120"/>
              </a:rPr>
              <a:t>Source</a:t>
            </a:r>
            <a:r>
              <a:rPr lang="en-US" sz="850" dirty="0">
                <a:solidFill>
                  <a:srgbClr val="2D3748"/>
                </a:solidFill>
                <a:latin typeface="Inter" pitchFamily="34" charset="0"/>
                <a:ea typeface="Inter" pitchFamily="34" charset="-122"/>
                <a:cs typeface="Inter" pitchFamily="34" charset="-120"/>
              </a:rPr>
              <a:t>: German-RAG-ORPO-Alpaca-HESSIAN-AI.</a:t>
            </a:r>
            <a:endParaRPr lang="en-US" sz="800" dirty="0"/>
          </a:p>
        </p:txBody>
      </p:sp>
      <p:sp>
        <p:nvSpPr>
          <p:cNvPr id="28" name="Text 24"/>
          <p:cNvSpPr/>
          <p:nvPr/>
        </p:nvSpPr>
        <p:spPr>
          <a:xfrm>
            <a:off x="892969" y="3643313"/>
            <a:ext cx="3357563" cy="171450"/>
          </a:xfrm>
          <a:prstGeom prst="rect">
            <a:avLst/>
          </a:prstGeom>
          <a:noFill/>
          <a:ln/>
        </p:spPr>
        <p:txBody>
          <a:bodyPr wrap="none" lIns="170053" tIns="0" rIns="0" bIns="0" rtlCol="0" anchor="t">
            <a:spAutoFit/>
          </a:bodyPr>
          <a:lstStyle/>
          <a:p>
            <a:pPr algn="l" indent="0" marL="0">
              <a:lnSpc>
                <a:spcPct val="120000"/>
              </a:lnSpc>
              <a:buNone/>
            </a:pPr>
            <a:r>
              <a:rPr lang="en-US" sz="800" b="1" dirty="0">
                <a:solidFill>
                  <a:srgbClr val="2D3748"/>
                </a:solidFill>
                <a:latin typeface="Inter SemiBold" pitchFamily="34" charset="0"/>
                <a:ea typeface="Inter SemiBold" pitchFamily="34" charset="-122"/>
                <a:cs typeface="Inter SemiBold" pitchFamily="34" charset="-120"/>
              </a:rPr>
              <a:t>Scope</a:t>
            </a:r>
            <a:r>
              <a:rPr lang="en-US" sz="850" dirty="0">
                <a:solidFill>
                  <a:srgbClr val="2D3748"/>
                </a:solidFill>
                <a:latin typeface="Inter" pitchFamily="34" charset="0"/>
                <a:ea typeface="Inter" pitchFamily="34" charset="-122"/>
                <a:cs typeface="Inter" pitchFamily="34" charset="-120"/>
              </a:rPr>
              <a:t>: 50–100 hard reasoning problems in English.</a:t>
            </a:r>
            <a:endParaRPr lang="en-US" sz="800" dirty="0"/>
          </a:p>
        </p:txBody>
      </p:sp>
      <p:sp>
        <p:nvSpPr>
          <p:cNvPr id="29" name="Text 25"/>
          <p:cNvSpPr/>
          <p:nvPr/>
        </p:nvSpPr>
        <p:spPr>
          <a:xfrm>
            <a:off x="892969" y="3871913"/>
            <a:ext cx="3357563" cy="171450"/>
          </a:xfrm>
          <a:prstGeom prst="rect">
            <a:avLst/>
          </a:prstGeom>
          <a:noFill/>
          <a:ln/>
        </p:spPr>
        <p:txBody>
          <a:bodyPr wrap="none" lIns="170053" tIns="0" rIns="0" bIns="0" rtlCol="0" anchor="t">
            <a:spAutoFit/>
          </a:bodyPr>
          <a:lstStyle/>
          <a:p>
            <a:pPr algn="l" indent="0" marL="0">
              <a:lnSpc>
                <a:spcPct val="120000"/>
              </a:lnSpc>
              <a:buNone/>
            </a:pPr>
            <a:r>
              <a:rPr lang="en-US" sz="800" b="1" dirty="0">
                <a:solidFill>
                  <a:srgbClr val="2D3748"/>
                </a:solidFill>
                <a:latin typeface="Inter SemiBold" pitchFamily="34" charset="0"/>
                <a:ea typeface="Inter SemiBold" pitchFamily="34" charset="-122"/>
                <a:cs typeface="Inter SemiBold" pitchFamily="34" charset="-120"/>
              </a:rPr>
              <a:t>Fairness</a:t>
            </a:r>
            <a:r>
              <a:rPr lang="en-US" sz="850" dirty="0">
                <a:solidFill>
                  <a:srgbClr val="2D3748"/>
                </a:solidFill>
                <a:latin typeface="Inter" pitchFamily="34" charset="0"/>
                <a:ea typeface="Inter" pitchFamily="34" charset="-122"/>
                <a:cs typeface="Inter" pitchFamily="34" charset="-120"/>
              </a:rPr>
              <a:t>: Identical system prompts for all models.</a:t>
            </a:r>
            <a:endParaRPr lang="en-US" sz="800" dirty="0"/>
          </a:p>
        </p:txBody>
      </p:sp>
      <p:sp>
        <p:nvSpPr>
          <p:cNvPr id="30" name="Shape 26"/>
          <p:cNvSpPr/>
          <p:nvPr/>
        </p:nvSpPr>
        <p:spPr>
          <a:xfrm>
            <a:off x="4714875" y="2993231"/>
            <a:ext cx="4000500" cy="1121569"/>
          </a:xfrm>
          <a:prstGeom prst="rect">
            <a:avLst/>
          </a:prstGeom>
          <a:solidFill>
            <a:srgbClr val="F8FAFC"/>
          </a:solidFill>
          <a:ln w="9144">
            <a:solidFill>
              <a:srgbClr val="E2E8F0"/>
            </a:solidFill>
            <a:prstDash val="solid"/>
          </a:ln>
        </p:spPr>
      </p:sp>
      <p:sp>
        <p:nvSpPr>
          <p:cNvPr id="31" name="Text 27"/>
          <p:cNvSpPr/>
          <p:nvPr/>
        </p:nvSpPr>
        <p:spPr>
          <a:xfrm>
            <a:off x="892969" y="3414713"/>
            <a:ext cx="114300" cy="171450"/>
          </a:xfrm>
          <a:prstGeom prst="rect">
            <a:avLst/>
          </a:prstGeom>
          <a:noFill/>
          <a:ln/>
        </p:spPr>
        <p:txBody>
          <a:bodyPr wrap="none" lIns="0" tIns="0" rIns="0" bIns="0" rtlCol="0" anchor="t">
            <a:spAutoFit/>
          </a:bodyPr>
          <a:lstStyle/>
          <a:p>
            <a:pPr algn="l" indent="0" marL="0">
              <a:lnSpc>
                <a:spcPct val="120000"/>
              </a:lnSpc>
              <a:buNone/>
            </a:pPr>
            <a:r>
              <a:rPr lang="en-US" sz="850" dirty="0">
                <a:solidFill>
                  <a:srgbClr val="3182CE"/>
                </a:solidFill>
                <a:latin typeface="Inter" pitchFamily="34" charset="0"/>
                <a:ea typeface="Inter" pitchFamily="34" charset="-122"/>
                <a:cs typeface="Inter" pitchFamily="34" charset="-120"/>
              </a:rPr>
              <a:t>→</a:t>
            </a:r>
            <a:endParaRPr lang="en-US" sz="850" dirty="0"/>
          </a:p>
        </p:txBody>
      </p:sp>
      <p:sp>
        <p:nvSpPr>
          <p:cNvPr id="32" name="Text 28"/>
          <p:cNvSpPr/>
          <p:nvPr/>
        </p:nvSpPr>
        <p:spPr>
          <a:xfrm>
            <a:off x="892969" y="3643313"/>
            <a:ext cx="114300" cy="171450"/>
          </a:xfrm>
          <a:prstGeom prst="rect">
            <a:avLst/>
          </a:prstGeom>
          <a:noFill/>
          <a:ln/>
        </p:spPr>
        <p:txBody>
          <a:bodyPr wrap="none" lIns="0" tIns="0" rIns="0" bIns="0" rtlCol="0" anchor="t">
            <a:spAutoFit/>
          </a:bodyPr>
          <a:lstStyle/>
          <a:p>
            <a:pPr algn="l" indent="0" marL="0">
              <a:lnSpc>
                <a:spcPct val="120000"/>
              </a:lnSpc>
              <a:buNone/>
            </a:pPr>
            <a:r>
              <a:rPr lang="en-US" sz="850" dirty="0">
                <a:solidFill>
                  <a:srgbClr val="3182CE"/>
                </a:solidFill>
                <a:latin typeface="Inter" pitchFamily="34" charset="0"/>
                <a:ea typeface="Inter" pitchFamily="34" charset="-122"/>
                <a:cs typeface="Inter" pitchFamily="34" charset="-120"/>
              </a:rPr>
              <a:t>→</a:t>
            </a:r>
            <a:endParaRPr lang="en-US" sz="850" dirty="0"/>
          </a:p>
        </p:txBody>
      </p:sp>
      <p:sp>
        <p:nvSpPr>
          <p:cNvPr id="33" name="Text 29"/>
          <p:cNvSpPr/>
          <p:nvPr/>
        </p:nvSpPr>
        <p:spPr>
          <a:xfrm>
            <a:off x="892969" y="3871913"/>
            <a:ext cx="114300" cy="171450"/>
          </a:xfrm>
          <a:prstGeom prst="rect">
            <a:avLst/>
          </a:prstGeom>
          <a:noFill/>
          <a:ln/>
        </p:spPr>
        <p:txBody>
          <a:bodyPr wrap="none" lIns="0" tIns="0" rIns="0" bIns="0" rtlCol="0" anchor="t">
            <a:spAutoFit/>
          </a:bodyPr>
          <a:lstStyle/>
          <a:p>
            <a:pPr algn="l" indent="0" marL="0">
              <a:lnSpc>
                <a:spcPct val="120000"/>
              </a:lnSpc>
              <a:buNone/>
            </a:pPr>
            <a:r>
              <a:rPr lang="en-US" sz="850" dirty="0">
                <a:solidFill>
                  <a:srgbClr val="3182CE"/>
                </a:solidFill>
                <a:latin typeface="Inter" pitchFamily="34" charset="0"/>
                <a:ea typeface="Inter" pitchFamily="34" charset="-122"/>
                <a:cs typeface="Inter" pitchFamily="34" charset="-120"/>
              </a:rPr>
              <a:t>→</a:t>
            </a:r>
            <a:endParaRPr lang="en-US" sz="850" dirty="0"/>
          </a:p>
        </p:txBody>
      </p:sp>
      <p:sp>
        <p:nvSpPr>
          <p:cNvPr id="34" name="Text 30"/>
          <p:cNvSpPr/>
          <p:nvPr/>
        </p:nvSpPr>
        <p:spPr>
          <a:xfrm>
            <a:off x="4893469" y="3136106"/>
            <a:ext cx="2048470" cy="171450"/>
          </a:xfrm>
          <a:prstGeom prst="rect">
            <a:avLst/>
          </a:prstGeom>
          <a:noFill/>
          <a:ln/>
        </p:spPr>
        <p:txBody>
          <a:bodyPr wrap="square" lIns="0" tIns="0" rIns="0" bIns="0" rtlCol="0" anchor="t">
            <a:spAutoFit/>
          </a:bodyPr>
          <a:lstStyle/>
          <a:p>
            <a:pPr algn="l" indent="0" marL="0">
              <a:buNone/>
            </a:pPr>
            <a:r>
              <a:rPr lang="en-US" sz="950" dirty="0">
                <a:solidFill>
                  <a:srgbClr val="0A2342"/>
                </a:solidFill>
                <a:latin typeface="Montserrat Bold" pitchFamily="34" charset="0"/>
                <a:ea typeface="Montserrat Bold" pitchFamily="34" charset="-122"/>
                <a:cs typeface="Montserrat Bold" pitchFamily="34" charset="-120"/>
              </a:rPr>
              <a:t>TECHNICAL IMPLEMENTATION</a:t>
            </a:r>
            <a:endParaRPr lang="en-US" sz="950" dirty="0"/>
          </a:p>
        </p:txBody>
      </p:sp>
      <p:sp>
        <p:nvSpPr>
          <p:cNvPr id="35" name="Text 31"/>
          <p:cNvSpPr/>
          <p:nvPr/>
        </p:nvSpPr>
        <p:spPr>
          <a:xfrm>
            <a:off x="5179219" y="3414713"/>
            <a:ext cx="3357563" cy="171450"/>
          </a:xfrm>
          <a:prstGeom prst="rect">
            <a:avLst/>
          </a:prstGeom>
          <a:noFill/>
          <a:ln/>
        </p:spPr>
        <p:txBody>
          <a:bodyPr wrap="none" lIns="170053" tIns="0" rIns="0" bIns="0" rtlCol="0" anchor="t">
            <a:spAutoFit/>
          </a:bodyPr>
          <a:lstStyle/>
          <a:p>
            <a:pPr algn="l" indent="0" marL="0">
              <a:lnSpc>
                <a:spcPct val="120000"/>
              </a:lnSpc>
              <a:buNone/>
            </a:pPr>
            <a:r>
              <a:rPr lang="en-US" sz="800" b="1" dirty="0">
                <a:solidFill>
                  <a:srgbClr val="2D3748"/>
                </a:solidFill>
                <a:latin typeface="Inter SemiBold" pitchFamily="34" charset="0"/>
                <a:ea typeface="Inter SemiBold" pitchFamily="34" charset="-122"/>
                <a:cs typeface="Inter SemiBold" pitchFamily="34" charset="-120"/>
              </a:rPr>
              <a:t>Embeddings</a:t>
            </a:r>
            <a:r>
              <a:rPr lang="en-US" sz="850" dirty="0">
                <a:solidFill>
                  <a:srgbClr val="2D3748"/>
                </a:solidFill>
                <a:latin typeface="Inter" pitchFamily="34" charset="0"/>
                <a:ea typeface="Inter" pitchFamily="34" charset="-122"/>
                <a:cs typeface="Inter" pitchFamily="34" charset="-120"/>
              </a:rPr>
              <a:t>: all-MiniLM-L6-v2 for RAS/AAS.</a:t>
            </a:r>
            <a:endParaRPr lang="en-US" sz="800" dirty="0"/>
          </a:p>
        </p:txBody>
      </p:sp>
      <p:sp>
        <p:nvSpPr>
          <p:cNvPr id="36" name="Text 32"/>
          <p:cNvSpPr/>
          <p:nvPr/>
        </p:nvSpPr>
        <p:spPr>
          <a:xfrm>
            <a:off x="5179219" y="3643313"/>
            <a:ext cx="3357563" cy="171450"/>
          </a:xfrm>
          <a:prstGeom prst="rect">
            <a:avLst/>
          </a:prstGeom>
          <a:noFill/>
          <a:ln/>
        </p:spPr>
        <p:txBody>
          <a:bodyPr wrap="none" lIns="170053" tIns="0" rIns="0" bIns="0" rtlCol="0" anchor="t">
            <a:spAutoFit/>
          </a:bodyPr>
          <a:lstStyle/>
          <a:p>
            <a:pPr algn="l" indent="0" marL="0">
              <a:lnSpc>
                <a:spcPct val="120000"/>
              </a:lnSpc>
              <a:buNone/>
            </a:pPr>
            <a:r>
              <a:rPr lang="en-US" sz="800" b="1" dirty="0">
                <a:solidFill>
                  <a:srgbClr val="2D3748"/>
                </a:solidFill>
                <a:latin typeface="Inter SemiBold" pitchFamily="34" charset="0"/>
                <a:ea typeface="Inter SemiBold" pitchFamily="34" charset="-122"/>
                <a:cs typeface="Inter SemiBold" pitchFamily="34" charset="-120"/>
              </a:rPr>
              <a:t>Logic</a:t>
            </a:r>
            <a:r>
              <a:rPr lang="en-US" sz="850" dirty="0">
                <a:solidFill>
                  <a:srgbClr val="2D3748"/>
                </a:solidFill>
                <a:latin typeface="Inter" pitchFamily="34" charset="0"/>
                <a:ea typeface="Inter" pitchFamily="34" charset="-122"/>
                <a:cs typeface="Inter" pitchFamily="34" charset="-120"/>
              </a:rPr>
              <a:t>: Asymmetric step-matching for SLMS.</a:t>
            </a:r>
            <a:endParaRPr lang="en-US" sz="800" dirty="0"/>
          </a:p>
        </p:txBody>
      </p:sp>
      <p:sp>
        <p:nvSpPr>
          <p:cNvPr id="37" name="Text 33"/>
          <p:cNvSpPr/>
          <p:nvPr/>
        </p:nvSpPr>
        <p:spPr>
          <a:xfrm>
            <a:off x="5179219" y="3871913"/>
            <a:ext cx="3357563" cy="171450"/>
          </a:xfrm>
          <a:prstGeom prst="rect">
            <a:avLst/>
          </a:prstGeom>
          <a:noFill/>
          <a:ln/>
        </p:spPr>
        <p:txBody>
          <a:bodyPr wrap="none" lIns="170053" tIns="0" rIns="0" bIns="0" rtlCol="0" anchor="t">
            <a:spAutoFit/>
          </a:bodyPr>
          <a:lstStyle/>
          <a:p>
            <a:pPr algn="l" indent="0" marL="0">
              <a:lnSpc>
                <a:spcPct val="120000"/>
              </a:lnSpc>
              <a:buNone/>
            </a:pPr>
            <a:r>
              <a:rPr lang="en-US" sz="800" b="1" dirty="0">
                <a:solidFill>
                  <a:srgbClr val="2D3748"/>
                </a:solidFill>
                <a:latin typeface="Inter SemiBold" pitchFamily="34" charset="0"/>
                <a:ea typeface="Inter SemiBold" pitchFamily="34" charset="-122"/>
                <a:cs typeface="Inter SemiBold" pitchFamily="34" charset="-120"/>
              </a:rPr>
              <a:t>Interface</a:t>
            </a:r>
            <a:r>
              <a:rPr lang="en-US" sz="850" dirty="0">
                <a:solidFill>
                  <a:srgbClr val="2D3748"/>
                </a:solidFill>
                <a:latin typeface="Inter" pitchFamily="34" charset="0"/>
                <a:ea typeface="Inter" pitchFamily="34" charset="-122"/>
                <a:cs typeface="Inter" pitchFamily="34" charset="-120"/>
              </a:rPr>
              <a:t>: Streamlit-based real-time dashboard.</a:t>
            </a:r>
            <a:endParaRPr lang="en-US" sz="800" dirty="0"/>
          </a:p>
        </p:txBody>
      </p:sp>
      <p:sp>
        <p:nvSpPr>
          <p:cNvPr id="38" name="Text 34"/>
          <p:cNvSpPr/>
          <p:nvPr/>
        </p:nvSpPr>
        <p:spPr>
          <a:xfrm>
            <a:off x="5179219" y="3414713"/>
            <a:ext cx="114300" cy="171450"/>
          </a:xfrm>
          <a:prstGeom prst="rect">
            <a:avLst/>
          </a:prstGeom>
          <a:noFill/>
          <a:ln/>
        </p:spPr>
        <p:txBody>
          <a:bodyPr wrap="none" lIns="0" tIns="0" rIns="0" bIns="0" rtlCol="0" anchor="t">
            <a:spAutoFit/>
          </a:bodyPr>
          <a:lstStyle/>
          <a:p>
            <a:pPr algn="l" indent="0" marL="0">
              <a:lnSpc>
                <a:spcPct val="120000"/>
              </a:lnSpc>
              <a:buNone/>
            </a:pPr>
            <a:r>
              <a:rPr lang="en-US" sz="850" dirty="0">
                <a:solidFill>
                  <a:srgbClr val="3182CE"/>
                </a:solidFill>
                <a:latin typeface="Inter" pitchFamily="34" charset="0"/>
                <a:ea typeface="Inter" pitchFamily="34" charset="-122"/>
                <a:cs typeface="Inter" pitchFamily="34" charset="-120"/>
              </a:rPr>
              <a:t>→</a:t>
            </a:r>
            <a:endParaRPr lang="en-US" sz="850" dirty="0"/>
          </a:p>
        </p:txBody>
      </p:sp>
      <p:sp>
        <p:nvSpPr>
          <p:cNvPr id="39" name="Text 35"/>
          <p:cNvSpPr/>
          <p:nvPr/>
        </p:nvSpPr>
        <p:spPr>
          <a:xfrm>
            <a:off x="5179219" y="3643313"/>
            <a:ext cx="114300" cy="171450"/>
          </a:xfrm>
          <a:prstGeom prst="rect">
            <a:avLst/>
          </a:prstGeom>
          <a:noFill/>
          <a:ln/>
        </p:spPr>
        <p:txBody>
          <a:bodyPr wrap="none" lIns="0" tIns="0" rIns="0" bIns="0" rtlCol="0" anchor="t">
            <a:spAutoFit/>
          </a:bodyPr>
          <a:lstStyle/>
          <a:p>
            <a:pPr algn="l" indent="0" marL="0">
              <a:lnSpc>
                <a:spcPct val="120000"/>
              </a:lnSpc>
              <a:buNone/>
            </a:pPr>
            <a:r>
              <a:rPr lang="en-US" sz="850" dirty="0">
                <a:solidFill>
                  <a:srgbClr val="3182CE"/>
                </a:solidFill>
                <a:latin typeface="Inter" pitchFamily="34" charset="0"/>
                <a:ea typeface="Inter" pitchFamily="34" charset="-122"/>
                <a:cs typeface="Inter" pitchFamily="34" charset="-120"/>
              </a:rPr>
              <a:t>→</a:t>
            </a:r>
            <a:endParaRPr lang="en-US" sz="850" dirty="0"/>
          </a:p>
        </p:txBody>
      </p:sp>
      <p:sp>
        <p:nvSpPr>
          <p:cNvPr id="40" name="Text 36"/>
          <p:cNvSpPr/>
          <p:nvPr/>
        </p:nvSpPr>
        <p:spPr>
          <a:xfrm>
            <a:off x="5179219" y="3871913"/>
            <a:ext cx="114300" cy="171450"/>
          </a:xfrm>
          <a:prstGeom prst="rect">
            <a:avLst/>
          </a:prstGeom>
          <a:noFill/>
          <a:ln/>
        </p:spPr>
        <p:txBody>
          <a:bodyPr wrap="none" lIns="0" tIns="0" rIns="0" bIns="0" rtlCol="0" anchor="t">
            <a:spAutoFit/>
          </a:bodyPr>
          <a:lstStyle/>
          <a:p>
            <a:pPr algn="l" indent="0" marL="0">
              <a:lnSpc>
                <a:spcPct val="120000"/>
              </a:lnSpc>
              <a:buNone/>
            </a:pPr>
            <a:r>
              <a:rPr lang="en-US" sz="850" dirty="0">
                <a:solidFill>
                  <a:srgbClr val="3182CE"/>
                </a:solidFill>
                <a:latin typeface="Inter" pitchFamily="34" charset="0"/>
                <a:ea typeface="Inter" pitchFamily="34" charset="-122"/>
                <a:cs typeface="Inter" pitchFamily="34" charset="-120"/>
              </a:rPr>
              <a:t>→</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9144000" cy="1143000"/>
          </a:xfrm>
          <a:prstGeom prst="rect">
            <a:avLst/>
          </a:prstGeom>
          <a:solidFill>
            <a:srgbClr val="0A2342"/>
          </a:solidFill>
          <a:ln/>
        </p:spPr>
      </p:sp>
      <p:sp>
        <p:nvSpPr>
          <p:cNvPr id="5" name="Text 1"/>
          <p:cNvSpPr/>
          <p:nvPr/>
        </p:nvSpPr>
        <p:spPr>
          <a:xfrm>
            <a:off x="571500" y="505420"/>
            <a:ext cx="8001000" cy="417909"/>
          </a:xfrm>
          <a:prstGeom prst="rect">
            <a:avLst/>
          </a:prstGeom>
          <a:noFill/>
          <a:ln/>
        </p:spPr>
        <p:txBody>
          <a:bodyPr wrap="square" lIns="0" tIns="0" rIns="0" bIns="0" rtlCol="0" anchor="t">
            <a:spAutoFit/>
          </a:bodyPr>
          <a:lstStyle/>
          <a:p>
            <a:pPr algn="l" indent="0" marL="0">
              <a:buNone/>
            </a:pPr>
            <a:r>
              <a:rPr lang="en-US" sz="2450" b="1" dirty="0">
                <a:solidFill>
                  <a:srgbClr val="FFFFFF"/>
                </a:solidFill>
                <a:latin typeface="Montserrat Bold" pitchFamily="34" charset="0"/>
                <a:ea typeface="Montserrat Bold" pitchFamily="34" charset="-122"/>
                <a:cs typeface="Montserrat Bold" pitchFamily="34" charset="-120"/>
              </a:rPr>
              <a:t>Model Support &amp; Cost Optimization</a:t>
            </a:r>
            <a:endParaRPr lang="en-US" sz="2450" dirty="0"/>
          </a:p>
        </p:txBody>
      </p:sp>
      <p:sp>
        <p:nvSpPr>
          <p:cNvPr id="6" name="Shape 2"/>
          <p:cNvSpPr/>
          <p:nvPr/>
        </p:nvSpPr>
        <p:spPr>
          <a:xfrm>
            <a:off x="428625" y="1285875"/>
            <a:ext cx="4057650" cy="1064419"/>
          </a:xfrm>
          <a:prstGeom prst="rect">
            <a:avLst/>
          </a:prstGeom>
          <a:solidFill>
            <a:srgbClr val="F8FAFC"/>
          </a:solidFill>
          <a:ln w="9144">
            <a:solidFill>
              <a:srgbClr val="E2E8F0"/>
            </a:solidFill>
            <a:prstDash val="solid"/>
          </a:ln>
        </p:spPr>
      </p:sp>
      <p:sp>
        <p:nvSpPr>
          <p:cNvPr id="7" name="Text 3"/>
          <p:cNvSpPr/>
          <p:nvPr/>
        </p:nvSpPr>
        <p:spPr>
          <a:xfrm>
            <a:off x="571500" y="1371600"/>
            <a:ext cx="2035969" cy="205383"/>
          </a:xfrm>
          <a:prstGeom prst="rect">
            <a:avLst/>
          </a:prstGeom>
          <a:noFill/>
          <a:ln/>
        </p:spPr>
        <p:txBody>
          <a:bodyPr wrap="square" lIns="0" tIns="0" rIns="0" bIns="0" rtlCol="0" anchor="t">
            <a:spAutoFit/>
          </a:bodyPr>
          <a:lstStyle/>
          <a:p>
            <a:pPr algn="l" indent="0" marL="0">
              <a:buNone/>
            </a:pPr>
            <a:r>
              <a:rPr lang="en-US" sz="1150" dirty="0">
                <a:solidFill>
                  <a:srgbClr val="0A2342"/>
                </a:solidFill>
                <a:latin typeface="Montserrat Bold" pitchFamily="34" charset="0"/>
                <a:ea typeface="Montserrat Bold" pitchFamily="34" charset="-122"/>
                <a:cs typeface="Montserrat Bold" pitchFamily="34" charset="-120"/>
              </a:rPr>
              <a:t>API-Based (High Quality)</a:t>
            </a:r>
            <a:endParaRPr lang="en-US" sz="1150" dirty="0"/>
          </a:p>
        </p:txBody>
      </p:sp>
      <p:sp>
        <p:nvSpPr>
          <p:cNvPr id="8" name="Text 4"/>
          <p:cNvSpPr/>
          <p:nvPr/>
        </p:nvSpPr>
        <p:spPr>
          <a:xfrm>
            <a:off x="857250" y="1698427"/>
            <a:ext cx="3479006" cy="155377"/>
          </a:xfrm>
          <a:prstGeom prst="rect">
            <a:avLst/>
          </a:prstGeom>
          <a:noFill/>
          <a:ln/>
        </p:spPr>
        <p:txBody>
          <a:bodyPr wrap="square" lIns="170053" tIns="0" rIns="0" bIns="0" rtlCol="0" anchor="t">
            <a:spAutoFit/>
          </a:bodyPr>
          <a:lstStyle/>
          <a:p>
            <a:pPr algn="l" indent="0" marL="0">
              <a:buNone/>
            </a:pPr>
            <a:r>
              <a:rPr lang="en-US" sz="900" dirty="0">
                <a:solidFill>
                  <a:srgbClr val="3182CE"/>
                </a:solidFill>
                <a:latin typeface="Inter SemiBold" pitchFamily="34" charset="0"/>
                <a:ea typeface="Inter SemiBold" pitchFamily="34" charset="-122"/>
                <a:cs typeface="Inter SemiBold" pitchFamily="34" charset="-120"/>
              </a:rPr>
              <a:t>OpenAI</a:t>
            </a:r>
            <a:r>
              <a:rPr lang="en-US" sz="950" dirty="0">
                <a:solidFill>
                  <a:srgbClr val="2D3748"/>
                </a:solidFill>
                <a:latin typeface="Inter" pitchFamily="34" charset="0"/>
                <a:ea typeface="Inter" pitchFamily="34" charset="-122"/>
                <a:cs typeface="Inter" pitchFamily="34" charset="-120"/>
              </a:rPr>
              <a:t>: GPT-4o</a:t>
            </a:r>
            <a:endParaRPr lang="en-US" sz="900" dirty="0"/>
          </a:p>
        </p:txBody>
      </p:sp>
      <p:sp>
        <p:nvSpPr>
          <p:cNvPr id="9" name="Text 5"/>
          <p:cNvSpPr/>
          <p:nvPr/>
        </p:nvSpPr>
        <p:spPr>
          <a:xfrm>
            <a:off x="857250" y="1910953"/>
            <a:ext cx="3479006" cy="155377"/>
          </a:xfrm>
          <a:prstGeom prst="rect">
            <a:avLst/>
          </a:prstGeom>
          <a:noFill/>
          <a:ln/>
        </p:spPr>
        <p:txBody>
          <a:bodyPr wrap="square" lIns="170053" tIns="0" rIns="0" bIns="0" rtlCol="0" anchor="t">
            <a:spAutoFit/>
          </a:bodyPr>
          <a:lstStyle/>
          <a:p>
            <a:pPr algn="l" indent="0" marL="0">
              <a:buNone/>
            </a:pPr>
            <a:r>
              <a:rPr lang="en-US" sz="900" dirty="0">
                <a:solidFill>
                  <a:srgbClr val="3182CE"/>
                </a:solidFill>
                <a:latin typeface="Inter SemiBold" pitchFamily="34" charset="0"/>
                <a:ea typeface="Inter SemiBold" pitchFamily="34" charset="-122"/>
                <a:cs typeface="Inter SemiBold" pitchFamily="34" charset="-120"/>
              </a:rPr>
              <a:t>Anthropic</a:t>
            </a:r>
            <a:r>
              <a:rPr lang="en-US" sz="950" dirty="0">
                <a:solidFill>
                  <a:srgbClr val="2D3748"/>
                </a:solidFill>
                <a:latin typeface="Inter" pitchFamily="34" charset="0"/>
                <a:ea typeface="Inter" pitchFamily="34" charset="-122"/>
                <a:cs typeface="Inter" pitchFamily="34" charset="-120"/>
              </a:rPr>
              <a:t>: Claude 3.5 Sonnet</a:t>
            </a:r>
            <a:endParaRPr lang="en-US" sz="900" dirty="0"/>
          </a:p>
        </p:txBody>
      </p:sp>
      <p:sp>
        <p:nvSpPr>
          <p:cNvPr id="10" name="Text 6"/>
          <p:cNvSpPr/>
          <p:nvPr/>
        </p:nvSpPr>
        <p:spPr>
          <a:xfrm>
            <a:off x="857250" y="2123480"/>
            <a:ext cx="3479006" cy="155377"/>
          </a:xfrm>
          <a:prstGeom prst="rect">
            <a:avLst/>
          </a:prstGeom>
          <a:noFill/>
          <a:ln/>
        </p:spPr>
        <p:txBody>
          <a:bodyPr wrap="square" lIns="170053" tIns="0" rIns="0" bIns="0" rtlCol="0" anchor="t">
            <a:spAutoFit/>
          </a:bodyPr>
          <a:lstStyle/>
          <a:p>
            <a:pPr algn="l" indent="0" marL="0">
              <a:buNone/>
            </a:pPr>
            <a:r>
              <a:rPr lang="en-US" sz="900" dirty="0">
                <a:solidFill>
                  <a:srgbClr val="3182CE"/>
                </a:solidFill>
                <a:latin typeface="Inter SemiBold" pitchFamily="34" charset="0"/>
                <a:ea typeface="Inter SemiBold" pitchFamily="34" charset="-122"/>
                <a:cs typeface="Inter SemiBold" pitchFamily="34" charset="-120"/>
              </a:rPr>
              <a:t>Google</a:t>
            </a:r>
            <a:r>
              <a:rPr lang="en-US" sz="950" dirty="0">
                <a:solidFill>
                  <a:srgbClr val="2D3748"/>
                </a:solidFill>
                <a:latin typeface="Inter" pitchFamily="34" charset="0"/>
                <a:ea typeface="Inter" pitchFamily="34" charset="-122"/>
                <a:cs typeface="Inter" pitchFamily="34" charset="-120"/>
              </a:rPr>
              <a:t>: Gemini 1.5 Pro</a:t>
            </a:r>
            <a:endParaRPr lang="en-US" sz="900" dirty="0"/>
          </a:p>
        </p:txBody>
      </p:sp>
      <p:sp>
        <p:nvSpPr>
          <p:cNvPr id="11" name="Shape 7"/>
          <p:cNvSpPr/>
          <p:nvPr/>
        </p:nvSpPr>
        <p:spPr>
          <a:xfrm>
            <a:off x="4650581" y="1285875"/>
            <a:ext cx="4064794" cy="1064419"/>
          </a:xfrm>
          <a:prstGeom prst="rect">
            <a:avLst/>
          </a:prstGeom>
          <a:solidFill>
            <a:srgbClr val="F8FAFC"/>
          </a:solidFill>
          <a:ln w="9144">
            <a:solidFill>
              <a:srgbClr val="E2E8F0"/>
            </a:solidFill>
            <a:prstDash val="solid"/>
          </a:ln>
        </p:spPr>
      </p:sp>
      <p:sp>
        <p:nvSpPr>
          <p:cNvPr id="12" name="Text 8"/>
          <p:cNvSpPr/>
          <p:nvPr/>
        </p:nvSpPr>
        <p:spPr>
          <a:xfrm>
            <a:off x="857250" y="1698427"/>
            <a:ext cx="128588" cy="155377"/>
          </a:xfrm>
          <a:prstGeom prst="rect">
            <a:avLst/>
          </a:prstGeom>
          <a:noFill/>
          <a:ln/>
        </p:spPr>
        <p:txBody>
          <a:bodyPr wrap="none" lIns="0" tIns="0" rIns="0" bIns="0" rtlCol="0" anchor="t">
            <a:spAutoFit/>
          </a:bodyPr>
          <a:lstStyle/>
          <a:p>
            <a:pPr algn="l" indent="0" marL="0">
              <a:buNone/>
            </a:pPr>
            <a:r>
              <a:rPr lang="en-US" sz="950" dirty="0">
                <a:solidFill>
                  <a:srgbClr val="3182CE"/>
                </a:solidFill>
                <a:latin typeface="Inter" pitchFamily="34" charset="0"/>
                <a:ea typeface="Inter" pitchFamily="34" charset="-122"/>
                <a:cs typeface="Inter" pitchFamily="34" charset="-120"/>
              </a:rPr>
              <a:t>→</a:t>
            </a:r>
            <a:endParaRPr lang="en-US" sz="950" dirty="0"/>
          </a:p>
        </p:txBody>
      </p:sp>
      <p:sp>
        <p:nvSpPr>
          <p:cNvPr id="13" name="Text 9"/>
          <p:cNvSpPr/>
          <p:nvPr/>
        </p:nvSpPr>
        <p:spPr>
          <a:xfrm>
            <a:off x="857250" y="1910953"/>
            <a:ext cx="128588" cy="155377"/>
          </a:xfrm>
          <a:prstGeom prst="rect">
            <a:avLst/>
          </a:prstGeom>
          <a:noFill/>
          <a:ln/>
        </p:spPr>
        <p:txBody>
          <a:bodyPr wrap="none" lIns="0" tIns="0" rIns="0" bIns="0" rtlCol="0" anchor="t">
            <a:spAutoFit/>
          </a:bodyPr>
          <a:lstStyle/>
          <a:p>
            <a:pPr algn="l" indent="0" marL="0">
              <a:buNone/>
            </a:pPr>
            <a:r>
              <a:rPr lang="en-US" sz="950" dirty="0">
                <a:solidFill>
                  <a:srgbClr val="3182CE"/>
                </a:solidFill>
                <a:latin typeface="Inter" pitchFamily="34" charset="0"/>
                <a:ea typeface="Inter" pitchFamily="34" charset="-122"/>
                <a:cs typeface="Inter" pitchFamily="34" charset="-120"/>
              </a:rPr>
              <a:t>→</a:t>
            </a:r>
            <a:endParaRPr lang="en-US" sz="950" dirty="0"/>
          </a:p>
        </p:txBody>
      </p:sp>
      <p:sp>
        <p:nvSpPr>
          <p:cNvPr id="14" name="Text 10"/>
          <p:cNvSpPr/>
          <p:nvPr/>
        </p:nvSpPr>
        <p:spPr>
          <a:xfrm>
            <a:off x="857250" y="2123480"/>
            <a:ext cx="128588" cy="155377"/>
          </a:xfrm>
          <a:prstGeom prst="rect">
            <a:avLst/>
          </a:prstGeom>
          <a:noFill/>
          <a:ln/>
        </p:spPr>
        <p:txBody>
          <a:bodyPr wrap="none" lIns="0" tIns="0" rIns="0" bIns="0" rtlCol="0" anchor="t">
            <a:spAutoFit/>
          </a:bodyPr>
          <a:lstStyle/>
          <a:p>
            <a:pPr algn="l" indent="0" marL="0">
              <a:buNone/>
            </a:pPr>
            <a:r>
              <a:rPr lang="en-US" sz="950" dirty="0">
                <a:solidFill>
                  <a:srgbClr val="3182CE"/>
                </a:solidFill>
                <a:latin typeface="Inter" pitchFamily="34" charset="0"/>
                <a:ea typeface="Inter" pitchFamily="34" charset="-122"/>
                <a:cs typeface="Inter" pitchFamily="34" charset="-120"/>
              </a:rPr>
              <a:t>→</a:t>
            </a:r>
            <a:endParaRPr lang="en-US" sz="950" dirty="0"/>
          </a:p>
        </p:txBody>
      </p:sp>
      <p:sp>
        <p:nvSpPr>
          <p:cNvPr id="15" name="Text 11"/>
          <p:cNvSpPr/>
          <p:nvPr/>
        </p:nvSpPr>
        <p:spPr>
          <a:xfrm>
            <a:off x="4800600" y="1371600"/>
            <a:ext cx="2373511" cy="205383"/>
          </a:xfrm>
          <a:prstGeom prst="rect">
            <a:avLst/>
          </a:prstGeom>
          <a:noFill/>
          <a:ln/>
        </p:spPr>
        <p:txBody>
          <a:bodyPr wrap="square" lIns="0" tIns="0" rIns="0" bIns="0" rtlCol="0" anchor="t">
            <a:spAutoFit/>
          </a:bodyPr>
          <a:lstStyle/>
          <a:p>
            <a:pPr algn="l" indent="0" marL="0">
              <a:buNone/>
            </a:pPr>
            <a:r>
              <a:rPr lang="en-US" sz="1150" dirty="0">
                <a:solidFill>
                  <a:srgbClr val="0A2342"/>
                </a:solidFill>
                <a:latin typeface="Montserrat Bold" pitchFamily="34" charset="0"/>
                <a:ea typeface="Montserrat Bold" pitchFamily="34" charset="-122"/>
                <a:cs typeface="Montserrat Bold" pitchFamily="34" charset="-120"/>
              </a:rPr>
              <a:t>Open-Source (Cost Effective)</a:t>
            </a:r>
            <a:endParaRPr lang="en-US" sz="1150" dirty="0"/>
          </a:p>
        </p:txBody>
      </p:sp>
      <p:sp>
        <p:nvSpPr>
          <p:cNvPr id="16" name="Text 12"/>
          <p:cNvSpPr/>
          <p:nvPr/>
        </p:nvSpPr>
        <p:spPr>
          <a:xfrm>
            <a:off x="5086350" y="1698427"/>
            <a:ext cx="3486150" cy="155377"/>
          </a:xfrm>
          <a:prstGeom prst="rect">
            <a:avLst/>
          </a:prstGeom>
          <a:noFill/>
          <a:ln/>
        </p:spPr>
        <p:txBody>
          <a:bodyPr wrap="square" lIns="170053" tIns="0" rIns="0" bIns="0" rtlCol="0" anchor="t">
            <a:spAutoFit/>
          </a:bodyPr>
          <a:lstStyle/>
          <a:p>
            <a:pPr algn="l" indent="0" marL="0">
              <a:buNone/>
            </a:pPr>
            <a:r>
              <a:rPr lang="en-US" sz="900" dirty="0">
                <a:solidFill>
                  <a:srgbClr val="3182CE"/>
                </a:solidFill>
                <a:latin typeface="Inter SemiBold" pitchFamily="34" charset="0"/>
                <a:ea typeface="Inter SemiBold" pitchFamily="34" charset="-122"/>
                <a:cs typeface="Inter SemiBold" pitchFamily="34" charset="-120"/>
              </a:rPr>
              <a:t>Meta</a:t>
            </a:r>
            <a:r>
              <a:rPr lang="en-US" sz="950" dirty="0">
                <a:solidFill>
                  <a:srgbClr val="2D3748"/>
                </a:solidFill>
                <a:latin typeface="Inter" pitchFamily="34" charset="0"/>
                <a:ea typeface="Inter" pitchFamily="34" charset="-122"/>
                <a:cs typeface="Inter" pitchFamily="34" charset="-120"/>
              </a:rPr>
              <a:t>: Llama 3.2 1B</a:t>
            </a:r>
            <a:endParaRPr lang="en-US" sz="900" dirty="0"/>
          </a:p>
        </p:txBody>
      </p:sp>
      <p:sp>
        <p:nvSpPr>
          <p:cNvPr id="17" name="Text 13"/>
          <p:cNvSpPr/>
          <p:nvPr/>
        </p:nvSpPr>
        <p:spPr>
          <a:xfrm>
            <a:off x="5086350" y="1910953"/>
            <a:ext cx="3486150" cy="155377"/>
          </a:xfrm>
          <a:prstGeom prst="rect">
            <a:avLst/>
          </a:prstGeom>
          <a:noFill/>
          <a:ln/>
        </p:spPr>
        <p:txBody>
          <a:bodyPr wrap="square" lIns="170053" tIns="0" rIns="0" bIns="0" rtlCol="0" anchor="t">
            <a:spAutoFit/>
          </a:bodyPr>
          <a:lstStyle/>
          <a:p>
            <a:pPr algn="l" indent="0" marL="0">
              <a:buNone/>
            </a:pPr>
            <a:r>
              <a:rPr lang="en-US" sz="900" dirty="0">
                <a:solidFill>
                  <a:srgbClr val="3182CE"/>
                </a:solidFill>
                <a:latin typeface="Inter SemiBold" pitchFamily="34" charset="0"/>
                <a:ea typeface="Inter SemiBold" pitchFamily="34" charset="-122"/>
                <a:cs typeface="Inter SemiBold" pitchFamily="34" charset="-120"/>
              </a:rPr>
              <a:t>Alibaba</a:t>
            </a:r>
            <a:r>
              <a:rPr lang="en-US" sz="950" dirty="0">
                <a:solidFill>
                  <a:srgbClr val="2D3748"/>
                </a:solidFill>
                <a:latin typeface="Inter" pitchFamily="34" charset="0"/>
                <a:ea typeface="Inter" pitchFamily="34" charset="-122"/>
                <a:cs typeface="Inter" pitchFamily="34" charset="-120"/>
              </a:rPr>
              <a:t>: Qwen 2.5 7B</a:t>
            </a:r>
            <a:endParaRPr lang="en-US" sz="900" dirty="0"/>
          </a:p>
        </p:txBody>
      </p:sp>
      <p:sp>
        <p:nvSpPr>
          <p:cNvPr id="18" name="Text 14"/>
          <p:cNvSpPr/>
          <p:nvPr/>
        </p:nvSpPr>
        <p:spPr>
          <a:xfrm>
            <a:off x="5086350" y="2123480"/>
            <a:ext cx="3486150" cy="155377"/>
          </a:xfrm>
          <a:prstGeom prst="rect">
            <a:avLst/>
          </a:prstGeom>
          <a:noFill/>
          <a:ln/>
        </p:spPr>
        <p:txBody>
          <a:bodyPr wrap="square" lIns="170053" tIns="0" rIns="0" bIns="0" rtlCol="0" anchor="t">
            <a:spAutoFit/>
          </a:bodyPr>
          <a:lstStyle/>
          <a:p>
            <a:pPr algn="l" indent="0" marL="0">
              <a:buNone/>
            </a:pPr>
            <a:r>
              <a:rPr lang="en-US" sz="900" dirty="0">
                <a:solidFill>
                  <a:srgbClr val="3182CE"/>
                </a:solidFill>
                <a:latin typeface="Inter SemiBold" pitchFamily="34" charset="0"/>
                <a:ea typeface="Inter SemiBold" pitchFamily="34" charset="-122"/>
                <a:cs typeface="Inter SemiBold" pitchFamily="34" charset="-120"/>
              </a:rPr>
              <a:t>Google</a:t>
            </a:r>
            <a:r>
              <a:rPr lang="en-US" sz="950" dirty="0">
                <a:solidFill>
                  <a:srgbClr val="2D3748"/>
                </a:solidFill>
                <a:latin typeface="Inter" pitchFamily="34" charset="0"/>
                <a:ea typeface="Inter" pitchFamily="34" charset="-122"/>
                <a:cs typeface="Inter" pitchFamily="34" charset="-120"/>
              </a:rPr>
              <a:t>: Gemma 2 2B</a:t>
            </a:r>
            <a:endParaRPr lang="en-US" sz="900" dirty="0"/>
          </a:p>
        </p:txBody>
      </p:sp>
      <p:sp>
        <p:nvSpPr>
          <p:cNvPr id="19" name="Shape 15"/>
          <p:cNvSpPr/>
          <p:nvPr/>
        </p:nvSpPr>
        <p:spPr>
          <a:xfrm>
            <a:off x="428625" y="2478881"/>
            <a:ext cx="8286750" cy="961839"/>
          </a:xfrm>
          <a:prstGeom prst="rect">
            <a:avLst/>
          </a:prstGeom>
          <a:solidFill>
            <a:srgbClr val="EBF8FF"/>
          </a:solidFill>
          <a:ln w="9144">
            <a:solidFill>
              <a:srgbClr val="3182CE"/>
            </a:solidFill>
            <a:prstDash val="solid"/>
          </a:ln>
        </p:spPr>
      </p:sp>
      <p:sp>
        <p:nvSpPr>
          <p:cNvPr id="20" name="Text 16"/>
          <p:cNvSpPr/>
          <p:nvPr/>
        </p:nvSpPr>
        <p:spPr>
          <a:xfrm>
            <a:off x="5086350" y="1698427"/>
            <a:ext cx="128588" cy="155377"/>
          </a:xfrm>
          <a:prstGeom prst="rect">
            <a:avLst/>
          </a:prstGeom>
          <a:noFill/>
          <a:ln/>
        </p:spPr>
        <p:txBody>
          <a:bodyPr wrap="none" lIns="0" tIns="0" rIns="0" bIns="0" rtlCol="0" anchor="t">
            <a:spAutoFit/>
          </a:bodyPr>
          <a:lstStyle/>
          <a:p>
            <a:pPr algn="l" indent="0" marL="0">
              <a:buNone/>
            </a:pPr>
            <a:r>
              <a:rPr lang="en-US" sz="950" dirty="0">
                <a:solidFill>
                  <a:srgbClr val="3182CE"/>
                </a:solidFill>
                <a:latin typeface="Inter" pitchFamily="34" charset="0"/>
                <a:ea typeface="Inter" pitchFamily="34" charset="-122"/>
                <a:cs typeface="Inter" pitchFamily="34" charset="-120"/>
              </a:rPr>
              <a:t>→</a:t>
            </a:r>
            <a:endParaRPr lang="en-US" sz="950" dirty="0"/>
          </a:p>
        </p:txBody>
      </p:sp>
      <p:sp>
        <p:nvSpPr>
          <p:cNvPr id="21" name="Text 17"/>
          <p:cNvSpPr/>
          <p:nvPr/>
        </p:nvSpPr>
        <p:spPr>
          <a:xfrm>
            <a:off x="5086350" y="1910953"/>
            <a:ext cx="128588" cy="155377"/>
          </a:xfrm>
          <a:prstGeom prst="rect">
            <a:avLst/>
          </a:prstGeom>
          <a:noFill/>
          <a:ln/>
        </p:spPr>
        <p:txBody>
          <a:bodyPr wrap="none" lIns="0" tIns="0" rIns="0" bIns="0" rtlCol="0" anchor="t">
            <a:spAutoFit/>
          </a:bodyPr>
          <a:lstStyle/>
          <a:p>
            <a:pPr algn="l" indent="0" marL="0">
              <a:buNone/>
            </a:pPr>
            <a:r>
              <a:rPr lang="en-US" sz="950" dirty="0">
                <a:solidFill>
                  <a:srgbClr val="3182CE"/>
                </a:solidFill>
                <a:latin typeface="Inter" pitchFamily="34" charset="0"/>
                <a:ea typeface="Inter" pitchFamily="34" charset="-122"/>
                <a:cs typeface="Inter" pitchFamily="34" charset="-120"/>
              </a:rPr>
              <a:t>→</a:t>
            </a:r>
            <a:endParaRPr lang="en-US" sz="950" dirty="0"/>
          </a:p>
        </p:txBody>
      </p:sp>
      <p:sp>
        <p:nvSpPr>
          <p:cNvPr id="22" name="Text 18"/>
          <p:cNvSpPr/>
          <p:nvPr/>
        </p:nvSpPr>
        <p:spPr>
          <a:xfrm>
            <a:off x="5086350" y="2123480"/>
            <a:ext cx="128588" cy="155377"/>
          </a:xfrm>
          <a:prstGeom prst="rect">
            <a:avLst/>
          </a:prstGeom>
          <a:noFill/>
          <a:ln/>
        </p:spPr>
        <p:txBody>
          <a:bodyPr wrap="none" lIns="0" tIns="0" rIns="0" bIns="0" rtlCol="0" anchor="t">
            <a:spAutoFit/>
          </a:bodyPr>
          <a:lstStyle/>
          <a:p>
            <a:pPr algn="l" indent="0" marL="0">
              <a:buNone/>
            </a:pPr>
            <a:r>
              <a:rPr lang="en-US" sz="950" dirty="0">
                <a:solidFill>
                  <a:srgbClr val="3182CE"/>
                </a:solidFill>
                <a:latin typeface="Inter" pitchFamily="34" charset="0"/>
                <a:ea typeface="Inter" pitchFamily="34" charset="-122"/>
                <a:cs typeface="Inter" pitchFamily="34" charset="-120"/>
              </a:rPr>
              <a:t>→</a:t>
            </a:r>
            <a:endParaRPr lang="en-US" sz="950" dirty="0"/>
          </a:p>
        </p:txBody>
      </p:sp>
      <p:sp>
        <p:nvSpPr>
          <p:cNvPr id="23" name="Text 19"/>
          <p:cNvSpPr/>
          <p:nvPr/>
        </p:nvSpPr>
        <p:spPr>
          <a:xfrm>
            <a:off x="571500" y="2564606"/>
            <a:ext cx="8001000" cy="173236"/>
          </a:xfrm>
          <a:prstGeom prst="rect">
            <a:avLst/>
          </a:prstGeom>
          <a:noFill/>
          <a:ln/>
        </p:spPr>
        <p:txBody>
          <a:bodyPr wrap="square" lIns="0" tIns="0" rIns="0" bIns="0" rtlCol="0" anchor="t">
            <a:spAutoFit/>
          </a:bodyPr>
          <a:lstStyle/>
          <a:p>
            <a:pPr algn="l" indent="0" marL="0">
              <a:buNone/>
            </a:pPr>
            <a:r>
              <a:rPr lang="en-US" sz="1050" spc="1" kern="0" dirty="0">
                <a:solidFill>
                  <a:srgbClr val="2C5282"/>
                </a:solidFill>
                <a:latin typeface="Montserrat Bold" pitchFamily="34" charset="0"/>
                <a:ea typeface="Montserrat Bold" pitchFamily="34" charset="-122"/>
                <a:cs typeface="Montserrat Bold" pitchFamily="34" charset="-120"/>
              </a:rPr>
              <a:t>OPTIMIZATION STRATEGIES</a:t>
            </a:r>
            <a:endParaRPr lang="en-US" sz="1050" dirty="0"/>
          </a:p>
        </p:txBody>
      </p:sp>
      <p:sp>
        <p:nvSpPr>
          <p:cNvPr id="24" name="Text 20"/>
          <p:cNvSpPr/>
          <p:nvPr/>
        </p:nvSpPr>
        <p:spPr>
          <a:xfrm>
            <a:off x="571500" y="2809280"/>
            <a:ext cx="3914775" cy="411435"/>
          </a:xfrm>
          <a:prstGeom prst="rect">
            <a:avLst/>
          </a:prstGeom>
          <a:noFill/>
          <a:ln/>
        </p:spPr>
        <p:txBody>
          <a:bodyPr wrap="square" lIns="0" tIns="0" rIns="0" bIns="0" rtlCol="0" anchor="t">
            <a:spAutoFit/>
          </a:bodyPr>
          <a:lstStyle/>
          <a:p>
            <a:pPr algn="l" indent="0" marL="0">
              <a:lnSpc>
                <a:spcPct val="128000"/>
              </a:lnSpc>
              <a:buNone/>
            </a:pPr>
            <a:r>
              <a:rPr lang="en-US" sz="950" dirty="0">
                <a:solidFill>
                  <a:srgbClr val="2D3748"/>
                </a:solidFill>
                <a:latin typeface="Inter" pitchFamily="34" charset="0"/>
                <a:ea typeface="Inter" pitchFamily="34" charset="-122"/>
                <a:cs typeface="Inter" pitchFamily="34" charset="-120"/>
              </a:rPr>
              <a:t>• </a:t>
            </a:r>
            <a:r>
              <a:rPr lang="en-US" sz="900" dirty="0">
                <a:solidFill>
                  <a:srgbClr val="3182CE"/>
                </a:solidFill>
                <a:latin typeface="Inter SemiBold" pitchFamily="34" charset="0"/>
                <a:ea typeface="Inter SemiBold" pitchFamily="34" charset="-122"/>
                <a:cs typeface="Inter SemiBold" pitchFamily="34" charset="-120"/>
              </a:rPr>
              <a:t>Token Limits</a:t>
            </a:r>
            <a:r>
              <a:rPr lang="en-US" sz="950" dirty="0">
                <a:solidFill>
                  <a:srgbClr val="2D3748"/>
                </a:solidFill>
                <a:latin typeface="Inter" pitchFamily="34" charset="0"/>
                <a:ea typeface="Inter" pitchFamily="34" charset="-122"/>
                <a:cs typeface="Inter" pitchFamily="34" charset="-120"/>
              </a:rPr>
              <a:t>: Capped at 512 tokens to reduce per-call costs.</a:t>
            </a:r>
            <a:r>
              <a:rPr lang="en-US" sz="950" dirty="0">
                <a:solidFill>
                  <a:srgbClr val="2D3748"/>
                </a:solidFill>
                <a:latin typeface="Inter" pitchFamily="34" charset="0"/>
                <a:ea typeface="Inter" pitchFamily="34" charset="-122"/>
                <a:cs typeface="Inter" pitchFamily="34" charset="-120"/>
              </a:rPr>
              <a:t>
</a:t>
            </a:r>
            <a:r>
              <a:rPr lang="en-US" sz="950" dirty="0">
                <a:solidFill>
                  <a:srgbClr val="2D3748"/>
                </a:solidFill>
                <a:latin typeface="Inter" pitchFamily="34" charset="0"/>
                <a:ea typeface="Inter" pitchFamily="34" charset="-122"/>
                <a:cs typeface="Inter" pitchFamily="34" charset="-120"/>
              </a:rPr>
              <a:t>• </a:t>
            </a:r>
            <a:r>
              <a:rPr lang="en-US" sz="900" dirty="0">
                <a:solidFill>
                  <a:srgbClr val="3182CE"/>
                </a:solidFill>
                <a:latin typeface="Inter SemiBold" pitchFamily="34" charset="0"/>
                <a:ea typeface="Inter SemiBold" pitchFamily="34" charset="-122"/>
                <a:cs typeface="Inter SemiBold" pitchFamily="34" charset="-120"/>
              </a:rPr>
              <a:t>Run Control</a:t>
            </a:r>
            <a:r>
              <a:rPr lang="en-US" sz="950" dirty="0">
                <a:solidFill>
                  <a:srgbClr val="2D3748"/>
                </a:solidFill>
                <a:latin typeface="Inter" pitchFamily="34" charset="0"/>
                <a:ea typeface="Inter" pitchFamily="34" charset="-122"/>
                <a:cs typeface="Inter" pitchFamily="34" charset="-120"/>
              </a:rPr>
              <a:t>: Configurable runs (default 1) for rapid iteration.</a:t>
            </a:r>
            <a:endParaRPr lang="en-US" sz="950" dirty="0"/>
          </a:p>
        </p:txBody>
      </p:sp>
      <p:sp>
        <p:nvSpPr>
          <p:cNvPr id="25" name="Text 21"/>
          <p:cNvSpPr/>
          <p:nvPr/>
        </p:nvSpPr>
        <p:spPr>
          <a:xfrm>
            <a:off x="4657725" y="2809280"/>
            <a:ext cx="3914775" cy="411435"/>
          </a:xfrm>
          <a:prstGeom prst="rect">
            <a:avLst/>
          </a:prstGeom>
          <a:noFill/>
          <a:ln/>
        </p:spPr>
        <p:txBody>
          <a:bodyPr wrap="square" lIns="0" tIns="0" rIns="0" bIns="0" rtlCol="0" anchor="t">
            <a:spAutoFit/>
          </a:bodyPr>
          <a:lstStyle/>
          <a:p>
            <a:pPr algn="l" indent="0" marL="0">
              <a:lnSpc>
                <a:spcPct val="128000"/>
              </a:lnSpc>
              <a:buNone/>
            </a:pPr>
            <a:r>
              <a:rPr lang="en-US" sz="950" dirty="0">
                <a:solidFill>
                  <a:srgbClr val="2D3748"/>
                </a:solidFill>
                <a:latin typeface="Inter" pitchFamily="34" charset="0"/>
                <a:ea typeface="Inter" pitchFamily="34" charset="-122"/>
                <a:cs typeface="Inter" pitchFamily="34" charset="-120"/>
              </a:rPr>
              <a:t>• </a:t>
            </a:r>
            <a:r>
              <a:rPr lang="en-US" sz="900" dirty="0">
                <a:solidFill>
                  <a:srgbClr val="3182CE"/>
                </a:solidFill>
                <a:latin typeface="Inter SemiBold" pitchFamily="34" charset="0"/>
                <a:ea typeface="Inter SemiBold" pitchFamily="34" charset="-122"/>
                <a:cs typeface="Inter SemiBold" pitchFamily="34" charset="-120"/>
              </a:rPr>
              <a:t>Inference Choice</a:t>
            </a:r>
            <a:r>
              <a:rPr lang="en-US" sz="950" dirty="0">
                <a:solidFill>
                  <a:srgbClr val="2D3748"/>
                </a:solidFill>
                <a:latin typeface="Inter" pitchFamily="34" charset="0"/>
                <a:ea typeface="Inter" pitchFamily="34" charset="-122"/>
                <a:cs typeface="Inter" pitchFamily="34" charset="-120"/>
              </a:rPr>
              <a:t>: Use HF Serverless for open-source </a:t>
            </a:r>
            <a:r>
              <a:rPr lang="en-US" sz="950" dirty="0">
                <a:solidFill>
                  <a:srgbClr val="2D3748"/>
                </a:solidFill>
                <a:latin typeface="Inter" pitchFamily="34" charset="0"/>
                <a:ea typeface="Inter" pitchFamily="34" charset="-122"/>
                <a:cs typeface="Inter" pitchFamily="34" charset="-120"/>
              </a:rPr>
              <a:t>models.</a:t>
            </a:r>
            <a:r>
              <a:rPr lang="en-US" sz="950" dirty="0">
                <a:solidFill>
                  <a:srgbClr val="2D3748"/>
                </a:solidFill>
                <a:latin typeface="Inter" pitchFamily="34" charset="0"/>
                <a:ea typeface="Inter" pitchFamily="34" charset="-122"/>
                <a:cs typeface="Inter" pitchFamily="34" charset="-120"/>
              </a:rPr>
              <a:t>
</a:t>
            </a:r>
            <a:r>
              <a:rPr lang="en-US" sz="950" dirty="0">
                <a:solidFill>
                  <a:srgbClr val="2D3748"/>
                </a:solidFill>
                <a:latin typeface="Inter" pitchFamily="34" charset="0"/>
                <a:ea typeface="Inter" pitchFamily="34" charset="-122"/>
                <a:cs typeface="Inter" pitchFamily="34" charset="-120"/>
              </a:rPr>
              <a:t>• </a:t>
            </a:r>
            <a:r>
              <a:rPr lang="en-US" sz="900" dirty="0">
                <a:solidFill>
                  <a:srgbClr val="3182CE"/>
                </a:solidFill>
                <a:latin typeface="Inter SemiBold" pitchFamily="34" charset="0"/>
                <a:ea typeface="Inter SemiBold" pitchFamily="34" charset="-122"/>
                <a:cs typeface="Inter SemiBold" pitchFamily="34" charset="-120"/>
              </a:rPr>
              <a:t>Trade-off</a:t>
            </a:r>
            <a:r>
              <a:rPr lang="en-US" sz="950" dirty="0">
                <a:solidFill>
                  <a:srgbClr val="2D3748"/>
                </a:solidFill>
                <a:latin typeface="Inter" pitchFamily="34" charset="0"/>
                <a:ea typeface="Inter" pitchFamily="34" charset="-122"/>
                <a:cs typeface="Inter" pitchFamily="34" charset="-120"/>
              </a:rPr>
              <a:t>: Smaller models enable cheap experimentation.</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9144000" cy="1285875"/>
          </a:xfrm>
          <a:prstGeom prst="rect">
            <a:avLst/>
          </a:prstGeom>
          <a:solidFill>
            <a:srgbClr val="0A2342"/>
          </a:solidFill>
          <a:ln/>
        </p:spPr>
      </p:sp>
      <p:sp>
        <p:nvSpPr>
          <p:cNvPr id="5" name="Text 1"/>
          <p:cNvSpPr/>
          <p:nvPr/>
        </p:nvSpPr>
        <p:spPr>
          <a:xfrm>
            <a:off x="571500" y="576858"/>
            <a:ext cx="8001000" cy="417909"/>
          </a:xfrm>
          <a:prstGeom prst="rect">
            <a:avLst/>
          </a:prstGeom>
          <a:noFill/>
          <a:ln/>
        </p:spPr>
        <p:txBody>
          <a:bodyPr wrap="square" lIns="0" tIns="0" rIns="0" bIns="0" rtlCol="0" anchor="t">
            <a:spAutoFit/>
          </a:bodyPr>
          <a:lstStyle/>
          <a:p>
            <a:pPr algn="l" indent="0" marL="0">
              <a:buNone/>
            </a:pPr>
            <a:r>
              <a:rPr lang="en-US" sz="2450" b="1" dirty="0">
                <a:solidFill>
                  <a:srgbClr val="FFFFFF"/>
                </a:solidFill>
                <a:latin typeface="Montserrat Bold" pitchFamily="34" charset="0"/>
                <a:ea typeface="Montserrat Bold" pitchFamily="34" charset="-122"/>
                <a:cs typeface="Montserrat Bold" pitchFamily="34" charset="-120"/>
              </a:rPr>
              <a:t>Interactive Streamlit Dashboard</a:t>
            </a:r>
            <a:endParaRPr lang="en-US" sz="2450" dirty="0"/>
          </a:p>
        </p:txBody>
      </p:sp>
      <p:sp>
        <p:nvSpPr>
          <p:cNvPr id="6" name="Shape 2"/>
          <p:cNvSpPr/>
          <p:nvPr/>
        </p:nvSpPr>
        <p:spPr>
          <a:xfrm>
            <a:off x="571500" y="1457325"/>
            <a:ext cx="3857625" cy="2671763"/>
          </a:xfrm>
          <a:prstGeom prst="rect">
            <a:avLst/>
          </a:prstGeom>
          <a:solidFill>
            <a:srgbClr val="F8FAFC"/>
          </a:solidFill>
          <a:ln w="9144">
            <a:solidFill>
              <a:srgbClr val="E2E8F0"/>
            </a:solidFill>
            <a:prstDash val="solid"/>
          </a:ln>
        </p:spPr>
      </p:sp>
      <p:sp>
        <p:nvSpPr>
          <p:cNvPr id="7" name="Text 3"/>
          <p:cNvSpPr/>
          <p:nvPr/>
        </p:nvSpPr>
        <p:spPr>
          <a:xfrm>
            <a:off x="750094" y="1543050"/>
            <a:ext cx="1869877" cy="230386"/>
          </a:xfrm>
          <a:prstGeom prst="rect">
            <a:avLst/>
          </a:prstGeom>
          <a:noFill/>
          <a:ln/>
        </p:spPr>
        <p:txBody>
          <a:bodyPr wrap="square" lIns="0" tIns="0" rIns="0" bIns="0" rtlCol="0" anchor="t">
            <a:spAutoFit/>
          </a:bodyPr>
          <a:lstStyle/>
          <a:p>
            <a:pPr algn="l" indent="0" marL="0">
              <a:buNone/>
            </a:pPr>
            <a:r>
              <a:rPr lang="en-US" sz="1250" dirty="0">
                <a:solidFill>
                  <a:srgbClr val="0A2342"/>
                </a:solidFill>
                <a:latin typeface="Montserrat Bold" pitchFamily="34" charset="0"/>
                <a:ea typeface="Montserrat Bold" pitchFamily="34" charset="-122"/>
                <a:cs typeface="Montserrat Bold" pitchFamily="34" charset="-120"/>
              </a:rPr>
              <a:t>Dataset &amp; Evaluation</a:t>
            </a:r>
            <a:endParaRPr lang="en-US" sz="1250" dirty="0"/>
          </a:p>
        </p:txBody>
      </p:sp>
      <p:sp>
        <p:nvSpPr>
          <p:cNvPr id="8" name="Text 4"/>
          <p:cNvSpPr/>
          <p:nvPr/>
        </p:nvSpPr>
        <p:spPr>
          <a:xfrm>
            <a:off x="1035844" y="1902023"/>
            <a:ext cx="3207544" cy="385763"/>
          </a:xfrm>
          <a:prstGeom prst="rect">
            <a:avLst/>
          </a:prstGeom>
          <a:noFill/>
          <a:ln/>
        </p:spPr>
        <p:txBody>
          <a:bodyPr wrap="square" lIns="212598" tIns="0" rIns="0" bIns="0" rtlCol="0" anchor="t">
            <a:spAutoFit/>
          </a:bodyPr>
          <a:lstStyle/>
          <a:p>
            <a:pPr algn="l" indent="0" marL="0">
              <a:lnSpc>
                <a:spcPct val="120000"/>
              </a:lnSpc>
              <a:buNone/>
            </a:pPr>
            <a:r>
              <a:rPr lang="en-US" sz="900" dirty="0">
                <a:solidFill>
                  <a:srgbClr val="3182CE"/>
                </a:solidFill>
                <a:latin typeface="Inter SemiBold" pitchFamily="34" charset="0"/>
                <a:ea typeface="Inter SemiBold" pitchFamily="34" charset="-122"/>
                <a:cs typeface="Inter SemiBold" pitchFamily="34" charset="-120"/>
              </a:rPr>
              <a:t>Dataset Browser</a:t>
            </a:r>
            <a:r>
              <a:rPr lang="en-US" sz="950" dirty="0">
                <a:solidFill>
                  <a:srgbClr val="2D3748"/>
                </a:solidFill>
                <a:latin typeface="Inter" pitchFamily="34" charset="0"/>
                <a:ea typeface="Inter" pitchFamily="34" charset="-122"/>
                <a:cs typeface="Inter" pitchFamily="34" charset="-120"/>
              </a:rPr>
              <a:t>: Explore golden truth questions, reasoning steps, and domain concepts.</a:t>
            </a:r>
            <a:endParaRPr lang="en-US" sz="900" dirty="0"/>
          </a:p>
        </p:txBody>
      </p:sp>
      <p:sp>
        <p:nvSpPr>
          <p:cNvPr id="9" name="Text 5"/>
          <p:cNvSpPr/>
          <p:nvPr/>
        </p:nvSpPr>
        <p:spPr>
          <a:xfrm>
            <a:off x="1035844" y="2344936"/>
            <a:ext cx="3207544" cy="385763"/>
          </a:xfrm>
          <a:prstGeom prst="rect">
            <a:avLst/>
          </a:prstGeom>
          <a:noFill/>
          <a:ln/>
        </p:spPr>
        <p:txBody>
          <a:bodyPr wrap="square" lIns="212598" tIns="0" rIns="0" bIns="0" rtlCol="0" anchor="t">
            <a:spAutoFit/>
          </a:bodyPr>
          <a:lstStyle/>
          <a:p>
            <a:pPr algn="l" indent="0" marL="0">
              <a:lnSpc>
                <a:spcPct val="120000"/>
              </a:lnSpc>
              <a:buNone/>
            </a:pPr>
            <a:r>
              <a:rPr lang="en-US" sz="900" dirty="0">
                <a:solidFill>
                  <a:srgbClr val="3182CE"/>
                </a:solidFill>
                <a:latin typeface="Inter SemiBold" pitchFamily="34" charset="0"/>
                <a:ea typeface="Inter SemiBold" pitchFamily="34" charset="-122"/>
                <a:cs typeface="Inter SemiBold" pitchFamily="34" charset="-120"/>
              </a:rPr>
              <a:t>Evaluation Control</a:t>
            </a:r>
            <a:r>
              <a:rPr lang="en-US" sz="950" dirty="0">
                <a:solidFill>
                  <a:srgbClr val="2D3748"/>
                </a:solidFill>
                <a:latin typeface="Inter" pitchFamily="34" charset="0"/>
                <a:ea typeface="Inter" pitchFamily="34" charset="-122"/>
                <a:cs typeface="Inter" pitchFamily="34" charset="-120"/>
              </a:rPr>
              <a:t>: Select models via checkboxes and adjust question counts.</a:t>
            </a:r>
            <a:endParaRPr lang="en-US" sz="900" dirty="0"/>
          </a:p>
        </p:txBody>
      </p:sp>
      <p:sp>
        <p:nvSpPr>
          <p:cNvPr id="10" name="Text 6"/>
          <p:cNvSpPr/>
          <p:nvPr/>
        </p:nvSpPr>
        <p:spPr>
          <a:xfrm>
            <a:off x="1035844" y="2787848"/>
            <a:ext cx="3207544" cy="385763"/>
          </a:xfrm>
          <a:prstGeom prst="rect">
            <a:avLst/>
          </a:prstGeom>
          <a:noFill/>
          <a:ln/>
        </p:spPr>
        <p:txBody>
          <a:bodyPr wrap="square" lIns="212598" tIns="0" rIns="0" bIns="0" rtlCol="0" anchor="t">
            <a:spAutoFit/>
          </a:bodyPr>
          <a:lstStyle/>
          <a:p>
            <a:pPr algn="l" indent="0" marL="0">
              <a:lnSpc>
                <a:spcPct val="120000"/>
              </a:lnSpc>
              <a:buNone/>
            </a:pPr>
            <a:r>
              <a:rPr lang="en-US" sz="900" dirty="0">
                <a:solidFill>
                  <a:srgbClr val="3182CE"/>
                </a:solidFill>
                <a:latin typeface="Inter SemiBold" pitchFamily="34" charset="0"/>
                <a:ea typeface="Inter SemiBold" pitchFamily="34" charset="-122"/>
                <a:cs typeface="Inter SemiBold" pitchFamily="34" charset="-120"/>
              </a:rPr>
              <a:t>Consistency Settings</a:t>
            </a:r>
            <a:r>
              <a:rPr lang="en-US" sz="950" dirty="0">
                <a:solidFill>
                  <a:srgbClr val="2D3748"/>
                </a:solidFill>
                <a:latin typeface="Inter" pitchFamily="34" charset="0"/>
                <a:ea typeface="Inter" pitchFamily="34" charset="-122"/>
                <a:cs typeface="Inter" pitchFamily="34" charset="-120"/>
              </a:rPr>
              <a:t>: Configure the number of runs per question for stability analysis.</a:t>
            </a:r>
            <a:endParaRPr lang="en-US" sz="900" dirty="0"/>
          </a:p>
        </p:txBody>
      </p:sp>
      <p:sp>
        <p:nvSpPr>
          <p:cNvPr id="11" name="Shape 7"/>
          <p:cNvSpPr/>
          <p:nvPr/>
        </p:nvSpPr>
        <p:spPr>
          <a:xfrm>
            <a:off x="4707731" y="1457325"/>
            <a:ext cx="3864769" cy="2671763"/>
          </a:xfrm>
          <a:prstGeom prst="rect">
            <a:avLst/>
          </a:prstGeom>
          <a:solidFill>
            <a:srgbClr val="F8FAFC"/>
          </a:solidFill>
          <a:ln w="9144">
            <a:solidFill>
              <a:srgbClr val="E2E8F0"/>
            </a:solidFill>
            <a:prstDash val="solid"/>
          </a:ln>
        </p:spPr>
      </p:sp>
      <p:sp>
        <p:nvSpPr>
          <p:cNvPr id="12" name="Text 8"/>
          <p:cNvSpPr/>
          <p:nvPr/>
        </p:nvSpPr>
        <p:spPr>
          <a:xfrm>
            <a:off x="1035844" y="1902023"/>
            <a:ext cx="64294" cy="192881"/>
          </a:xfrm>
          <a:prstGeom prst="rect">
            <a:avLst/>
          </a:prstGeom>
          <a:noFill/>
          <a:ln/>
        </p:spPr>
        <p:txBody>
          <a:bodyPr wrap="none" lIns="0" tIns="0" rIns="0" bIns="0" rtlCol="0" anchor="t">
            <a:spAutoFit/>
          </a:bodyPr>
          <a:lstStyle/>
          <a:p>
            <a:pPr algn="l" indent="0" marL="0">
              <a:lnSpc>
                <a:spcPct val="120000"/>
              </a:lnSpc>
              <a:buNone/>
            </a:pPr>
            <a:r>
              <a:rPr lang="en-US" sz="900" b="1" dirty="0">
                <a:solidFill>
                  <a:srgbClr val="3182CE"/>
                </a:solidFill>
                <a:latin typeface="Inter SemiBold" pitchFamily="34" charset="0"/>
                <a:ea typeface="Inter SemiBold" pitchFamily="34" charset="-122"/>
                <a:cs typeface="Inter SemiBold" pitchFamily="34" charset="-120"/>
              </a:rPr>
              <a:t>•</a:t>
            </a:r>
            <a:endParaRPr lang="en-US" sz="900" dirty="0"/>
          </a:p>
        </p:txBody>
      </p:sp>
      <p:sp>
        <p:nvSpPr>
          <p:cNvPr id="13" name="Text 9"/>
          <p:cNvSpPr/>
          <p:nvPr/>
        </p:nvSpPr>
        <p:spPr>
          <a:xfrm>
            <a:off x="1035844" y="2344936"/>
            <a:ext cx="64294" cy="192881"/>
          </a:xfrm>
          <a:prstGeom prst="rect">
            <a:avLst/>
          </a:prstGeom>
          <a:noFill/>
          <a:ln/>
        </p:spPr>
        <p:txBody>
          <a:bodyPr wrap="none" lIns="0" tIns="0" rIns="0" bIns="0" rtlCol="0" anchor="t">
            <a:spAutoFit/>
          </a:bodyPr>
          <a:lstStyle/>
          <a:p>
            <a:pPr algn="l" indent="0" marL="0">
              <a:lnSpc>
                <a:spcPct val="120000"/>
              </a:lnSpc>
              <a:buNone/>
            </a:pPr>
            <a:r>
              <a:rPr lang="en-US" sz="900" b="1" dirty="0">
                <a:solidFill>
                  <a:srgbClr val="3182CE"/>
                </a:solidFill>
                <a:latin typeface="Inter SemiBold" pitchFamily="34" charset="0"/>
                <a:ea typeface="Inter SemiBold" pitchFamily="34" charset="-122"/>
                <a:cs typeface="Inter SemiBold" pitchFamily="34" charset="-120"/>
              </a:rPr>
              <a:t>•</a:t>
            </a:r>
            <a:endParaRPr lang="en-US" sz="900" dirty="0"/>
          </a:p>
        </p:txBody>
      </p:sp>
      <p:sp>
        <p:nvSpPr>
          <p:cNvPr id="14" name="Text 10"/>
          <p:cNvSpPr/>
          <p:nvPr/>
        </p:nvSpPr>
        <p:spPr>
          <a:xfrm>
            <a:off x="1035844" y="2787848"/>
            <a:ext cx="64294" cy="192881"/>
          </a:xfrm>
          <a:prstGeom prst="rect">
            <a:avLst/>
          </a:prstGeom>
          <a:noFill/>
          <a:ln/>
        </p:spPr>
        <p:txBody>
          <a:bodyPr wrap="none" lIns="0" tIns="0" rIns="0" bIns="0" rtlCol="0" anchor="t">
            <a:spAutoFit/>
          </a:bodyPr>
          <a:lstStyle/>
          <a:p>
            <a:pPr algn="l" indent="0" marL="0">
              <a:lnSpc>
                <a:spcPct val="120000"/>
              </a:lnSpc>
              <a:buNone/>
            </a:pPr>
            <a:r>
              <a:rPr lang="en-US" sz="900" b="1" dirty="0">
                <a:solidFill>
                  <a:srgbClr val="3182CE"/>
                </a:solidFill>
                <a:latin typeface="Inter SemiBold" pitchFamily="34" charset="0"/>
                <a:ea typeface="Inter SemiBold" pitchFamily="34" charset="-122"/>
                <a:cs typeface="Inter SemiBold" pitchFamily="34" charset="-120"/>
              </a:rPr>
              <a:t>•</a:t>
            </a:r>
            <a:endParaRPr lang="en-US" sz="900" dirty="0"/>
          </a:p>
        </p:txBody>
      </p:sp>
      <p:sp>
        <p:nvSpPr>
          <p:cNvPr id="15" name="Text 11"/>
          <p:cNvSpPr/>
          <p:nvPr/>
        </p:nvSpPr>
        <p:spPr>
          <a:xfrm>
            <a:off x="4893469" y="1543050"/>
            <a:ext cx="1603772" cy="230386"/>
          </a:xfrm>
          <a:prstGeom prst="rect">
            <a:avLst/>
          </a:prstGeom>
          <a:noFill/>
          <a:ln/>
        </p:spPr>
        <p:txBody>
          <a:bodyPr wrap="square" lIns="0" tIns="0" rIns="0" bIns="0" rtlCol="0" anchor="t">
            <a:spAutoFit/>
          </a:bodyPr>
          <a:lstStyle/>
          <a:p>
            <a:pPr algn="l" indent="0" marL="0">
              <a:buNone/>
            </a:pPr>
            <a:r>
              <a:rPr lang="en-US" sz="1250" dirty="0">
                <a:solidFill>
                  <a:srgbClr val="0A2342"/>
                </a:solidFill>
                <a:latin typeface="Montserrat Bold" pitchFamily="34" charset="0"/>
                <a:ea typeface="Montserrat Bold" pitchFamily="34" charset="-122"/>
                <a:cs typeface="Montserrat Bold" pitchFamily="34" charset="-120"/>
              </a:rPr>
              <a:t>Results &amp; Insights</a:t>
            </a:r>
            <a:endParaRPr lang="en-US" sz="1250" dirty="0"/>
          </a:p>
        </p:txBody>
      </p:sp>
      <p:sp>
        <p:nvSpPr>
          <p:cNvPr id="16" name="Text 12"/>
          <p:cNvSpPr/>
          <p:nvPr/>
        </p:nvSpPr>
        <p:spPr>
          <a:xfrm>
            <a:off x="5179219" y="1902023"/>
            <a:ext cx="3214688" cy="385763"/>
          </a:xfrm>
          <a:prstGeom prst="rect">
            <a:avLst/>
          </a:prstGeom>
          <a:noFill/>
          <a:ln/>
        </p:spPr>
        <p:txBody>
          <a:bodyPr wrap="square" lIns="212598" tIns="0" rIns="0" bIns="0" rtlCol="0" anchor="t">
            <a:spAutoFit/>
          </a:bodyPr>
          <a:lstStyle/>
          <a:p>
            <a:pPr algn="l" indent="0" marL="0">
              <a:lnSpc>
                <a:spcPct val="120000"/>
              </a:lnSpc>
              <a:buNone/>
            </a:pPr>
            <a:r>
              <a:rPr lang="en-US" sz="900" dirty="0">
                <a:solidFill>
                  <a:srgbClr val="3182CE"/>
                </a:solidFill>
                <a:latin typeface="Inter SemiBold" pitchFamily="34" charset="0"/>
                <a:ea typeface="Inter SemiBold" pitchFamily="34" charset="-122"/>
                <a:cs typeface="Inter SemiBold" pitchFamily="34" charset="-120"/>
              </a:rPr>
              <a:t>Real-Time Progress</a:t>
            </a:r>
            <a:r>
              <a:rPr lang="en-US" sz="950" dirty="0">
                <a:solidFill>
                  <a:srgbClr val="2D3748"/>
                </a:solidFill>
                <a:latin typeface="Inter" pitchFamily="34" charset="0"/>
                <a:ea typeface="Inter" pitchFamily="34" charset="-122"/>
                <a:cs typeface="Inter" pitchFamily="34" charset="-120"/>
              </a:rPr>
              <a:t>: Track the evaluation process with live status updates.</a:t>
            </a:r>
            <a:endParaRPr lang="en-US" sz="900" dirty="0"/>
          </a:p>
        </p:txBody>
      </p:sp>
      <p:sp>
        <p:nvSpPr>
          <p:cNvPr id="17" name="Text 13"/>
          <p:cNvSpPr/>
          <p:nvPr/>
        </p:nvSpPr>
        <p:spPr>
          <a:xfrm>
            <a:off x="5179219" y="2344936"/>
            <a:ext cx="3214688" cy="385763"/>
          </a:xfrm>
          <a:prstGeom prst="rect">
            <a:avLst/>
          </a:prstGeom>
          <a:noFill/>
          <a:ln/>
        </p:spPr>
        <p:txBody>
          <a:bodyPr wrap="square" lIns="212598" tIns="0" rIns="0" bIns="0" rtlCol="0" anchor="t">
            <a:spAutoFit/>
          </a:bodyPr>
          <a:lstStyle/>
          <a:p>
            <a:pPr algn="l" indent="0" marL="0">
              <a:lnSpc>
                <a:spcPct val="120000"/>
              </a:lnSpc>
              <a:buNone/>
            </a:pPr>
            <a:r>
              <a:rPr lang="en-US" sz="900" dirty="0">
                <a:solidFill>
                  <a:srgbClr val="3182CE"/>
                </a:solidFill>
                <a:latin typeface="Inter SemiBold" pitchFamily="34" charset="0"/>
                <a:ea typeface="Inter SemiBold" pitchFamily="34" charset="-122"/>
                <a:cs typeface="Inter SemiBold" pitchFamily="34" charset="-120"/>
              </a:rPr>
              <a:t>Leaderboard</a:t>
            </a:r>
            <a:r>
              <a:rPr lang="en-US" sz="950" dirty="0">
                <a:solidFill>
                  <a:srgbClr val="2D3748"/>
                </a:solidFill>
                <a:latin typeface="Inter" pitchFamily="34" charset="0"/>
                <a:ea typeface="Inter" pitchFamily="34" charset="-122"/>
                <a:cs typeface="Inter" pitchFamily="34" charset="-120"/>
              </a:rPr>
              <a:t>: Models ranked by composite FPS with transparent sub-metric visibility.</a:t>
            </a:r>
            <a:endParaRPr lang="en-US" sz="900" dirty="0"/>
          </a:p>
        </p:txBody>
      </p:sp>
      <p:sp>
        <p:nvSpPr>
          <p:cNvPr id="18" name="Text 14"/>
          <p:cNvSpPr/>
          <p:nvPr/>
        </p:nvSpPr>
        <p:spPr>
          <a:xfrm>
            <a:off x="5179219" y="2787848"/>
            <a:ext cx="3214688" cy="385763"/>
          </a:xfrm>
          <a:prstGeom prst="rect">
            <a:avLst/>
          </a:prstGeom>
          <a:noFill/>
          <a:ln/>
        </p:spPr>
        <p:txBody>
          <a:bodyPr wrap="square" lIns="212598" tIns="0" rIns="0" bIns="0" rtlCol="0" anchor="t">
            <a:spAutoFit/>
          </a:bodyPr>
          <a:lstStyle/>
          <a:p>
            <a:pPr algn="l" indent="0" marL="0">
              <a:lnSpc>
                <a:spcPct val="120000"/>
              </a:lnSpc>
              <a:buNone/>
            </a:pPr>
            <a:r>
              <a:rPr lang="en-US" sz="900" dirty="0">
                <a:solidFill>
                  <a:srgbClr val="3182CE"/>
                </a:solidFill>
                <a:latin typeface="Inter SemiBold" pitchFamily="34" charset="0"/>
                <a:ea typeface="Inter SemiBold" pitchFamily="34" charset="-122"/>
                <a:cs typeface="Inter SemiBold" pitchFamily="34" charset="-120"/>
              </a:rPr>
              <a:t>Drill-Down</a:t>
            </a:r>
            <a:r>
              <a:rPr lang="en-US" sz="950" dirty="0">
                <a:solidFill>
                  <a:srgbClr val="2D3748"/>
                </a:solidFill>
                <a:latin typeface="Inter" pitchFamily="34" charset="0"/>
                <a:ea typeface="Inter" pitchFamily="34" charset="-122"/>
                <a:cs typeface="Inter" pitchFamily="34" charset="-120"/>
              </a:rPr>
              <a:t>: Per-question analysis comparing model reasoning against references.</a:t>
            </a:r>
            <a:endParaRPr lang="en-US" sz="900" dirty="0"/>
          </a:p>
        </p:txBody>
      </p:sp>
      <p:sp>
        <p:nvSpPr>
          <p:cNvPr id="19" name="Text 15"/>
          <p:cNvSpPr/>
          <p:nvPr/>
        </p:nvSpPr>
        <p:spPr>
          <a:xfrm>
            <a:off x="5179219" y="1902023"/>
            <a:ext cx="64294" cy="192881"/>
          </a:xfrm>
          <a:prstGeom prst="rect">
            <a:avLst/>
          </a:prstGeom>
          <a:noFill/>
          <a:ln/>
        </p:spPr>
        <p:txBody>
          <a:bodyPr wrap="none" lIns="0" tIns="0" rIns="0" bIns="0" rtlCol="0" anchor="t">
            <a:spAutoFit/>
          </a:bodyPr>
          <a:lstStyle/>
          <a:p>
            <a:pPr algn="l" indent="0" marL="0">
              <a:lnSpc>
                <a:spcPct val="120000"/>
              </a:lnSpc>
              <a:buNone/>
            </a:pPr>
            <a:r>
              <a:rPr lang="en-US" sz="900" b="1" dirty="0">
                <a:solidFill>
                  <a:srgbClr val="3182CE"/>
                </a:solidFill>
                <a:latin typeface="Inter SemiBold" pitchFamily="34" charset="0"/>
                <a:ea typeface="Inter SemiBold" pitchFamily="34" charset="-122"/>
                <a:cs typeface="Inter SemiBold" pitchFamily="34" charset="-120"/>
              </a:rPr>
              <a:t>•</a:t>
            </a:r>
            <a:endParaRPr lang="en-US" sz="900" dirty="0"/>
          </a:p>
        </p:txBody>
      </p:sp>
      <p:sp>
        <p:nvSpPr>
          <p:cNvPr id="20" name="Text 16"/>
          <p:cNvSpPr/>
          <p:nvPr/>
        </p:nvSpPr>
        <p:spPr>
          <a:xfrm>
            <a:off x="5179219" y="2344936"/>
            <a:ext cx="64294" cy="192881"/>
          </a:xfrm>
          <a:prstGeom prst="rect">
            <a:avLst/>
          </a:prstGeom>
          <a:noFill/>
          <a:ln/>
        </p:spPr>
        <p:txBody>
          <a:bodyPr wrap="none" lIns="0" tIns="0" rIns="0" bIns="0" rtlCol="0" anchor="t">
            <a:spAutoFit/>
          </a:bodyPr>
          <a:lstStyle/>
          <a:p>
            <a:pPr algn="l" indent="0" marL="0">
              <a:lnSpc>
                <a:spcPct val="120000"/>
              </a:lnSpc>
              <a:buNone/>
            </a:pPr>
            <a:r>
              <a:rPr lang="en-US" sz="900" b="1" dirty="0">
                <a:solidFill>
                  <a:srgbClr val="3182CE"/>
                </a:solidFill>
                <a:latin typeface="Inter SemiBold" pitchFamily="34" charset="0"/>
                <a:ea typeface="Inter SemiBold" pitchFamily="34" charset="-122"/>
                <a:cs typeface="Inter SemiBold" pitchFamily="34" charset="-120"/>
              </a:rPr>
              <a:t>•</a:t>
            </a:r>
            <a:endParaRPr lang="en-US" sz="900" dirty="0"/>
          </a:p>
        </p:txBody>
      </p:sp>
      <p:sp>
        <p:nvSpPr>
          <p:cNvPr id="21" name="Text 17"/>
          <p:cNvSpPr/>
          <p:nvPr/>
        </p:nvSpPr>
        <p:spPr>
          <a:xfrm>
            <a:off x="5179219" y="2787848"/>
            <a:ext cx="64294" cy="192881"/>
          </a:xfrm>
          <a:prstGeom prst="rect">
            <a:avLst/>
          </a:prstGeom>
          <a:noFill/>
          <a:ln/>
        </p:spPr>
        <p:txBody>
          <a:bodyPr wrap="none" lIns="0" tIns="0" rIns="0" bIns="0" rtlCol="0" anchor="t">
            <a:spAutoFit/>
          </a:bodyPr>
          <a:lstStyle/>
          <a:p>
            <a:pPr algn="l" indent="0" marL="0">
              <a:lnSpc>
                <a:spcPct val="120000"/>
              </a:lnSpc>
              <a:buNone/>
            </a:pPr>
            <a:r>
              <a:rPr lang="en-US" sz="900" b="1" dirty="0">
                <a:solidFill>
                  <a:srgbClr val="3182CE"/>
                </a:solidFill>
                <a:latin typeface="Inter SemiBold" pitchFamily="34" charset="0"/>
                <a:ea typeface="Inter SemiBold" pitchFamily="34" charset="-122"/>
                <a:cs typeface="Inter SemiBold" pitchFamily="34" charset="-120"/>
              </a:rPr>
              <a:t>•</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000625"/>
          </a:xfrm>
          <a:prstGeom prst="rect">
            <a:avLst/>
          </a:prstGeom>
        </p:spPr>
      </p:pic>
      <p:sp>
        <p:nvSpPr>
          <p:cNvPr id="4" name="Shape 0"/>
          <p:cNvSpPr/>
          <p:nvPr/>
        </p:nvSpPr>
        <p:spPr>
          <a:xfrm>
            <a:off x="0" y="0"/>
            <a:ext cx="9144000" cy="1143000"/>
          </a:xfrm>
          <a:prstGeom prst="rect">
            <a:avLst/>
          </a:prstGeom>
          <a:solidFill>
            <a:srgbClr val="0A2342"/>
          </a:solidFill>
          <a:ln/>
        </p:spPr>
      </p:sp>
      <p:sp>
        <p:nvSpPr>
          <p:cNvPr id="5" name="Text 1"/>
          <p:cNvSpPr/>
          <p:nvPr/>
        </p:nvSpPr>
        <p:spPr>
          <a:xfrm>
            <a:off x="571500" y="505420"/>
            <a:ext cx="8001000" cy="417909"/>
          </a:xfrm>
          <a:prstGeom prst="rect">
            <a:avLst/>
          </a:prstGeom>
          <a:noFill/>
          <a:ln/>
        </p:spPr>
        <p:txBody>
          <a:bodyPr wrap="square" lIns="0" tIns="0" rIns="0" bIns="0" rtlCol="0" anchor="t">
            <a:spAutoFit/>
          </a:bodyPr>
          <a:lstStyle/>
          <a:p>
            <a:pPr algn="l" indent="0" marL="0">
              <a:buNone/>
            </a:pPr>
            <a:r>
              <a:rPr lang="en-US" sz="2450" b="1" dirty="0">
                <a:solidFill>
                  <a:srgbClr val="FFFFFF"/>
                </a:solidFill>
                <a:latin typeface="Montserrat Bold" pitchFamily="34" charset="0"/>
                <a:ea typeface="Montserrat Bold" pitchFamily="34" charset="-122"/>
                <a:cs typeface="Montserrat Bold" pitchFamily="34" charset="-120"/>
              </a:rPr>
              <a:t>Visualizing Model Performances</a:t>
            </a:r>
            <a:endParaRPr lang="en-US" sz="2450" dirty="0"/>
          </a:p>
        </p:txBody>
      </p:sp>
      <p:sp>
        <p:nvSpPr>
          <p:cNvPr id="6" name="Text 2"/>
          <p:cNvSpPr/>
          <p:nvPr/>
        </p:nvSpPr>
        <p:spPr>
          <a:xfrm>
            <a:off x="0" y="1143000"/>
            <a:ext cx="9144000" cy="142875"/>
          </a:xfrm>
          <a:prstGeom prst="rect">
            <a:avLst/>
          </a:prstGeom>
          <a:noFill/>
          <a:ln/>
        </p:spPr>
        <p:txBody>
          <a:bodyPr wrap="square" lIns="510286" tIns="170053" rIns="510286" bIns="0" rtlCol="0" anchor="t">
            <a:spAutoFit/>
          </a:bodyPr>
          <a:lstStyle/>
          <a:p>
            <a:pPr algn="l" indent="0" marL="0">
              <a:buNone/>
            </a:pP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9144000" cy="1071563"/>
          </a:xfrm>
          <a:prstGeom prst="rect">
            <a:avLst/>
          </a:prstGeom>
          <a:solidFill>
            <a:srgbClr val="0A2342"/>
          </a:solidFill>
          <a:ln/>
        </p:spPr>
      </p:sp>
      <p:sp>
        <p:nvSpPr>
          <p:cNvPr id="5" name="Text 1"/>
          <p:cNvSpPr/>
          <p:nvPr/>
        </p:nvSpPr>
        <p:spPr>
          <a:xfrm>
            <a:off x="571500" y="469702"/>
            <a:ext cx="8001000" cy="417909"/>
          </a:xfrm>
          <a:prstGeom prst="rect">
            <a:avLst/>
          </a:prstGeom>
          <a:noFill/>
          <a:ln/>
        </p:spPr>
        <p:txBody>
          <a:bodyPr wrap="square" lIns="0" tIns="0" rIns="0" bIns="0" rtlCol="0" anchor="t">
            <a:spAutoFit/>
          </a:bodyPr>
          <a:lstStyle/>
          <a:p>
            <a:pPr algn="l" indent="0" marL="0">
              <a:buNone/>
            </a:pPr>
            <a:r>
              <a:rPr lang="en-US" sz="2450" b="1" dirty="0">
                <a:solidFill>
                  <a:srgbClr val="FFFFFF"/>
                </a:solidFill>
                <a:latin typeface="Montserrat Bold" pitchFamily="34" charset="0"/>
                <a:ea typeface="Montserrat Bold" pitchFamily="34" charset="-122"/>
                <a:cs typeface="Montserrat Bold" pitchFamily="34" charset="-120"/>
              </a:rPr>
              <a:t>Deep-Dive: Reasoning Comparison Tool</a:t>
            </a:r>
            <a:endParaRPr lang="en-US" sz="2450" dirty="0"/>
          </a:p>
        </p:txBody>
      </p:sp>
      <p:sp>
        <p:nvSpPr>
          <p:cNvPr id="6" name="Shape 2"/>
          <p:cNvSpPr/>
          <p:nvPr/>
        </p:nvSpPr>
        <p:spPr>
          <a:xfrm>
            <a:off x="428625" y="1157288"/>
            <a:ext cx="8286750" cy="335756"/>
          </a:xfrm>
          <a:prstGeom prst="rect">
            <a:avLst/>
          </a:prstGeom>
          <a:solidFill>
            <a:srgbClr val="F8FAFC"/>
          </a:solidFill>
          <a:ln w="9144">
            <a:solidFill>
              <a:srgbClr val="E2E8F0"/>
            </a:solidFill>
            <a:prstDash val="solid"/>
          </a:ln>
        </p:spPr>
      </p:sp>
      <p:sp>
        <p:nvSpPr>
          <p:cNvPr id="7" name="Text 3"/>
          <p:cNvSpPr/>
          <p:nvPr/>
        </p:nvSpPr>
        <p:spPr>
          <a:xfrm>
            <a:off x="571500" y="1249263"/>
            <a:ext cx="3646884" cy="137517"/>
          </a:xfrm>
          <a:prstGeom prst="rect">
            <a:avLst/>
          </a:prstGeom>
          <a:noFill/>
          <a:ln/>
        </p:spPr>
        <p:txBody>
          <a:bodyPr wrap="square" lIns="0" tIns="0" rIns="0" bIns="0" rtlCol="0" anchor="t">
            <a:spAutoFit/>
          </a:bodyPr>
          <a:lstStyle/>
          <a:p>
            <a:pPr algn="l" indent="0" marL="0">
              <a:buNone/>
            </a:pPr>
            <a:r>
              <a:rPr lang="en-US" sz="800" dirty="0">
                <a:solidFill>
                  <a:srgbClr val="0A2342"/>
                </a:solidFill>
                <a:latin typeface="Inter SemiBold" pitchFamily="34" charset="0"/>
                <a:ea typeface="Inter SemiBold" pitchFamily="34" charset="-122"/>
                <a:cs typeface="Inter SemiBold" pitchFamily="34" charset="-120"/>
              </a:rPr>
              <a:t>Question ID: #42 — "Calculate the efficiency of the heat engine..."</a:t>
            </a:r>
            <a:endParaRPr lang="en-US" sz="800" dirty="0"/>
          </a:p>
        </p:txBody>
      </p:sp>
      <p:sp>
        <p:nvSpPr>
          <p:cNvPr id="8" name="Shape 4"/>
          <p:cNvSpPr/>
          <p:nvPr/>
        </p:nvSpPr>
        <p:spPr>
          <a:xfrm>
            <a:off x="6883003" y="1228725"/>
            <a:ext cx="1689497" cy="178594"/>
          </a:xfrm>
          <a:prstGeom prst="rect">
            <a:avLst/>
          </a:prstGeom>
          <a:solidFill>
            <a:srgbClr val="C6F6D5"/>
          </a:solidFill>
          <a:ln/>
        </p:spPr>
      </p:sp>
      <p:sp>
        <p:nvSpPr>
          <p:cNvPr id="9" name="Text 5"/>
          <p:cNvSpPr/>
          <p:nvPr/>
        </p:nvSpPr>
        <p:spPr>
          <a:xfrm>
            <a:off x="6883003" y="1228725"/>
            <a:ext cx="1689497" cy="178594"/>
          </a:xfrm>
          <a:prstGeom prst="rect">
            <a:avLst/>
          </a:prstGeom>
          <a:noFill/>
          <a:ln/>
        </p:spPr>
        <p:txBody>
          <a:bodyPr wrap="square" lIns="102108" tIns="34036" rIns="102108" bIns="34036" rtlCol="0" anchor="t">
            <a:spAutoFit/>
          </a:bodyPr>
          <a:lstStyle/>
          <a:p>
            <a:pPr algn="l" indent="0" marL="0">
              <a:buNone/>
            </a:pPr>
            <a:r>
              <a:rPr lang="en-US" sz="700" b="1" dirty="0">
                <a:solidFill>
                  <a:srgbClr val="22543D"/>
                </a:solidFill>
                <a:latin typeface="Inter SemiBold" pitchFamily="34" charset="0"/>
                <a:ea typeface="Inter SemiBold" pitchFamily="34" charset="-122"/>
                <a:cs typeface="Inter SemiBold" pitchFamily="34" charset="-120"/>
              </a:rPr>
              <a:t>ANSWER AGREEMENT: MATCH</a:t>
            </a:r>
            <a:endParaRPr lang="en-US" sz="700" dirty="0"/>
          </a:p>
        </p:txBody>
      </p:sp>
      <p:sp>
        <p:nvSpPr>
          <p:cNvPr id="10" name="Shape 6"/>
          <p:cNvSpPr/>
          <p:nvPr/>
        </p:nvSpPr>
        <p:spPr>
          <a:xfrm>
            <a:off x="428625" y="1564481"/>
            <a:ext cx="4093369" cy="2043113"/>
          </a:xfrm>
          <a:prstGeom prst="rect">
            <a:avLst/>
          </a:prstGeom>
          <a:solidFill>
            <a:srgbClr val="FFFFFF"/>
          </a:solidFill>
          <a:ln w="9144">
            <a:solidFill>
              <a:srgbClr val="E2E8F0"/>
            </a:solidFill>
            <a:prstDash val="solid"/>
          </a:ln>
        </p:spPr>
      </p:sp>
      <p:sp>
        <p:nvSpPr>
          <p:cNvPr id="11" name="Text 7"/>
          <p:cNvSpPr/>
          <p:nvPr/>
        </p:nvSpPr>
        <p:spPr>
          <a:xfrm>
            <a:off x="528638" y="1650206"/>
            <a:ext cx="3886200" cy="157163"/>
          </a:xfrm>
          <a:prstGeom prst="rect">
            <a:avLst/>
          </a:prstGeom>
          <a:noFill/>
          <a:ln/>
        </p:spPr>
        <p:txBody>
          <a:bodyPr wrap="square" lIns="0" tIns="0" rIns="0" bIns="0" rtlCol="0" anchor="t">
            <a:spAutoFit/>
          </a:bodyPr>
          <a:lstStyle/>
          <a:p>
            <a:pPr algn="l" indent="0" marL="0">
              <a:buNone/>
            </a:pPr>
            <a:r>
              <a:rPr lang="en-US" sz="900" b="1" dirty="0">
                <a:solidFill>
                  <a:srgbClr val="3182CE"/>
                </a:solidFill>
                <a:latin typeface="Montserrat Bold" pitchFamily="34" charset="0"/>
                <a:ea typeface="Montserrat Bold" pitchFamily="34" charset="-122"/>
                <a:cs typeface="Montserrat Bold" pitchFamily="34" charset="-120"/>
              </a:rPr>
              <a:t>Model A (GPT-4o)</a:t>
            </a:r>
            <a:endParaRPr lang="en-US" sz="900" dirty="0"/>
          </a:p>
        </p:txBody>
      </p:sp>
      <p:sp>
        <p:nvSpPr>
          <p:cNvPr id="12" name="Text 8"/>
          <p:cNvSpPr/>
          <p:nvPr/>
        </p:nvSpPr>
        <p:spPr>
          <a:xfrm>
            <a:off x="528638" y="1878806"/>
            <a:ext cx="3886200" cy="640035"/>
          </a:xfrm>
          <a:prstGeom prst="rect">
            <a:avLst/>
          </a:prstGeom>
          <a:noFill/>
          <a:ln/>
        </p:spPr>
        <p:txBody>
          <a:bodyPr wrap="square" lIns="0" tIns="0" rIns="0" bIns="0" rtlCol="0" anchor="t">
            <a:spAutoFit/>
          </a:bodyPr>
          <a:lstStyle/>
          <a:p>
            <a:pPr algn="l" indent="0" marL="0">
              <a:lnSpc>
                <a:spcPct val="128000"/>
              </a:lnSpc>
              <a:buNone/>
            </a:pPr>
            <a:r>
              <a:rPr lang="en-US" sz="750" dirty="0">
                <a:solidFill>
                  <a:srgbClr val="4A5568"/>
                </a:solidFill>
                <a:latin typeface="Fira Code" pitchFamily="34" charset="0"/>
                <a:ea typeface="Fira Code" pitchFamily="34" charset="-122"/>
                <a:cs typeface="Fira Code" pitchFamily="34" charset="-120"/>
              </a:rPr>
              <a:t>1. Identify T_high = 500K, T_low = 300K.</a:t>
            </a:r>
            <a:r>
              <a:rPr lang="en-US" sz="750" dirty="0">
                <a:solidFill>
                  <a:srgbClr val="4A5568"/>
                </a:solidFill>
                <a:latin typeface="Fira Code" pitchFamily="34" charset="0"/>
                <a:ea typeface="Fira Code" pitchFamily="34" charset="-122"/>
                <a:cs typeface="Fira Code" pitchFamily="34" charset="-120"/>
              </a:rPr>
              <a:t>
</a:t>
            </a:r>
            <a:r>
              <a:rPr lang="en-US" sz="750" dirty="0">
                <a:solidFill>
                  <a:srgbClr val="4A5568"/>
                </a:solidFill>
                <a:latin typeface="Fira Code" pitchFamily="34" charset="0"/>
                <a:ea typeface="Fira Code" pitchFamily="34" charset="-122"/>
                <a:cs typeface="Fira Code" pitchFamily="34" charset="-120"/>
              </a:rPr>
              <a:t>2. Use Carnot efficiency formula: η = 1 - (T_low / T_high).</a:t>
            </a:r>
            <a:r>
              <a:rPr lang="en-US" sz="750" dirty="0">
                <a:solidFill>
                  <a:srgbClr val="4A5568"/>
                </a:solidFill>
                <a:latin typeface="Fira Code" pitchFamily="34" charset="0"/>
                <a:ea typeface="Fira Code" pitchFamily="34" charset="-122"/>
                <a:cs typeface="Fira Code" pitchFamily="34" charset="-120"/>
              </a:rPr>
              <a:t>
</a:t>
            </a:r>
            <a:r>
              <a:rPr lang="en-US" sz="750" dirty="0">
                <a:solidFill>
                  <a:srgbClr val="4A5568"/>
                </a:solidFill>
                <a:latin typeface="Fira Code" pitchFamily="34" charset="0"/>
                <a:ea typeface="Fira Code" pitchFamily="34" charset="-122"/>
                <a:cs typeface="Fira Code" pitchFamily="34" charset="-120"/>
              </a:rPr>
              <a:t>3. Substitute values: η = 1 - (300 / 500) = 0.4.</a:t>
            </a:r>
            <a:r>
              <a:rPr lang="en-US" sz="750" dirty="0">
                <a:solidFill>
                  <a:srgbClr val="4A5568"/>
                </a:solidFill>
                <a:latin typeface="Fira Code" pitchFamily="34" charset="0"/>
                <a:ea typeface="Fira Code" pitchFamily="34" charset="-122"/>
                <a:cs typeface="Fira Code" pitchFamily="34" charset="-120"/>
              </a:rPr>
              <a:t>
</a:t>
            </a:r>
            <a:r>
              <a:rPr lang="en-US" sz="750" dirty="0">
                <a:solidFill>
                  <a:srgbClr val="4A5568"/>
                </a:solidFill>
                <a:latin typeface="Fira Code" pitchFamily="34" charset="0"/>
                <a:ea typeface="Fira Code" pitchFamily="34" charset="-122"/>
                <a:cs typeface="Fira Code" pitchFamily="34" charset="-120"/>
              </a:rPr>
              <a:t>4. Final Answer: 40%.</a:t>
            </a:r>
            <a:endParaRPr lang="en-US" sz="750" dirty="0"/>
          </a:p>
        </p:txBody>
      </p:sp>
      <p:sp>
        <p:nvSpPr>
          <p:cNvPr id="13" name="Shape 9"/>
          <p:cNvSpPr/>
          <p:nvPr/>
        </p:nvSpPr>
        <p:spPr>
          <a:xfrm>
            <a:off x="4614863" y="1564481"/>
            <a:ext cx="4100513" cy="2043113"/>
          </a:xfrm>
          <a:prstGeom prst="rect">
            <a:avLst/>
          </a:prstGeom>
          <a:solidFill>
            <a:srgbClr val="FFFFFF"/>
          </a:solidFill>
          <a:ln w="9144">
            <a:solidFill>
              <a:srgbClr val="E2E8F0"/>
            </a:solidFill>
            <a:prstDash val="solid"/>
          </a:ln>
        </p:spPr>
      </p:sp>
      <p:sp>
        <p:nvSpPr>
          <p:cNvPr id="14" name="Text 10"/>
          <p:cNvSpPr/>
          <p:nvPr/>
        </p:nvSpPr>
        <p:spPr>
          <a:xfrm>
            <a:off x="4722019" y="1650206"/>
            <a:ext cx="3893344" cy="157163"/>
          </a:xfrm>
          <a:prstGeom prst="rect">
            <a:avLst/>
          </a:prstGeom>
          <a:noFill/>
          <a:ln/>
        </p:spPr>
        <p:txBody>
          <a:bodyPr wrap="square" lIns="0" tIns="0" rIns="0" bIns="0" rtlCol="0" anchor="t">
            <a:spAutoFit/>
          </a:bodyPr>
          <a:lstStyle/>
          <a:p>
            <a:pPr algn="l" indent="0" marL="0">
              <a:buNone/>
            </a:pPr>
            <a:r>
              <a:rPr lang="en-US" sz="900" b="1" dirty="0">
                <a:solidFill>
                  <a:srgbClr val="3182CE"/>
                </a:solidFill>
                <a:latin typeface="Montserrat Bold" pitchFamily="34" charset="0"/>
                <a:ea typeface="Montserrat Bold" pitchFamily="34" charset="-122"/>
                <a:cs typeface="Montserrat Bold" pitchFamily="34" charset="-120"/>
              </a:rPr>
              <a:t>Model B (Llama 3.2)</a:t>
            </a:r>
            <a:endParaRPr lang="en-US" sz="900" dirty="0"/>
          </a:p>
        </p:txBody>
      </p:sp>
      <p:sp>
        <p:nvSpPr>
          <p:cNvPr id="15" name="Text 11"/>
          <p:cNvSpPr/>
          <p:nvPr/>
        </p:nvSpPr>
        <p:spPr>
          <a:xfrm>
            <a:off x="4722019" y="1878806"/>
            <a:ext cx="3893344" cy="800044"/>
          </a:xfrm>
          <a:prstGeom prst="rect">
            <a:avLst/>
          </a:prstGeom>
          <a:noFill/>
          <a:ln/>
        </p:spPr>
        <p:txBody>
          <a:bodyPr wrap="square" lIns="0" tIns="0" rIns="0" bIns="0" rtlCol="0" anchor="t">
            <a:spAutoFit/>
          </a:bodyPr>
          <a:lstStyle/>
          <a:p>
            <a:pPr algn="l" indent="0" marL="0">
              <a:lnSpc>
                <a:spcPct val="128000"/>
              </a:lnSpc>
              <a:buNone/>
            </a:pPr>
            <a:r>
              <a:rPr lang="en-US" sz="750" dirty="0">
                <a:solidFill>
                  <a:srgbClr val="4A5568"/>
                </a:solidFill>
                <a:latin typeface="Fira Code" pitchFamily="34" charset="0"/>
                <a:ea typeface="Fira Code" pitchFamily="34" charset="-122"/>
                <a:cs typeface="Fira Code" pitchFamily="34" charset="-120"/>
              </a:rPr>
              <a:t>1. Work done W = Q_h - Q_c.</a:t>
            </a:r>
            <a:r>
              <a:rPr lang="en-US" sz="750" dirty="0">
                <a:solidFill>
                  <a:srgbClr val="4A5568"/>
                </a:solidFill>
                <a:latin typeface="Fira Code" pitchFamily="34" charset="0"/>
                <a:ea typeface="Fira Code" pitchFamily="34" charset="-122"/>
                <a:cs typeface="Fira Code" pitchFamily="34" charset="-120"/>
              </a:rPr>
              <a:t>
</a:t>
            </a:r>
            <a:r>
              <a:rPr lang="en-US" sz="750" dirty="0">
                <a:solidFill>
                  <a:srgbClr val="4A5568"/>
                </a:solidFill>
                <a:latin typeface="Fira Code" pitchFamily="34" charset="0"/>
                <a:ea typeface="Fira Code" pitchFamily="34" charset="-122"/>
                <a:cs typeface="Fira Code" pitchFamily="34" charset="-120"/>
              </a:rPr>
              <a:t>2. Efficiency is W / Q_h.</a:t>
            </a:r>
            <a:r>
              <a:rPr lang="en-US" sz="750" dirty="0">
                <a:solidFill>
                  <a:srgbClr val="4A5568"/>
                </a:solidFill>
                <a:latin typeface="Fira Code" pitchFamily="34" charset="0"/>
                <a:ea typeface="Fira Code" pitchFamily="34" charset="-122"/>
                <a:cs typeface="Fira Code" pitchFamily="34" charset="-120"/>
              </a:rPr>
              <a:t>
</a:t>
            </a:r>
            <a:r>
              <a:rPr lang="en-US" sz="750" dirty="0">
                <a:solidFill>
                  <a:srgbClr val="4A5568"/>
                </a:solidFill>
                <a:latin typeface="Fira Code" pitchFamily="34" charset="0"/>
                <a:ea typeface="Fira Code" pitchFamily="34" charset="-122"/>
                <a:cs typeface="Fira Code" pitchFamily="34" charset="-120"/>
              </a:rPr>
              <a:t>3. Assuming ideal gas behavior, η = 1 - T_c/T_h.</a:t>
            </a:r>
            <a:r>
              <a:rPr lang="en-US" sz="750" dirty="0">
                <a:solidFill>
                  <a:srgbClr val="4A5568"/>
                </a:solidFill>
                <a:latin typeface="Fira Code" pitchFamily="34" charset="0"/>
                <a:ea typeface="Fira Code" pitchFamily="34" charset="-122"/>
                <a:cs typeface="Fira Code" pitchFamily="34" charset="-120"/>
              </a:rPr>
              <a:t>
</a:t>
            </a:r>
            <a:r>
              <a:rPr lang="en-US" sz="750" dirty="0">
                <a:solidFill>
                  <a:srgbClr val="4A5568"/>
                </a:solidFill>
                <a:latin typeface="Fira Code" pitchFamily="34" charset="0"/>
                <a:ea typeface="Fira Code" pitchFamily="34" charset="-122"/>
                <a:cs typeface="Fira Code" pitchFamily="34" charset="-120"/>
              </a:rPr>
              <a:t>4. η = 1 - 0.6 = 0.4.</a:t>
            </a:r>
            <a:r>
              <a:rPr lang="en-US" sz="750" dirty="0">
                <a:solidFill>
                  <a:srgbClr val="4A5568"/>
                </a:solidFill>
                <a:latin typeface="Fira Code" pitchFamily="34" charset="0"/>
                <a:ea typeface="Fira Code" pitchFamily="34" charset="-122"/>
                <a:cs typeface="Fira Code" pitchFamily="34" charset="-120"/>
              </a:rPr>
              <a:t>
</a:t>
            </a:r>
            <a:r>
              <a:rPr lang="en-US" sz="750" dirty="0">
                <a:solidFill>
                  <a:srgbClr val="4A5568"/>
                </a:solidFill>
                <a:latin typeface="Fira Code" pitchFamily="34" charset="0"/>
                <a:ea typeface="Fira Code" pitchFamily="34" charset="-122"/>
                <a:cs typeface="Fira Code" pitchFamily="34" charset="-120"/>
              </a:rPr>
              <a:t>5. Final Answer: 40%.</a:t>
            </a:r>
            <a:endParaRPr lang="en-US" sz="750" dirty="0"/>
          </a:p>
        </p:txBody>
      </p:sp>
      <p:sp>
        <p:nvSpPr>
          <p:cNvPr id="16" name="Shape 12"/>
          <p:cNvSpPr/>
          <p:nvPr/>
        </p:nvSpPr>
        <p:spPr>
          <a:xfrm>
            <a:off x="428625" y="3721894"/>
            <a:ext cx="8286750" cy="400050"/>
          </a:xfrm>
          <a:prstGeom prst="rect">
            <a:avLst/>
          </a:prstGeom>
          <a:solidFill>
            <a:srgbClr val="EBF8FF"/>
          </a:solidFill>
          <a:ln w="9144">
            <a:solidFill>
              <a:srgbClr val="3182CE"/>
            </a:solidFill>
            <a:prstDash val="solid"/>
          </a:ln>
        </p:spPr>
      </p:sp>
      <p:sp>
        <p:nvSpPr>
          <p:cNvPr id="17" name="Text 13"/>
          <p:cNvSpPr/>
          <p:nvPr/>
        </p:nvSpPr>
        <p:spPr>
          <a:xfrm>
            <a:off x="571500" y="3828157"/>
            <a:ext cx="1103709" cy="173236"/>
          </a:xfrm>
          <a:prstGeom prst="rect">
            <a:avLst/>
          </a:prstGeom>
          <a:noFill/>
          <a:ln/>
        </p:spPr>
        <p:txBody>
          <a:bodyPr wrap="none" lIns="0" tIns="0" rIns="0" bIns="0" rtlCol="0" anchor="t">
            <a:spAutoFit/>
          </a:bodyPr>
          <a:lstStyle/>
          <a:p>
            <a:pPr algn="l" indent="0" marL="0">
              <a:buNone/>
            </a:pPr>
            <a:r>
              <a:rPr lang="en-US" sz="1000" b="1" dirty="0">
                <a:solidFill>
                  <a:srgbClr val="2C5282"/>
                </a:solidFill>
                <a:latin typeface="Montserrat Bold" pitchFamily="34" charset="0"/>
                <a:ea typeface="Montserrat Bold" pitchFamily="34" charset="-122"/>
                <a:cs typeface="Montserrat Bold" pitchFamily="34" charset="-120"/>
              </a:rPr>
              <a:t>RAS Delta: 0.18</a:t>
            </a:r>
            <a:endParaRPr lang="en-US" sz="1000" dirty="0"/>
          </a:p>
        </p:txBody>
      </p:sp>
      <p:sp>
        <p:nvSpPr>
          <p:cNvPr id="18" name="Text 14"/>
          <p:cNvSpPr/>
          <p:nvPr/>
        </p:nvSpPr>
        <p:spPr>
          <a:xfrm>
            <a:off x="5302448" y="3793331"/>
            <a:ext cx="1146572" cy="121444"/>
          </a:xfrm>
          <a:prstGeom prst="rect">
            <a:avLst/>
          </a:prstGeom>
          <a:noFill/>
          <a:ln/>
        </p:spPr>
        <p:txBody>
          <a:bodyPr wrap="none" lIns="0" tIns="0" rIns="0" bIns="0" rtlCol="0" anchor="t">
            <a:spAutoFit/>
          </a:bodyPr>
          <a:lstStyle/>
          <a:p>
            <a:pPr algn="l" indent="0" marL="0">
              <a:buNone/>
            </a:pPr>
            <a:r>
              <a:rPr lang="en-US" sz="700" b="1" dirty="0">
                <a:solidFill>
                  <a:srgbClr val="3182CE"/>
                </a:solidFill>
                <a:latin typeface="Inter SemiBold" pitchFamily="34" charset="0"/>
                <a:ea typeface="Inter SemiBold" pitchFamily="34" charset="-122"/>
                <a:cs typeface="Inter SemiBold" pitchFamily="34" charset="-120"/>
              </a:rPr>
              <a:t>&gt; 0.15</a:t>
            </a:r>
            <a:endParaRPr lang="en-US" sz="700" dirty="0"/>
          </a:p>
        </p:txBody>
      </p:sp>
      <p:sp>
        <p:nvSpPr>
          <p:cNvPr id="19" name="Text 15"/>
          <p:cNvSpPr/>
          <p:nvPr/>
        </p:nvSpPr>
        <p:spPr>
          <a:xfrm>
            <a:off x="5302448" y="3914775"/>
            <a:ext cx="1146572" cy="121444"/>
          </a:xfrm>
          <a:prstGeom prst="rect">
            <a:avLst/>
          </a:prstGeom>
          <a:noFill/>
          <a:ln/>
        </p:spPr>
        <p:txBody>
          <a:bodyPr wrap="none" lIns="0" tIns="0" rIns="0" bIns="0" rtlCol="0" anchor="t">
            <a:spAutoFit/>
          </a:bodyPr>
          <a:lstStyle/>
          <a:p>
            <a:pPr algn="l" indent="0" marL="0">
              <a:buNone/>
            </a:pPr>
            <a:r>
              <a:rPr lang="en-US" sz="750" dirty="0">
                <a:solidFill>
                  <a:srgbClr val="2D3748"/>
                </a:solidFill>
                <a:latin typeface="Inter" pitchFamily="34" charset="0"/>
                <a:ea typeface="Inter" pitchFamily="34" charset="-122"/>
                <a:cs typeface="Inter" pitchFamily="34" charset="-120"/>
              </a:rPr>
              <a:t>Strong Rashomon Effect</a:t>
            </a:r>
            <a:endParaRPr lang="en-US" sz="750" dirty="0"/>
          </a:p>
        </p:txBody>
      </p:sp>
      <p:sp>
        <p:nvSpPr>
          <p:cNvPr id="20" name="Text 16"/>
          <p:cNvSpPr/>
          <p:nvPr/>
        </p:nvSpPr>
        <p:spPr>
          <a:xfrm>
            <a:off x="6577608" y="3793331"/>
            <a:ext cx="1021556" cy="121444"/>
          </a:xfrm>
          <a:prstGeom prst="rect">
            <a:avLst/>
          </a:prstGeom>
          <a:noFill/>
          <a:ln/>
        </p:spPr>
        <p:txBody>
          <a:bodyPr wrap="none" lIns="0" tIns="0" rIns="0" bIns="0" rtlCol="0" anchor="t">
            <a:spAutoFit/>
          </a:bodyPr>
          <a:lstStyle/>
          <a:p>
            <a:pPr algn="l" indent="0" marL="0">
              <a:buNone/>
            </a:pPr>
            <a:r>
              <a:rPr lang="en-US" sz="700" b="1" dirty="0">
                <a:solidFill>
                  <a:srgbClr val="3182CE"/>
                </a:solidFill>
                <a:latin typeface="Inter SemiBold" pitchFamily="34" charset="0"/>
                <a:ea typeface="Inter SemiBold" pitchFamily="34" charset="-122"/>
                <a:cs typeface="Inter SemiBold" pitchFamily="34" charset="-120"/>
              </a:rPr>
              <a:t>0.05 – 0.15</a:t>
            </a:r>
            <a:endParaRPr lang="en-US" sz="700" dirty="0"/>
          </a:p>
        </p:txBody>
      </p:sp>
      <p:sp>
        <p:nvSpPr>
          <p:cNvPr id="21" name="Text 17"/>
          <p:cNvSpPr/>
          <p:nvPr/>
        </p:nvSpPr>
        <p:spPr>
          <a:xfrm>
            <a:off x="6577608" y="3914775"/>
            <a:ext cx="1021556" cy="121444"/>
          </a:xfrm>
          <a:prstGeom prst="rect">
            <a:avLst/>
          </a:prstGeom>
          <a:noFill/>
          <a:ln/>
        </p:spPr>
        <p:txBody>
          <a:bodyPr wrap="none" lIns="0" tIns="0" rIns="0" bIns="0" rtlCol="0" anchor="t">
            <a:spAutoFit/>
          </a:bodyPr>
          <a:lstStyle/>
          <a:p>
            <a:pPr algn="l" indent="0" marL="0">
              <a:buNone/>
            </a:pPr>
            <a:r>
              <a:rPr lang="en-US" sz="750" dirty="0">
                <a:solidFill>
                  <a:srgbClr val="2D3748"/>
                </a:solidFill>
                <a:latin typeface="Inter" pitchFamily="34" charset="0"/>
                <a:ea typeface="Inter" pitchFamily="34" charset="-122"/>
                <a:cs typeface="Inter" pitchFamily="34" charset="-120"/>
              </a:rPr>
              <a:t>Moderate Divergence</a:t>
            </a:r>
            <a:endParaRPr lang="en-US" sz="750" dirty="0"/>
          </a:p>
        </p:txBody>
      </p:sp>
      <p:sp>
        <p:nvSpPr>
          <p:cNvPr id="22" name="Text 18"/>
          <p:cNvSpPr/>
          <p:nvPr/>
        </p:nvSpPr>
        <p:spPr>
          <a:xfrm>
            <a:off x="7727752" y="3793331"/>
            <a:ext cx="844748" cy="121444"/>
          </a:xfrm>
          <a:prstGeom prst="rect">
            <a:avLst/>
          </a:prstGeom>
          <a:noFill/>
          <a:ln/>
        </p:spPr>
        <p:txBody>
          <a:bodyPr wrap="none" lIns="0" tIns="0" rIns="0" bIns="0" rtlCol="0" anchor="t">
            <a:spAutoFit/>
          </a:bodyPr>
          <a:lstStyle/>
          <a:p>
            <a:pPr algn="l" indent="0" marL="0">
              <a:buNone/>
            </a:pPr>
            <a:r>
              <a:rPr lang="en-US" sz="700" b="1" dirty="0">
                <a:solidFill>
                  <a:srgbClr val="3182CE"/>
                </a:solidFill>
                <a:latin typeface="Inter SemiBold" pitchFamily="34" charset="0"/>
                <a:ea typeface="Inter SemiBold" pitchFamily="34" charset="-122"/>
                <a:cs typeface="Inter SemiBold" pitchFamily="34" charset="-120"/>
              </a:rPr>
              <a:t>&lt; 0.05</a:t>
            </a:r>
            <a:endParaRPr lang="en-US" sz="700" dirty="0"/>
          </a:p>
        </p:txBody>
      </p:sp>
      <p:sp>
        <p:nvSpPr>
          <p:cNvPr id="23" name="Text 19"/>
          <p:cNvSpPr/>
          <p:nvPr/>
        </p:nvSpPr>
        <p:spPr>
          <a:xfrm>
            <a:off x="7727752" y="3914775"/>
            <a:ext cx="844748" cy="121444"/>
          </a:xfrm>
          <a:prstGeom prst="rect">
            <a:avLst/>
          </a:prstGeom>
          <a:noFill/>
          <a:ln/>
        </p:spPr>
        <p:txBody>
          <a:bodyPr wrap="none" lIns="0" tIns="0" rIns="0" bIns="0" rtlCol="0" anchor="t">
            <a:spAutoFit/>
          </a:bodyPr>
          <a:lstStyle/>
          <a:p>
            <a:pPr algn="l" indent="0" marL="0">
              <a:buNone/>
            </a:pPr>
            <a:r>
              <a:rPr lang="en-US" sz="750" dirty="0">
                <a:solidFill>
                  <a:srgbClr val="2D3748"/>
                </a:solidFill>
                <a:latin typeface="Inter" pitchFamily="34" charset="0"/>
                <a:ea typeface="Inter" pitchFamily="34" charset="-122"/>
                <a:cs typeface="Inter" pitchFamily="34" charset="-120"/>
              </a:rPr>
              <a:t>Similar Reasoning</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9144000" cy="1285875"/>
          </a:xfrm>
          <a:prstGeom prst="rect">
            <a:avLst/>
          </a:prstGeom>
          <a:solidFill>
            <a:srgbClr val="0A2342"/>
          </a:solidFill>
          <a:ln/>
        </p:spPr>
      </p:sp>
      <p:sp>
        <p:nvSpPr>
          <p:cNvPr id="5" name="Text 1"/>
          <p:cNvSpPr/>
          <p:nvPr/>
        </p:nvSpPr>
        <p:spPr>
          <a:xfrm>
            <a:off x="571500" y="576858"/>
            <a:ext cx="8001000" cy="417909"/>
          </a:xfrm>
          <a:prstGeom prst="rect">
            <a:avLst/>
          </a:prstGeom>
          <a:noFill/>
          <a:ln/>
        </p:spPr>
        <p:txBody>
          <a:bodyPr wrap="square" lIns="0" tIns="0" rIns="0" bIns="0" rtlCol="0" anchor="t">
            <a:spAutoFit/>
          </a:bodyPr>
          <a:lstStyle/>
          <a:p>
            <a:pPr algn="l" indent="0" marL="0">
              <a:buNone/>
            </a:pPr>
            <a:r>
              <a:rPr lang="en-US" sz="2450" b="1" dirty="0">
                <a:solidFill>
                  <a:srgbClr val="FFFFFF"/>
                </a:solidFill>
                <a:latin typeface="Montserrat Bold" pitchFamily="34" charset="0"/>
                <a:ea typeface="Montserrat Bold" pitchFamily="34" charset="-122"/>
                <a:cs typeface="Montserrat Bold" pitchFamily="34" charset="-120"/>
              </a:rPr>
              <a:t>Conclusion and Key Takeaways</a:t>
            </a:r>
            <a:endParaRPr lang="en-US" sz="2450" dirty="0"/>
          </a:p>
        </p:txBody>
      </p:sp>
      <p:sp>
        <p:nvSpPr>
          <p:cNvPr id="6" name="Shape 2"/>
          <p:cNvSpPr/>
          <p:nvPr/>
        </p:nvSpPr>
        <p:spPr>
          <a:xfrm>
            <a:off x="571500" y="1428750"/>
            <a:ext cx="3857625" cy="2109192"/>
          </a:xfrm>
          <a:prstGeom prst="rect">
            <a:avLst/>
          </a:prstGeom>
          <a:solidFill>
            <a:srgbClr val="F8FAFC"/>
          </a:solidFill>
          <a:ln w="9144">
            <a:solidFill>
              <a:srgbClr val="E2E8F0"/>
            </a:solidFill>
            <a:prstDash val="solid"/>
          </a:ln>
        </p:spPr>
      </p:sp>
      <p:sp>
        <p:nvSpPr>
          <p:cNvPr id="7" name="Text 3"/>
          <p:cNvSpPr/>
          <p:nvPr/>
        </p:nvSpPr>
        <p:spPr>
          <a:xfrm>
            <a:off x="700088" y="1514475"/>
            <a:ext cx="1321594" cy="230386"/>
          </a:xfrm>
          <a:prstGeom prst="rect">
            <a:avLst/>
          </a:prstGeom>
          <a:noFill/>
          <a:ln/>
        </p:spPr>
        <p:txBody>
          <a:bodyPr wrap="square" lIns="0" tIns="0" rIns="0" bIns="0" rtlCol="0" anchor="t">
            <a:spAutoFit/>
          </a:bodyPr>
          <a:lstStyle/>
          <a:p>
            <a:pPr algn="l" indent="0" marL="0">
              <a:buNone/>
            </a:pPr>
            <a:r>
              <a:rPr lang="en-US" sz="1250" dirty="0">
                <a:solidFill>
                  <a:srgbClr val="0A2342"/>
                </a:solidFill>
                <a:latin typeface="Montserrat Bold" pitchFamily="34" charset="0"/>
                <a:ea typeface="Montserrat Bold" pitchFamily="34" charset="-122"/>
                <a:cs typeface="Montserrat Bold" pitchFamily="34" charset="-120"/>
              </a:rPr>
              <a:t>What We Built</a:t>
            </a:r>
            <a:endParaRPr lang="en-US" sz="1250" dirty="0"/>
          </a:p>
        </p:txBody>
      </p:sp>
      <p:sp>
        <p:nvSpPr>
          <p:cNvPr id="8" name="Text 4"/>
          <p:cNvSpPr/>
          <p:nvPr/>
        </p:nvSpPr>
        <p:spPr>
          <a:xfrm>
            <a:off x="985838" y="1859161"/>
            <a:ext cx="3307556" cy="385763"/>
          </a:xfrm>
          <a:prstGeom prst="rect">
            <a:avLst/>
          </a:prstGeom>
          <a:noFill/>
          <a:ln/>
        </p:spPr>
        <p:txBody>
          <a:bodyPr wrap="square" lIns="212598" tIns="0" rIns="0" bIns="0" rtlCol="0" anchor="t">
            <a:spAutoFit/>
          </a:bodyPr>
          <a:lstStyle/>
          <a:p>
            <a:pPr algn="l" indent="0" marL="0">
              <a:lnSpc>
                <a:spcPct val="120000"/>
              </a:lnSpc>
              <a:buNone/>
            </a:pPr>
            <a:r>
              <a:rPr lang="en-US" sz="950" dirty="0">
                <a:solidFill>
                  <a:srgbClr val="2D3748"/>
                </a:solidFill>
                <a:latin typeface="Inter" pitchFamily="34" charset="0"/>
                <a:ea typeface="Inter" pitchFamily="34" charset="-122"/>
                <a:cs typeface="Inter" pitchFamily="34" charset="-120"/>
              </a:rPr>
              <a:t>Framework evaluating </a:t>
            </a:r>
            <a:r>
              <a:rPr lang="en-US" sz="900" dirty="0">
                <a:solidFill>
                  <a:srgbClr val="3182CE"/>
                </a:solidFill>
                <a:latin typeface="Inter SemiBold" pitchFamily="34" charset="0"/>
                <a:ea typeface="Inter SemiBold" pitchFamily="34" charset="-122"/>
                <a:cs typeface="Inter SemiBold" pitchFamily="34" charset="-120"/>
              </a:rPr>
              <a:t>reasoning quality</a:t>
            </a:r>
            <a:r>
              <a:rPr lang="en-US" sz="950" dirty="0">
                <a:solidFill>
                  <a:srgbClr val="2D3748"/>
                </a:solidFill>
                <a:latin typeface="Inter" pitchFamily="34" charset="0"/>
                <a:ea typeface="Inter" pitchFamily="34" charset="-122"/>
                <a:cs typeface="Inter" pitchFamily="34" charset="-120"/>
              </a:rPr>
              <a:t> vs. accuracy.</a:t>
            </a:r>
            <a:endParaRPr lang="en-US" sz="950" dirty="0"/>
          </a:p>
        </p:txBody>
      </p:sp>
      <p:sp>
        <p:nvSpPr>
          <p:cNvPr id="9" name="Text 5"/>
          <p:cNvSpPr/>
          <p:nvPr/>
        </p:nvSpPr>
        <p:spPr>
          <a:xfrm>
            <a:off x="985838" y="2302073"/>
            <a:ext cx="3307556" cy="192881"/>
          </a:xfrm>
          <a:prstGeom prst="rect">
            <a:avLst/>
          </a:prstGeom>
          <a:noFill/>
          <a:ln/>
        </p:spPr>
        <p:txBody>
          <a:bodyPr wrap="none" lIns="212598" tIns="0" rIns="0" bIns="0" rtlCol="0" anchor="t">
            <a:spAutoFit/>
          </a:bodyPr>
          <a:lstStyle/>
          <a:p>
            <a:pPr algn="l" indent="0" marL="0">
              <a:lnSpc>
                <a:spcPct val="120000"/>
              </a:lnSpc>
              <a:buNone/>
            </a:pPr>
            <a:r>
              <a:rPr lang="en-US" sz="950" dirty="0">
                <a:solidFill>
                  <a:srgbClr val="2D3748"/>
                </a:solidFill>
                <a:latin typeface="Inter" pitchFamily="34" charset="0"/>
                <a:ea typeface="Inter" pitchFamily="34" charset="-122"/>
                <a:cs typeface="Inter" pitchFamily="34" charset="-120"/>
              </a:rPr>
              <a:t>Five interpretable, non-black-box metrics.</a:t>
            </a:r>
            <a:endParaRPr lang="en-US" sz="950" dirty="0"/>
          </a:p>
        </p:txBody>
      </p:sp>
      <p:sp>
        <p:nvSpPr>
          <p:cNvPr id="10" name="Text 6"/>
          <p:cNvSpPr/>
          <p:nvPr/>
        </p:nvSpPr>
        <p:spPr>
          <a:xfrm>
            <a:off x="985838" y="2552105"/>
            <a:ext cx="3307556" cy="192881"/>
          </a:xfrm>
          <a:prstGeom prst="rect">
            <a:avLst/>
          </a:prstGeom>
          <a:noFill/>
          <a:ln/>
        </p:spPr>
        <p:txBody>
          <a:bodyPr wrap="none" lIns="212598" tIns="0" rIns="0" bIns="0" rtlCol="0" anchor="t">
            <a:spAutoFit/>
          </a:bodyPr>
          <a:lstStyle/>
          <a:p>
            <a:pPr algn="l" indent="0" marL="0">
              <a:lnSpc>
                <a:spcPct val="120000"/>
              </a:lnSpc>
              <a:buNone/>
            </a:pPr>
            <a:r>
              <a:rPr lang="en-US" sz="950" dirty="0">
                <a:solidFill>
                  <a:srgbClr val="2D3748"/>
                </a:solidFill>
                <a:latin typeface="Inter" pitchFamily="34" charset="0"/>
                <a:ea typeface="Inter" pitchFamily="34" charset="-122"/>
                <a:cs typeface="Inter" pitchFamily="34" charset="-120"/>
              </a:rPr>
              <a:t>Interactive dashboards for reasoning comparison.</a:t>
            </a:r>
            <a:endParaRPr lang="en-US" sz="950" dirty="0"/>
          </a:p>
        </p:txBody>
      </p:sp>
      <p:sp>
        <p:nvSpPr>
          <p:cNvPr id="11" name="Text 7"/>
          <p:cNvSpPr/>
          <p:nvPr/>
        </p:nvSpPr>
        <p:spPr>
          <a:xfrm>
            <a:off x="985838" y="2802136"/>
            <a:ext cx="3307556" cy="192881"/>
          </a:xfrm>
          <a:prstGeom prst="rect">
            <a:avLst/>
          </a:prstGeom>
          <a:noFill/>
          <a:ln/>
        </p:spPr>
        <p:txBody>
          <a:bodyPr wrap="none" lIns="212598" tIns="0" rIns="0" bIns="0" rtlCol="0" anchor="t">
            <a:spAutoFit/>
          </a:bodyPr>
          <a:lstStyle/>
          <a:p>
            <a:pPr algn="l" indent="0" marL="0">
              <a:lnSpc>
                <a:spcPct val="120000"/>
              </a:lnSpc>
              <a:buNone/>
            </a:pPr>
            <a:r>
              <a:rPr lang="en-US" sz="950" dirty="0">
                <a:solidFill>
                  <a:srgbClr val="2D3748"/>
                </a:solidFill>
                <a:latin typeface="Inter" pitchFamily="34" charset="0"/>
                <a:ea typeface="Inter" pitchFamily="34" charset="-122"/>
                <a:cs typeface="Inter" pitchFamily="34" charset="-120"/>
              </a:rPr>
              <a:t>Pluggable support for APIs and open models.</a:t>
            </a:r>
            <a:endParaRPr lang="en-US" sz="950" dirty="0"/>
          </a:p>
        </p:txBody>
      </p:sp>
      <p:sp>
        <p:nvSpPr>
          <p:cNvPr id="12" name="Shape 8"/>
          <p:cNvSpPr/>
          <p:nvPr/>
        </p:nvSpPr>
        <p:spPr>
          <a:xfrm>
            <a:off x="4707731" y="1428750"/>
            <a:ext cx="3864769" cy="1916311"/>
          </a:xfrm>
          <a:prstGeom prst="rect">
            <a:avLst/>
          </a:prstGeom>
          <a:solidFill>
            <a:srgbClr val="F8FAFC"/>
          </a:solidFill>
          <a:ln w="9144">
            <a:solidFill>
              <a:srgbClr val="E2E8F0"/>
            </a:solidFill>
            <a:prstDash val="solid"/>
          </a:ln>
        </p:spPr>
      </p:sp>
      <p:sp>
        <p:nvSpPr>
          <p:cNvPr id="13" name="Text 9"/>
          <p:cNvSpPr/>
          <p:nvPr/>
        </p:nvSpPr>
        <p:spPr>
          <a:xfrm>
            <a:off x="985838" y="1859161"/>
            <a:ext cx="107156" cy="192881"/>
          </a:xfrm>
          <a:prstGeom prst="rect">
            <a:avLst/>
          </a:prstGeom>
          <a:noFill/>
          <a:ln/>
        </p:spPr>
        <p:txBody>
          <a:bodyPr wrap="none" lIns="0" tIns="0" rIns="0" bIns="0" rtlCol="0" anchor="t">
            <a:spAutoFit/>
          </a:bodyPr>
          <a:lstStyle/>
          <a:p>
            <a:pPr algn="l" indent="0" marL="0">
              <a:lnSpc>
                <a:spcPct val="120000"/>
              </a:lnSpc>
              <a:buNone/>
            </a:pPr>
            <a:r>
              <a:rPr lang="en-US" sz="900" b="1" dirty="0">
                <a:solidFill>
                  <a:srgbClr val="3182CE"/>
                </a:solidFill>
                <a:latin typeface="Inter SemiBold" pitchFamily="34" charset="0"/>
                <a:ea typeface="Inter SemiBold" pitchFamily="34" charset="-122"/>
                <a:cs typeface="Inter SemiBold" pitchFamily="34" charset="-120"/>
              </a:rPr>
              <a:t>✓</a:t>
            </a:r>
            <a:endParaRPr lang="en-US" sz="900" dirty="0"/>
          </a:p>
        </p:txBody>
      </p:sp>
      <p:sp>
        <p:nvSpPr>
          <p:cNvPr id="14" name="Text 10"/>
          <p:cNvSpPr/>
          <p:nvPr/>
        </p:nvSpPr>
        <p:spPr>
          <a:xfrm>
            <a:off x="985838" y="2302073"/>
            <a:ext cx="107156" cy="192881"/>
          </a:xfrm>
          <a:prstGeom prst="rect">
            <a:avLst/>
          </a:prstGeom>
          <a:noFill/>
          <a:ln/>
        </p:spPr>
        <p:txBody>
          <a:bodyPr wrap="none" lIns="0" tIns="0" rIns="0" bIns="0" rtlCol="0" anchor="t">
            <a:spAutoFit/>
          </a:bodyPr>
          <a:lstStyle/>
          <a:p>
            <a:pPr algn="l" indent="0" marL="0">
              <a:lnSpc>
                <a:spcPct val="120000"/>
              </a:lnSpc>
              <a:buNone/>
            </a:pPr>
            <a:r>
              <a:rPr lang="en-US" sz="900" b="1" dirty="0">
                <a:solidFill>
                  <a:srgbClr val="3182CE"/>
                </a:solidFill>
                <a:latin typeface="Inter SemiBold" pitchFamily="34" charset="0"/>
                <a:ea typeface="Inter SemiBold" pitchFamily="34" charset="-122"/>
                <a:cs typeface="Inter SemiBold" pitchFamily="34" charset="-120"/>
              </a:rPr>
              <a:t>✓</a:t>
            </a:r>
            <a:endParaRPr lang="en-US" sz="900" dirty="0"/>
          </a:p>
        </p:txBody>
      </p:sp>
      <p:sp>
        <p:nvSpPr>
          <p:cNvPr id="15" name="Text 11"/>
          <p:cNvSpPr/>
          <p:nvPr/>
        </p:nvSpPr>
        <p:spPr>
          <a:xfrm>
            <a:off x="985838" y="2552105"/>
            <a:ext cx="107156" cy="192881"/>
          </a:xfrm>
          <a:prstGeom prst="rect">
            <a:avLst/>
          </a:prstGeom>
          <a:noFill/>
          <a:ln/>
        </p:spPr>
        <p:txBody>
          <a:bodyPr wrap="none" lIns="0" tIns="0" rIns="0" bIns="0" rtlCol="0" anchor="t">
            <a:spAutoFit/>
          </a:bodyPr>
          <a:lstStyle/>
          <a:p>
            <a:pPr algn="l" indent="0" marL="0">
              <a:lnSpc>
                <a:spcPct val="120000"/>
              </a:lnSpc>
              <a:buNone/>
            </a:pPr>
            <a:r>
              <a:rPr lang="en-US" sz="900" b="1" dirty="0">
                <a:solidFill>
                  <a:srgbClr val="3182CE"/>
                </a:solidFill>
                <a:latin typeface="Inter SemiBold" pitchFamily="34" charset="0"/>
                <a:ea typeface="Inter SemiBold" pitchFamily="34" charset="-122"/>
                <a:cs typeface="Inter SemiBold" pitchFamily="34" charset="-120"/>
              </a:rPr>
              <a:t>✓</a:t>
            </a:r>
            <a:endParaRPr lang="en-US" sz="900" dirty="0"/>
          </a:p>
        </p:txBody>
      </p:sp>
      <p:sp>
        <p:nvSpPr>
          <p:cNvPr id="16" name="Text 12"/>
          <p:cNvSpPr/>
          <p:nvPr/>
        </p:nvSpPr>
        <p:spPr>
          <a:xfrm>
            <a:off x="985838" y="2802136"/>
            <a:ext cx="107156" cy="192881"/>
          </a:xfrm>
          <a:prstGeom prst="rect">
            <a:avLst/>
          </a:prstGeom>
          <a:noFill/>
          <a:ln/>
        </p:spPr>
        <p:txBody>
          <a:bodyPr wrap="none" lIns="0" tIns="0" rIns="0" bIns="0" rtlCol="0" anchor="t">
            <a:spAutoFit/>
          </a:bodyPr>
          <a:lstStyle/>
          <a:p>
            <a:pPr algn="l" indent="0" marL="0">
              <a:lnSpc>
                <a:spcPct val="120000"/>
              </a:lnSpc>
              <a:buNone/>
            </a:pPr>
            <a:r>
              <a:rPr lang="en-US" sz="900" b="1" dirty="0">
                <a:solidFill>
                  <a:srgbClr val="3182CE"/>
                </a:solidFill>
                <a:latin typeface="Inter SemiBold" pitchFamily="34" charset="0"/>
                <a:ea typeface="Inter SemiBold" pitchFamily="34" charset="-122"/>
                <a:cs typeface="Inter SemiBold" pitchFamily="34" charset="-120"/>
              </a:rPr>
              <a:t>✓</a:t>
            </a:r>
            <a:endParaRPr lang="en-US" sz="900" dirty="0"/>
          </a:p>
        </p:txBody>
      </p:sp>
      <p:sp>
        <p:nvSpPr>
          <p:cNvPr id="17" name="Text 13"/>
          <p:cNvSpPr/>
          <p:nvPr/>
        </p:nvSpPr>
        <p:spPr>
          <a:xfrm>
            <a:off x="4843463" y="1514475"/>
            <a:ext cx="1332309" cy="230386"/>
          </a:xfrm>
          <a:prstGeom prst="rect">
            <a:avLst/>
          </a:prstGeom>
          <a:noFill/>
          <a:ln/>
        </p:spPr>
        <p:txBody>
          <a:bodyPr wrap="square" lIns="0" tIns="0" rIns="0" bIns="0" rtlCol="0" anchor="t">
            <a:spAutoFit/>
          </a:bodyPr>
          <a:lstStyle/>
          <a:p>
            <a:pPr algn="l" indent="0" marL="0">
              <a:buNone/>
            </a:pPr>
            <a:r>
              <a:rPr lang="en-US" sz="1250" dirty="0">
                <a:solidFill>
                  <a:srgbClr val="0A2342"/>
                </a:solidFill>
                <a:latin typeface="Montserrat Bold" pitchFamily="34" charset="0"/>
                <a:ea typeface="Montserrat Bold" pitchFamily="34" charset="-122"/>
                <a:cs typeface="Montserrat Bold" pitchFamily="34" charset="-120"/>
              </a:rPr>
              <a:t>Why It Matters</a:t>
            </a:r>
            <a:endParaRPr lang="en-US" sz="1250" dirty="0"/>
          </a:p>
        </p:txBody>
      </p:sp>
      <p:sp>
        <p:nvSpPr>
          <p:cNvPr id="18" name="Text 14"/>
          <p:cNvSpPr/>
          <p:nvPr/>
        </p:nvSpPr>
        <p:spPr>
          <a:xfrm>
            <a:off x="5129213" y="1859161"/>
            <a:ext cx="3314700" cy="385763"/>
          </a:xfrm>
          <a:prstGeom prst="rect">
            <a:avLst/>
          </a:prstGeom>
          <a:noFill/>
          <a:ln/>
        </p:spPr>
        <p:txBody>
          <a:bodyPr wrap="square" lIns="212598" tIns="0" rIns="0" bIns="0" rtlCol="0" anchor="t">
            <a:spAutoFit/>
          </a:bodyPr>
          <a:lstStyle/>
          <a:p>
            <a:pPr algn="l" indent="0" marL="0">
              <a:lnSpc>
                <a:spcPct val="120000"/>
              </a:lnSpc>
              <a:buNone/>
            </a:pPr>
            <a:r>
              <a:rPr lang="en-US" sz="950" dirty="0">
                <a:solidFill>
                  <a:srgbClr val="2D3748"/>
                </a:solidFill>
                <a:latin typeface="Inter" pitchFamily="34" charset="0"/>
                <a:ea typeface="Inter" pitchFamily="34" charset="-122"/>
                <a:cs typeface="Inter" pitchFamily="34" charset="-120"/>
              </a:rPr>
              <a:t>Exposes the </a:t>
            </a:r>
            <a:r>
              <a:rPr lang="en-US" sz="900" dirty="0">
                <a:solidFill>
                  <a:srgbClr val="3182CE"/>
                </a:solidFill>
                <a:latin typeface="Inter SemiBold" pitchFamily="34" charset="0"/>
                <a:ea typeface="Inter SemiBold" pitchFamily="34" charset="-122"/>
                <a:cs typeface="Inter SemiBold" pitchFamily="34" charset="-120"/>
              </a:rPr>
              <a:t>Rashomon Effect</a:t>
            </a:r>
            <a:r>
              <a:rPr lang="en-US" sz="950" dirty="0">
                <a:solidFill>
                  <a:srgbClr val="2D3748"/>
                </a:solidFill>
                <a:latin typeface="Inter" pitchFamily="34" charset="0"/>
                <a:ea typeface="Inter" pitchFamily="34" charset="-122"/>
                <a:cs typeface="Inter" pitchFamily="34" charset="-120"/>
              </a:rPr>
              <a:t>: same answer ≠ same reasoning.</a:t>
            </a:r>
            <a:endParaRPr lang="en-US" sz="950" dirty="0"/>
          </a:p>
        </p:txBody>
      </p:sp>
      <p:sp>
        <p:nvSpPr>
          <p:cNvPr id="19" name="Text 15"/>
          <p:cNvSpPr/>
          <p:nvPr/>
        </p:nvSpPr>
        <p:spPr>
          <a:xfrm>
            <a:off x="5129213" y="2302073"/>
            <a:ext cx="3314700" cy="385763"/>
          </a:xfrm>
          <a:prstGeom prst="rect">
            <a:avLst/>
          </a:prstGeom>
          <a:noFill/>
          <a:ln/>
        </p:spPr>
        <p:txBody>
          <a:bodyPr wrap="square" lIns="212598" tIns="0" rIns="0" bIns="0" rtlCol="0" anchor="t">
            <a:spAutoFit/>
          </a:bodyPr>
          <a:lstStyle/>
          <a:p>
            <a:pPr algn="l" indent="0" marL="0">
              <a:lnSpc>
                <a:spcPct val="120000"/>
              </a:lnSpc>
              <a:buNone/>
            </a:pPr>
            <a:r>
              <a:rPr lang="en-US" sz="950" dirty="0">
                <a:solidFill>
                  <a:srgbClr val="2D3748"/>
                </a:solidFill>
                <a:latin typeface="Inter" pitchFamily="34" charset="0"/>
                <a:ea typeface="Inter" pitchFamily="34" charset="-122"/>
                <a:cs typeface="Inter" pitchFamily="34" charset="-120"/>
              </a:rPr>
              <a:t>Critical for high-stakes domains (medical, legal, engineering).</a:t>
            </a:r>
            <a:endParaRPr lang="en-US" sz="950" dirty="0"/>
          </a:p>
        </p:txBody>
      </p:sp>
      <p:sp>
        <p:nvSpPr>
          <p:cNvPr id="20" name="Text 16"/>
          <p:cNvSpPr/>
          <p:nvPr/>
        </p:nvSpPr>
        <p:spPr>
          <a:xfrm>
            <a:off x="5129213" y="2744986"/>
            <a:ext cx="3314700" cy="192881"/>
          </a:xfrm>
          <a:prstGeom prst="rect">
            <a:avLst/>
          </a:prstGeom>
          <a:noFill/>
          <a:ln/>
        </p:spPr>
        <p:txBody>
          <a:bodyPr wrap="none" lIns="212598" tIns="0" rIns="0" bIns="0" rtlCol="0" anchor="t">
            <a:spAutoFit/>
          </a:bodyPr>
          <a:lstStyle/>
          <a:p>
            <a:pPr algn="l" indent="0" marL="0">
              <a:lnSpc>
                <a:spcPct val="120000"/>
              </a:lnSpc>
              <a:buNone/>
            </a:pPr>
            <a:r>
              <a:rPr lang="en-US" sz="950" dirty="0">
                <a:solidFill>
                  <a:srgbClr val="2D3748"/>
                </a:solidFill>
                <a:latin typeface="Inter" pitchFamily="34" charset="0"/>
                <a:ea typeface="Inter" pitchFamily="34" charset="-122"/>
                <a:cs typeface="Inter" pitchFamily="34" charset="-120"/>
              </a:rPr>
              <a:t>Enables trustworthy AI with verifiable logic.</a:t>
            </a:r>
            <a:endParaRPr lang="en-US" sz="950" dirty="0"/>
          </a:p>
        </p:txBody>
      </p:sp>
      <p:sp>
        <p:nvSpPr>
          <p:cNvPr id="21" name="Text 17"/>
          <p:cNvSpPr/>
          <p:nvPr/>
        </p:nvSpPr>
        <p:spPr>
          <a:xfrm>
            <a:off x="5129213" y="2995017"/>
            <a:ext cx="3314700" cy="192881"/>
          </a:xfrm>
          <a:prstGeom prst="rect">
            <a:avLst/>
          </a:prstGeom>
          <a:noFill/>
          <a:ln/>
        </p:spPr>
        <p:txBody>
          <a:bodyPr wrap="none" lIns="212598" tIns="0" rIns="0" bIns="0" rtlCol="0" anchor="t">
            <a:spAutoFit/>
          </a:bodyPr>
          <a:lstStyle/>
          <a:p>
            <a:pPr algn="l" indent="0" marL="0">
              <a:lnSpc>
                <a:spcPct val="120000"/>
              </a:lnSpc>
              <a:buNone/>
            </a:pPr>
            <a:r>
              <a:rPr lang="en-US" sz="950" dirty="0">
                <a:solidFill>
                  <a:srgbClr val="2D3748"/>
                </a:solidFill>
                <a:latin typeface="Inter" pitchFamily="34" charset="0"/>
                <a:ea typeface="Inter" pitchFamily="34" charset="-122"/>
                <a:cs typeface="Inter" pitchFamily="34" charset="-120"/>
              </a:rPr>
              <a:t>Actionable insights via configurable metric weights.</a:t>
            </a:r>
            <a:endParaRPr lang="en-US" sz="950" dirty="0"/>
          </a:p>
        </p:txBody>
      </p:sp>
      <p:sp>
        <p:nvSpPr>
          <p:cNvPr id="22" name="Shape 18"/>
          <p:cNvSpPr/>
          <p:nvPr/>
        </p:nvSpPr>
        <p:spPr>
          <a:xfrm>
            <a:off x="0" y="3473648"/>
            <a:ext cx="9144000" cy="551492"/>
          </a:xfrm>
          <a:prstGeom prst="rect">
            <a:avLst/>
          </a:prstGeom>
          <a:solidFill>
            <a:srgbClr val="0A2342"/>
          </a:solidFill>
          <a:ln/>
        </p:spPr>
      </p:sp>
      <p:sp>
        <p:nvSpPr>
          <p:cNvPr id="23" name="Text 19"/>
          <p:cNvSpPr/>
          <p:nvPr/>
        </p:nvSpPr>
        <p:spPr>
          <a:xfrm>
            <a:off x="5129213" y="1859161"/>
            <a:ext cx="107156" cy="192881"/>
          </a:xfrm>
          <a:prstGeom prst="rect">
            <a:avLst/>
          </a:prstGeom>
          <a:noFill/>
          <a:ln/>
        </p:spPr>
        <p:txBody>
          <a:bodyPr wrap="none" lIns="0" tIns="0" rIns="0" bIns="0" rtlCol="0" anchor="t">
            <a:spAutoFit/>
          </a:bodyPr>
          <a:lstStyle/>
          <a:p>
            <a:pPr algn="l" indent="0" marL="0">
              <a:lnSpc>
                <a:spcPct val="120000"/>
              </a:lnSpc>
              <a:buNone/>
            </a:pPr>
            <a:r>
              <a:rPr lang="en-US" sz="900" b="1" dirty="0">
                <a:solidFill>
                  <a:srgbClr val="3182CE"/>
                </a:solidFill>
                <a:latin typeface="Inter SemiBold" pitchFamily="34" charset="0"/>
                <a:ea typeface="Inter SemiBold" pitchFamily="34" charset="-122"/>
                <a:cs typeface="Inter SemiBold" pitchFamily="34" charset="-120"/>
              </a:rPr>
              <a:t>✓</a:t>
            </a:r>
            <a:endParaRPr lang="en-US" sz="900" dirty="0"/>
          </a:p>
        </p:txBody>
      </p:sp>
      <p:sp>
        <p:nvSpPr>
          <p:cNvPr id="24" name="Text 20"/>
          <p:cNvSpPr/>
          <p:nvPr/>
        </p:nvSpPr>
        <p:spPr>
          <a:xfrm>
            <a:off x="5129213" y="2302073"/>
            <a:ext cx="107156" cy="192881"/>
          </a:xfrm>
          <a:prstGeom prst="rect">
            <a:avLst/>
          </a:prstGeom>
          <a:noFill/>
          <a:ln/>
        </p:spPr>
        <p:txBody>
          <a:bodyPr wrap="none" lIns="0" tIns="0" rIns="0" bIns="0" rtlCol="0" anchor="t">
            <a:spAutoFit/>
          </a:bodyPr>
          <a:lstStyle/>
          <a:p>
            <a:pPr algn="l" indent="0" marL="0">
              <a:lnSpc>
                <a:spcPct val="120000"/>
              </a:lnSpc>
              <a:buNone/>
            </a:pPr>
            <a:r>
              <a:rPr lang="en-US" sz="900" b="1" dirty="0">
                <a:solidFill>
                  <a:srgbClr val="3182CE"/>
                </a:solidFill>
                <a:latin typeface="Inter SemiBold" pitchFamily="34" charset="0"/>
                <a:ea typeface="Inter SemiBold" pitchFamily="34" charset="-122"/>
                <a:cs typeface="Inter SemiBold" pitchFamily="34" charset="-120"/>
              </a:rPr>
              <a:t>✓</a:t>
            </a:r>
            <a:endParaRPr lang="en-US" sz="900" dirty="0"/>
          </a:p>
        </p:txBody>
      </p:sp>
      <p:sp>
        <p:nvSpPr>
          <p:cNvPr id="25" name="Text 21"/>
          <p:cNvSpPr/>
          <p:nvPr/>
        </p:nvSpPr>
        <p:spPr>
          <a:xfrm>
            <a:off x="5129213" y="2744986"/>
            <a:ext cx="107156" cy="192881"/>
          </a:xfrm>
          <a:prstGeom prst="rect">
            <a:avLst/>
          </a:prstGeom>
          <a:noFill/>
          <a:ln/>
        </p:spPr>
        <p:txBody>
          <a:bodyPr wrap="none" lIns="0" tIns="0" rIns="0" bIns="0" rtlCol="0" anchor="t">
            <a:spAutoFit/>
          </a:bodyPr>
          <a:lstStyle/>
          <a:p>
            <a:pPr algn="l" indent="0" marL="0">
              <a:lnSpc>
                <a:spcPct val="120000"/>
              </a:lnSpc>
              <a:buNone/>
            </a:pPr>
            <a:r>
              <a:rPr lang="en-US" sz="900" b="1" dirty="0">
                <a:solidFill>
                  <a:srgbClr val="3182CE"/>
                </a:solidFill>
                <a:latin typeface="Inter SemiBold" pitchFamily="34" charset="0"/>
                <a:ea typeface="Inter SemiBold" pitchFamily="34" charset="-122"/>
                <a:cs typeface="Inter SemiBold" pitchFamily="34" charset="-120"/>
              </a:rPr>
              <a:t>✓</a:t>
            </a:r>
            <a:endParaRPr lang="en-US" sz="900" dirty="0"/>
          </a:p>
        </p:txBody>
      </p:sp>
      <p:sp>
        <p:nvSpPr>
          <p:cNvPr id="26" name="Text 22"/>
          <p:cNvSpPr/>
          <p:nvPr/>
        </p:nvSpPr>
        <p:spPr>
          <a:xfrm>
            <a:off x="5129213" y="2995017"/>
            <a:ext cx="107156" cy="192881"/>
          </a:xfrm>
          <a:prstGeom prst="rect">
            <a:avLst/>
          </a:prstGeom>
          <a:noFill/>
          <a:ln/>
        </p:spPr>
        <p:txBody>
          <a:bodyPr wrap="none" lIns="0" tIns="0" rIns="0" bIns="0" rtlCol="0" anchor="t">
            <a:spAutoFit/>
          </a:bodyPr>
          <a:lstStyle/>
          <a:p>
            <a:pPr algn="l" indent="0" marL="0">
              <a:lnSpc>
                <a:spcPct val="120000"/>
              </a:lnSpc>
              <a:buNone/>
            </a:pPr>
            <a:r>
              <a:rPr lang="en-US" sz="900" b="1" dirty="0">
                <a:solidFill>
                  <a:srgbClr val="3182CE"/>
                </a:solidFill>
                <a:latin typeface="Inter SemiBold" pitchFamily="34" charset="0"/>
                <a:ea typeface="Inter SemiBold" pitchFamily="34" charset="-122"/>
                <a:cs typeface="Inter SemiBold" pitchFamily="34" charset="-120"/>
              </a:rPr>
              <a:t>✓</a:t>
            </a:r>
            <a:endParaRPr lang="en-US" sz="900" dirty="0"/>
          </a:p>
        </p:txBody>
      </p:sp>
      <p:sp>
        <p:nvSpPr>
          <p:cNvPr id="27" name="Text 23"/>
          <p:cNvSpPr/>
          <p:nvPr/>
        </p:nvSpPr>
        <p:spPr>
          <a:xfrm>
            <a:off x="285750" y="3616523"/>
            <a:ext cx="8572500" cy="280029"/>
          </a:xfrm>
          <a:prstGeom prst="rect">
            <a:avLst/>
          </a:prstGeom>
          <a:noFill/>
          <a:ln/>
        </p:spPr>
        <p:txBody>
          <a:bodyPr wrap="none" lIns="0" tIns="0" rIns="0" bIns="0" rtlCol="0" anchor="t">
            <a:spAutoFit/>
          </a:bodyPr>
          <a:lstStyle/>
          <a:p>
            <a:pPr algn="ctr" indent="0" marL="0">
              <a:lnSpc>
                <a:spcPct val="112000"/>
              </a:lnSpc>
              <a:buNone/>
            </a:pPr>
            <a:r>
              <a:rPr lang="en-US" sz="1500" i="1" dirty="0">
                <a:solidFill>
                  <a:srgbClr val="FFFFFF"/>
                </a:solidFill>
                <a:latin typeface="Montserrat" pitchFamily="34" charset="0"/>
                <a:ea typeface="Montserrat" pitchFamily="34" charset="-122"/>
                <a:cs typeface="Montserrat" pitchFamily="34" charset="-120"/>
              </a:rPr>
              <a:t>"Would you trust a model that got the right answer via flawed reasoning?"</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2026-05-03T22:45:35Z</dcterms:created>
  <dcterms:modified xsi:type="dcterms:W3CDTF">2026-05-03T22:45:35Z</dcterms:modified>
</cp:coreProperties>
</file>