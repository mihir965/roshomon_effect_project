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5" r:id="rId38"/>
    <p:sldId id="276" r:id="rId39"/>
    <p:sldId id="271" r:id="rId22"/>
    <p:sldId id="272" r:id="rId23"/>
    <p:sldId id="273" r:id="rId24"/>
    <p:sldId id="274" r:id="rId25"/>
  </p:sldIdLst>
  <p:sldSz cy="5143500" cx="9144000"/>
  <p:notesSz cx="6858000" cy="9144000"/>
  <p:embeddedFontLst>
    <p:embeddedFont>
      <p:font typeface="Inter SemiBold"/>
      <p:regular r:id="rId26"/>
      <p:bold r:id="rId27"/>
      <p:italic r:id="rId28"/>
      <p:boldItalic r:id="rId29"/>
    </p:embeddedFont>
    <p:embeddedFont>
      <p:font typeface="Montserrat"/>
      <p:bold r:id="rId30"/>
      <p:boldItalic r:id="rId31"/>
    </p:embeddedFont>
    <p:embeddedFont>
      <p:font typeface="Inter"/>
      <p:regular r:id="rId32"/>
      <p:bold r:id="rId33"/>
      <p:italic r:id="rId34"/>
      <p:boldItalic r:id="rId35"/>
    </p:embeddedFont>
    <p:embeddedFont>
      <p:font typeface="Fira Code"/>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font" Target="fonts/InterSemiBold-regular.fntdata"/><Relationship Id="rId27" Type="http://schemas.openxmlformats.org/officeDocument/2006/relationships/font" Target="fonts/InterSemiBold-bold.fntdata"/><Relationship Id="rId28" Type="http://schemas.openxmlformats.org/officeDocument/2006/relationships/font" Target="fonts/InterSemiBold-italic.fntdata"/><Relationship Id="rId29" Type="http://schemas.openxmlformats.org/officeDocument/2006/relationships/font" Target="fonts/InterSemiBold-boldItalic.fntdata"/><Relationship Id="rId30" Type="http://schemas.openxmlformats.org/officeDocument/2006/relationships/font" Target="fonts/Montserrat-bold.fntdata"/><Relationship Id="rId31" Type="http://schemas.openxmlformats.org/officeDocument/2006/relationships/font" Target="fonts/Montserrat-boldItalic.fntdata"/><Relationship Id="rId32" Type="http://schemas.openxmlformats.org/officeDocument/2006/relationships/font" Target="fonts/Inter-regular.fntdata"/><Relationship Id="rId33" Type="http://schemas.openxmlformats.org/officeDocument/2006/relationships/font" Target="fonts/Inter-bold.fntdata"/><Relationship Id="rId34" Type="http://schemas.openxmlformats.org/officeDocument/2006/relationships/font" Target="fonts/Inter-italic.fntdata"/><Relationship Id="rId35" Type="http://schemas.openxmlformats.org/officeDocument/2006/relationships/font" Target="fonts/Inter-boldItalic.fntdata"/><Relationship Id="rId36" Type="http://schemas.openxmlformats.org/officeDocument/2006/relationships/font" Target="fonts/FiraCode-regular.fntdata"/><Relationship Id="rId37" Type="http://schemas.openxmlformats.org/officeDocument/2006/relationships/font" Target="fonts/FiraCode-bold.fntdata"/><Relationship Id="rId38" Type="http://schemas.openxmlformats.org/officeDocument/2006/relationships/slide" Target="slides/slide20.xml"/><Relationship Id="rId39"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bc8342e0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dbc8342e0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Today, we're introducing a robust framework for evaluating and recommending Large Language Models, focusing on something often overlooked: the quality of their reasoning. We'll explore how to move beyond just correct answers to truly understand an LLM's underlying logic. This framework is crucial for deploying LLMs responsibly, especially in high-stakes environments. Let's dive into why this distinction matters so much.</a:t>
            </a:r>
            <a:br>
              <a:rPr lang="en-GB"/>
            </a:br>
            <a:r>
              <a:rPr lang="en-GB"/>
              <a:t>____________OR______</a:t>
            </a:r>
            <a:br>
              <a:rPr lang="en-GB"/>
            </a:br>
            <a:r>
              <a:rPr lang="en-GB"/>
              <a:t>Today we’re presenting a framework for evaluating and recommending large language models. Most existing evaluations focus only on whether a model gives the correct answer. But in real-world use, especially in domains like healthcare or legal systems, correctness alone is not enough. The reasoning process matters just as much. Our work focuses on analyzing that reasoning, not just the final output, and building a system that can evaluate models based on how they think, not just what they say.</a:t>
            </a:r>
            <a:endParaRPr/>
          </a:p>
        </p:txBody>
      </p:sp>
      <p:sp>
        <p:nvSpPr>
          <p:cNvPr id="55" name="Google Shape;55;g3dbc8342e0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bc8342e06_5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g3dbc8342e06_5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We call this challenge the "Rashomon Effect" in LLMs, inspired by Akira Kurosawa's classic film. Just as characters in the film offer conflicting accounts, LLMs can reach correct answers through flawed reasoning. This is a critical blind spot in standard benchmarks, which often only assess the final output. For fields like medicine or law, we can't overlook flawed reasoning, even if the final answer appears correct. This brings us to the core of our evaluation strategy.</a:t>
            </a:r>
            <a:endParaRPr/>
          </a:p>
        </p:txBody>
      </p:sp>
      <p:sp>
        <p:nvSpPr>
          <p:cNvPr id="69" name="Google Shape;69;g3dbc8342e06_5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bc8342e06_5_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dbc8342e06_5_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This leads us to our central research question: How can we quantitatively evaluate and verify the alignment of LLM reasoning paths with established logical standards? We aim to detect the Rashomon Effect, where models get the right answer for the wrong reasons. Our goal is to create a pluggable framework that ranks models based on reasoning integrity. Ultimately, we want to balance reasoning depth with computational and API cost efficiency. This framework will help us answer these critical questions, and we'll see how in our methodology.</a:t>
            </a:r>
            <a:endParaRPr/>
          </a:p>
        </p:txBody>
      </p:sp>
      <p:sp>
        <p:nvSpPr>
          <p:cNvPr id="89" name="Google Shape;89;g3dbc8342e06_5_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bc8342e06_2_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3dbc8342e06_2_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To address the Rashomon Effect, we've developed a suite of core evaluation metrics, starting with Answer Alignment Score, or AAS, which measures if the final answer is correct. But the real innovation lies in Reasoning Alignment Score, or RAS. RAS directly quantifies how well an LLM's reasoning matches a golden reference, exposing instances where a correct answer might mask poor logic. This is our Rashomon metric; it's designed to reveal those divergent reasoning paths. And then we have Step-Level Matching, or SLMS, which checks if the model covers all necessary steps in its reasoning. These metrics collectively provide a much deeper understanding of an LLM's performance than just looking at the final answer. Now, let's look at some additional metrics that round out our framework.</a:t>
            </a:r>
            <a:endParaRPr/>
          </a:p>
        </p:txBody>
      </p:sp>
      <p:sp>
        <p:nvSpPr>
          <p:cNvPr id="105" name="Google Shape;105;g3dbc8342e06_2_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bc8342e06_2_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dbc8342e06_2_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Building on our core metrics, we also incorporate Consistency Score, or CS, which assesses the stability of an LLM's reasoning across multiple runs. We also include Domain Knowledge Utilization Score, or DKUS, to measure how effectively the model uses relevant domain concepts. All these metrics feed into our Final Preference Score, or FPS, which is a weighted aggregate. The beauty of FPS is its flexibility: we can adjust the weights in real-time based on the specific application's priorities. For example, in a medical context, reasoning alignment might be weighted much higher than in a tutoring application. This adaptability ensures our framework is relevant across diverse use cases. So, how do we put all these metrics into practice?</a:t>
            </a:r>
            <a:endParaRPr/>
          </a:p>
        </p:txBody>
      </p:sp>
      <p:sp>
        <p:nvSpPr>
          <p:cNvPr id="132" name="Google Shape;132;g3dbc8342e06_2_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bc8342e06_2_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dbc8342e06_2_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Our data pipeline and methodology are designed for rigorous evaluation. We start by loading a dataset of challenging reasoning problems and their golden truths. Then, we query various LLMs using Chain-of-Thought prompts to elicit their reasoning processes. Next, we parse both the reasoning and the final answers to prepare them for metric computation. Finally, we aggregate and visualize these semantic metrics in a real-time dashboard. We use a standardized dataset from German-RAG-ORPO-Alpaca-HESSIAN-AI, focusing on 50 to 100 hard reasoning problems in English, ensuring fairness by using identical system prompts for all models. For the technical implementation, we leverage all-MiniLM-L6-v2 for embeddings in RAS and AAS calculations, and asymmetric step-matching for SLMS. The entire process is presented through a Streamlit-based dashboard, providing an intuitive interface for real-time analysis.</a:t>
            </a:r>
            <a:endParaRPr/>
          </a:p>
        </p:txBody>
      </p:sp>
      <p:sp>
        <p:nvSpPr>
          <p:cNvPr id="156" name="Google Shape;156;g3dbc8342e06_2_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bc8342e06_2_1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dbc8342e06_2_12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We support a diverse range of models, balancing cutting-edge performance with cost-efficiency. This flexibility allows us to tailor our approach to specific project needs, ensuring both quality and budget adherence. We integrate high-quality API-based models like GPT-4o and Claude 3.5 Sonnet for superior performance. For cost-effective experimentation, we also leverage open-source models such as Llama 3.2 and Gemma 2. Our optimization strategies include strict token limits and configurable run controls, which significantly reduce per-call costs and enable rapid iteration. This careful balance ensures we can experiment broadly without incurring prohibitive expenses. Now, let's see how we visualize and interact with these models through our dashboard.</a:t>
            </a:r>
            <a:endParaRPr/>
          </a:p>
        </p:txBody>
      </p:sp>
      <p:sp>
        <p:nvSpPr>
          <p:cNvPr id="199" name="Google Shape;199;g3dbc8342e06_2_12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bd24be4a7_2_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bd24be4a7_2_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To truly understand model performance, we need powerful visualizations that go beyond simple accuracy metrics. These visualizations reveal the nuances of model behavior and help us identify critical insights. Radar charts provide a unique metric profile for each model, highlighting its strengths across various dimensions. Box plots visualize score distribution, exposing model volatility and reasoning inconsistency, which is vital for high-stakes applications. The head-to-head delta offers a direct comparison between two models, pinpointing specific 'Rashomon moments' where reasoning diverges despite similar answers. This deep visual analysis prepares us for a closer look at individual reasoning paths.</a:t>
            </a:r>
            <a:endParaRPr/>
          </a:p>
        </p:txBody>
      </p:sp>
      <p:sp>
        <p:nvSpPr>
          <p:cNvPr id="227" name="Google Shape;227;g3dbd24be4a7_2_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bc8342e06_5_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dbc8342e06_5_7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To truly understand model performance, we need powerful visualizations that go beyond simple accuracy metrics. These visualizations reveal the nuances of model behavior and help us identify critical insights. Radar charts provide a unique metric profile for each model, highlighting its strengths across various dimensions. Box plots visualize score distribution, exposing model volatility and reasoning inconsistency, which is vital for high-stakes applications. The head-to-head delta offers a direct comparison between two models, pinpointing specific 'Rashomon moments' where reasoning diverges despite similar answers. This deep visual analysis prepares us for a closer look at individual reasoning paths.</a:t>
            </a:r>
            <a:endParaRPr/>
          </a:p>
        </p:txBody>
      </p:sp>
      <p:sp>
        <p:nvSpPr>
          <p:cNvPr id="250" name="Google Shape;250;g3dbc8342e06_5_7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bc8342e06_2_1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dbc8342e06_2_1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a:t>So this is our reasoning comparison tool, which is basically the core interactive part of the project.</a:t>
            </a:r>
            <a:endParaRPr/>
          </a:p>
          <a:p>
            <a:pPr indent="0" lvl="0" marL="0" rtl="0" algn="l">
              <a:lnSpc>
                <a:spcPct val="115000"/>
              </a:lnSpc>
              <a:spcBef>
                <a:spcPts val="1200"/>
              </a:spcBef>
              <a:spcAft>
                <a:spcPts val="0"/>
              </a:spcAft>
              <a:buClr>
                <a:schemeClr val="dk1"/>
              </a:buClr>
              <a:buSzPts val="1100"/>
              <a:buFont typeface="Arial"/>
              <a:buNone/>
            </a:pPr>
            <a:r>
              <a:rPr lang="en-GB"/>
              <a:t>You can select any two models from the dropdown, and then pick a specific question. Once you do that, the system shows the full reasoning for both models side by side.</a:t>
            </a:r>
            <a:endParaRPr/>
          </a:p>
          <a:p>
            <a:pPr indent="0" lvl="0" marL="0" rtl="0" algn="l">
              <a:lnSpc>
                <a:spcPct val="115000"/>
              </a:lnSpc>
              <a:spcBef>
                <a:spcPts val="1200"/>
              </a:spcBef>
              <a:spcAft>
                <a:spcPts val="0"/>
              </a:spcAft>
              <a:buClr>
                <a:schemeClr val="dk1"/>
              </a:buClr>
              <a:buSzPts val="1100"/>
              <a:buFont typeface="Arial"/>
              <a:buNone/>
            </a:pPr>
            <a:r>
              <a:rPr lang="en-GB"/>
              <a:t>What’s important here is that we’re not just looking at the final answer — we’re actually breaking down how each model is thinking step by step.</a:t>
            </a:r>
            <a:endParaRPr/>
          </a:p>
          <a:p>
            <a:pPr indent="0" lvl="0" marL="0" rtl="0" algn="l">
              <a:lnSpc>
                <a:spcPct val="115000"/>
              </a:lnSpc>
              <a:spcBef>
                <a:spcPts val="1200"/>
              </a:spcBef>
              <a:spcAft>
                <a:spcPts val="0"/>
              </a:spcAft>
              <a:buClr>
                <a:schemeClr val="dk1"/>
              </a:buClr>
              <a:buSzPts val="1100"/>
              <a:buFont typeface="Arial"/>
              <a:buNone/>
            </a:pPr>
            <a:r>
              <a:rPr lang="en-GB"/>
              <a:t>You also have access to the golden reference reasoning, so you can compare both models against what the correct logical path should look like.</a:t>
            </a:r>
            <a:endParaRPr/>
          </a:p>
          <a:p>
            <a:pPr indent="0" lvl="0" marL="0" rtl="0" algn="l">
              <a:lnSpc>
                <a:spcPct val="115000"/>
              </a:lnSpc>
              <a:spcBef>
                <a:spcPts val="1200"/>
              </a:spcBef>
              <a:spcAft>
                <a:spcPts val="0"/>
              </a:spcAft>
              <a:buClr>
                <a:schemeClr val="dk1"/>
              </a:buClr>
              <a:buSzPts val="1100"/>
              <a:buFont typeface="Arial"/>
              <a:buNone/>
            </a:pPr>
            <a:r>
              <a:rPr lang="en-GB"/>
              <a:t>This makes it very easy to spot cases where two models give the same answer, but one of them is clearly reasoning in a weaker or less structured way. That’s exactly the kind of behavior we’re trying to capture.</a:t>
            </a:r>
            <a:endParaRPr/>
          </a:p>
          <a:p>
            <a:pPr indent="0" lvl="0" marL="0" rtl="0" algn="l">
              <a:spcBef>
                <a:spcPts val="1200"/>
              </a:spcBef>
              <a:spcAft>
                <a:spcPts val="0"/>
              </a:spcAft>
              <a:buNone/>
            </a:pPr>
            <a:r>
              <a:t/>
            </a:r>
            <a:endParaRPr/>
          </a:p>
        </p:txBody>
      </p:sp>
      <p:sp>
        <p:nvSpPr>
          <p:cNvPr id="260" name="Google Shape;260;g3dbc8342e06_2_1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bc8342e06_0_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dbc8342e06_0_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dbc8342e06_0_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bc8342e06_5_1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dbc8342e06_5_1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While our framework offers significant advancements, it's important to acknowledge its current limitations. Our dependency on high-quality 'golden' reasoning references means the framework's effectiveness is tied to the quality of these benchmarks. Also, while embedding-based comparisons are powerful, they might occasionally miss extremely subtle logical nuances. Finally, there's a computational overhead for large-scale consistency testing, which we're actively working to optimize. Looking ahead, we're excited to expand this framework to multi-modal reasoning, incorporating vision and text. We also plan to develop 'self-correcting' reasoning loops based on SLMS feedback, and scale our approach to even more diverse and niche technical domains. This continuous evolution will further strengthen our ability to evaluate and build truly trustworthy AI.</a:t>
            </a:r>
            <a:endParaRPr/>
          </a:p>
        </p:txBody>
      </p:sp>
      <p:sp>
        <p:nvSpPr>
          <p:cNvPr id="278" name="Google Shape;278;g3dbc8342e06_5_1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bc8342e06_2_2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dbc8342e06_2_20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In conclusion, we've developed a robust framework that goes beyond mere accuracy to evaluate the quality of AI reasoning. This framework is critical for building trustworthy AI, especially in high-stakes domains. We've built a system with five interpretable metrics and interactive dashboards for detailed reasoning comparison, supporting both API and open-source models. This work exposes the 'Rashomon Effect,' demonstrating that identical answers don't always mean identical, or equally sound, reasoning. This is paramount for fields like medicine, law, and engineering, where verifiable logic is non-negotiable. Our goal is to provide actionable insights, ensuring that we trust not just the answer, but the path taken to get there. As the question asks, 'Would you trust a model that got the right answer via flawed reasoning?'</a:t>
            </a:r>
            <a:endParaRPr/>
          </a:p>
        </p:txBody>
      </p:sp>
      <p:sp>
        <p:nvSpPr>
          <p:cNvPr id="302" name="Google Shape;302;g3dbc8342e06_2_20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bc8342e06_5_1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dbc8342e06_5_13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dbc8342e06_5_13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bc8342e06_5_1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dbc8342e06_5_1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dbc8342e06_5_1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bd24be4a7_2_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dbd24be4a7_2_4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3dbd24be4a7_2_4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dbd24be4a7_2_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3dbd24be4a7_2_6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dbd24be4a7_2_6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bd24be4a7_2_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dbd24be4a7_2_7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g3dbd24be4a7_2_7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bc8342e06_5_1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3dbc8342e06_5_16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g3dbc8342e06_5_16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descr="preencoded.png" id="57" name="Google Shape;57;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8" name="Google Shape;58;p15"/>
          <p:cNvSpPr/>
          <p:nvPr/>
        </p:nvSpPr>
        <p:spPr>
          <a:xfrm>
            <a:off x="0" y="0"/>
            <a:ext cx="5400675" cy="51435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p:nvPr/>
        </p:nvSpPr>
        <p:spPr>
          <a:xfrm>
            <a:off x="571500" y="571500"/>
            <a:ext cx="4543425" cy="2071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1200"/>
              <a:buFont typeface="Inter SemiBold"/>
              <a:buNone/>
            </a:pPr>
            <a:r>
              <a:rPr b="0" i="0" lang="en-GB" sz="1200" u="none" cap="none" strike="noStrike">
                <a:solidFill>
                  <a:srgbClr val="3182CE"/>
                </a:solidFill>
                <a:latin typeface="Inter SemiBold"/>
                <a:ea typeface="Inter SemiBold"/>
                <a:cs typeface="Inter SemiBold"/>
                <a:sym typeface="Inter SemiBold"/>
              </a:rPr>
              <a:t>RESEARCH PRESENTATION</a:t>
            </a:r>
            <a:endParaRPr b="0" i="0" sz="1200" u="none" cap="none" strike="noStrike">
              <a:solidFill>
                <a:schemeClr val="dk1"/>
              </a:solidFill>
              <a:latin typeface="Calibri"/>
              <a:ea typeface="Calibri"/>
              <a:cs typeface="Calibri"/>
              <a:sym typeface="Calibri"/>
            </a:endParaRPr>
          </a:p>
        </p:txBody>
      </p:sp>
      <p:sp>
        <p:nvSpPr>
          <p:cNvPr id="60" name="Google Shape;60;p15"/>
          <p:cNvSpPr/>
          <p:nvPr/>
        </p:nvSpPr>
        <p:spPr>
          <a:xfrm>
            <a:off x="571500" y="835819"/>
            <a:ext cx="4543425" cy="1320115"/>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2850"/>
              <a:buFont typeface="Montserrat"/>
              <a:buNone/>
            </a:pPr>
            <a:r>
              <a:rPr b="1" i="0" lang="en-GB" sz="2850" u="none" cap="none" strike="noStrike">
                <a:solidFill>
                  <a:srgbClr val="FFFFFF"/>
                </a:solidFill>
                <a:latin typeface="Montserrat"/>
                <a:ea typeface="Montserrat"/>
                <a:cs typeface="Montserrat"/>
                <a:sym typeface="Montserrat"/>
              </a:rPr>
              <a:t>Evaluation and Recommendation Framework for LLMs</a:t>
            </a:r>
            <a:endParaRPr b="0" i="0" sz="2850" u="none" cap="none" strike="noStrike">
              <a:solidFill>
                <a:schemeClr val="dk1"/>
              </a:solidFill>
              <a:latin typeface="Calibri"/>
              <a:ea typeface="Calibri"/>
              <a:cs typeface="Calibri"/>
              <a:sym typeface="Calibri"/>
            </a:endParaRPr>
          </a:p>
        </p:txBody>
      </p:sp>
      <p:sp>
        <p:nvSpPr>
          <p:cNvPr id="61" name="Google Shape;61;p15"/>
          <p:cNvSpPr/>
          <p:nvPr/>
        </p:nvSpPr>
        <p:spPr>
          <a:xfrm>
            <a:off x="5400675" y="0"/>
            <a:ext cx="3743325" cy="5143500"/>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5829300" y="485775"/>
            <a:ext cx="3028950"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900"/>
              <a:buFont typeface="Inter SemiBold"/>
              <a:buNone/>
            </a:pPr>
            <a:r>
              <a:rPr b="0" i="0" lang="en-GB" sz="900" u="none" cap="none" strike="noStrike">
                <a:solidFill>
                  <a:srgbClr val="0A2342"/>
                </a:solidFill>
                <a:latin typeface="Inter SemiBold"/>
                <a:ea typeface="Inter SemiBold"/>
                <a:cs typeface="Inter SemiBold"/>
                <a:sym typeface="Inter SemiBold"/>
              </a:rPr>
              <a:t>PRESENTED BY</a:t>
            </a:r>
            <a:endParaRPr b="0" i="0" sz="900" u="none" cap="none" strike="noStrike">
              <a:solidFill>
                <a:schemeClr val="dk1"/>
              </a:solidFill>
              <a:latin typeface="Calibri"/>
              <a:ea typeface="Calibri"/>
              <a:cs typeface="Calibri"/>
              <a:sym typeface="Calibri"/>
            </a:endParaRPr>
          </a:p>
        </p:txBody>
      </p:sp>
      <p:sp>
        <p:nvSpPr>
          <p:cNvPr id="63" name="Google Shape;63;p15"/>
          <p:cNvSpPr/>
          <p:nvPr/>
        </p:nvSpPr>
        <p:spPr>
          <a:xfrm>
            <a:off x="5829300" y="684014"/>
            <a:ext cx="3028950" cy="242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3748"/>
              </a:buClr>
              <a:buSzPts val="1500"/>
              <a:buFont typeface="Inter"/>
              <a:buNone/>
            </a:pPr>
            <a:r>
              <a:rPr b="0" i="0" lang="en-GB" sz="1500" u="none" cap="none" strike="noStrike">
                <a:solidFill>
                  <a:srgbClr val="2D3748"/>
                </a:solidFill>
                <a:latin typeface="Inter"/>
                <a:ea typeface="Inter"/>
                <a:cs typeface="Inter"/>
                <a:sym typeface="Inter"/>
              </a:rPr>
              <a:t>Pranika, Varun, Mihir</a:t>
            </a:r>
            <a:endParaRPr b="0" i="0" sz="1500" u="none" cap="none" strike="noStrike">
              <a:solidFill>
                <a:schemeClr val="dk1"/>
              </a:solidFill>
              <a:latin typeface="Calibri"/>
              <a:ea typeface="Calibri"/>
              <a:cs typeface="Calibri"/>
              <a:sym typeface="Calibri"/>
            </a:endParaRPr>
          </a:p>
        </p:txBody>
      </p:sp>
      <p:sp>
        <p:nvSpPr>
          <p:cNvPr id="64" name="Google Shape;64;p15"/>
          <p:cNvSpPr/>
          <p:nvPr/>
        </p:nvSpPr>
        <p:spPr>
          <a:xfrm>
            <a:off x="5829300" y="1012627"/>
            <a:ext cx="3028950"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900"/>
              <a:buFont typeface="Inter SemiBold"/>
              <a:buNone/>
            </a:pPr>
            <a:r>
              <a:rPr b="0" i="0" lang="en-GB" sz="900" u="none" cap="none" strike="noStrike">
                <a:solidFill>
                  <a:srgbClr val="0A2342"/>
                </a:solidFill>
                <a:latin typeface="Inter SemiBold"/>
                <a:ea typeface="Inter SemiBold"/>
                <a:cs typeface="Inter SemiBold"/>
                <a:sym typeface="Inter SemiBold"/>
              </a:rPr>
              <a:t>COURSE</a:t>
            </a:r>
            <a:endParaRPr b="0" i="0" sz="900" u="none" cap="none" strike="noStrike">
              <a:solidFill>
                <a:schemeClr val="dk1"/>
              </a:solidFill>
              <a:latin typeface="Calibri"/>
              <a:ea typeface="Calibri"/>
              <a:cs typeface="Calibri"/>
              <a:sym typeface="Calibri"/>
            </a:endParaRPr>
          </a:p>
        </p:txBody>
      </p:sp>
      <p:sp>
        <p:nvSpPr>
          <p:cNvPr id="65" name="Google Shape;65;p15"/>
          <p:cNvSpPr/>
          <p:nvPr/>
        </p:nvSpPr>
        <p:spPr>
          <a:xfrm>
            <a:off x="5829300" y="1210866"/>
            <a:ext cx="3028950" cy="1732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18096"/>
              </a:buClr>
              <a:buSzPts val="1050"/>
              <a:buFont typeface="Inter"/>
              <a:buNone/>
            </a:pPr>
            <a:r>
              <a:rPr b="0" i="0" lang="en-GB" sz="1050" u="none" cap="none" strike="noStrike">
                <a:solidFill>
                  <a:srgbClr val="718096"/>
                </a:solidFill>
                <a:latin typeface="Inter"/>
                <a:ea typeface="Inter"/>
                <a:cs typeface="Inter"/>
                <a:sym typeface="Inter"/>
              </a:rPr>
              <a:t>CS 671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descr="preencoded.png" id="71" name="Google Shape;71;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2" name="Google Shape;72;p16"/>
          <p:cNvSpPr/>
          <p:nvPr/>
        </p:nvSpPr>
        <p:spPr>
          <a:xfrm>
            <a:off x="0" y="0"/>
            <a:ext cx="9144000" cy="1285875"/>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p:nvPr/>
        </p:nvSpPr>
        <p:spPr>
          <a:xfrm>
            <a:off x="428625" y="576858"/>
            <a:ext cx="828675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Motivation and Context</a:t>
            </a:r>
            <a:endParaRPr b="0" i="0" sz="2450" u="none" cap="none" strike="noStrike">
              <a:solidFill>
                <a:schemeClr val="dk1"/>
              </a:solidFill>
              <a:latin typeface="Calibri"/>
              <a:ea typeface="Calibri"/>
              <a:cs typeface="Calibri"/>
              <a:sym typeface="Calibri"/>
            </a:endParaRPr>
          </a:p>
        </p:txBody>
      </p:sp>
      <p:sp>
        <p:nvSpPr>
          <p:cNvPr id="74" name="Google Shape;74;p16"/>
          <p:cNvSpPr/>
          <p:nvPr/>
        </p:nvSpPr>
        <p:spPr>
          <a:xfrm>
            <a:off x="428625" y="1571625"/>
            <a:ext cx="4000500" cy="1716174"/>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571500" y="1714500"/>
            <a:ext cx="1146572" cy="230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250"/>
              <a:buFont typeface="Montserrat"/>
              <a:buNone/>
            </a:pPr>
            <a:r>
              <a:rPr b="1" i="0" lang="en-GB" sz="1250" u="none" cap="none" strike="noStrike">
                <a:solidFill>
                  <a:srgbClr val="0A2342"/>
                </a:solidFill>
                <a:latin typeface="Montserrat"/>
                <a:ea typeface="Montserrat"/>
                <a:cs typeface="Montserrat"/>
                <a:sym typeface="Montserrat"/>
              </a:rPr>
              <a:t>The Problem</a:t>
            </a:r>
            <a:endParaRPr b="0" i="0" sz="1250" u="none" cap="none" strike="noStrike">
              <a:solidFill>
                <a:schemeClr val="dk1"/>
              </a:solidFill>
              <a:latin typeface="Calibri"/>
              <a:ea typeface="Calibri"/>
              <a:cs typeface="Calibri"/>
              <a:sym typeface="Calibri"/>
            </a:endParaRPr>
          </a:p>
        </p:txBody>
      </p:sp>
      <p:sp>
        <p:nvSpPr>
          <p:cNvPr id="76" name="Google Shape;76;p16"/>
          <p:cNvSpPr/>
          <p:nvPr/>
        </p:nvSpPr>
        <p:spPr>
          <a:xfrm>
            <a:off x="857250" y="2073473"/>
            <a:ext cx="3421856" cy="617153"/>
          </a:xfrm>
          <a:prstGeom prst="rect">
            <a:avLst/>
          </a:prstGeom>
          <a:noFill/>
          <a:ln>
            <a:noFill/>
          </a:ln>
        </p:spPr>
        <p:txBody>
          <a:bodyPr anchorCtr="0" anchor="t" bIns="0" lIns="212575" spcFirstLastPara="1" rIns="0" wrap="square" tIns="0">
            <a:noAutofit/>
          </a:bodyPr>
          <a:lstStyle/>
          <a:p>
            <a:pPr indent="0" lvl="0" marL="0" marR="0" rtl="0" algn="l">
              <a:lnSpc>
                <a:spcPct val="128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LLMs are used in </a:t>
            </a:r>
            <a:r>
              <a:rPr b="0" i="0" lang="en-GB" sz="900" u="none" cap="none" strike="noStrike">
                <a:solidFill>
                  <a:srgbClr val="3182CE"/>
                </a:solidFill>
                <a:latin typeface="Inter SemiBold"/>
                <a:ea typeface="Inter SemiBold"/>
                <a:cs typeface="Inter SemiBold"/>
                <a:sym typeface="Inter SemiBold"/>
              </a:rPr>
              <a:t>high-stakes domains</a:t>
            </a:r>
            <a:r>
              <a:rPr b="0" i="0" lang="en-GB" sz="950" u="none" cap="none" strike="noStrike">
                <a:solidFill>
                  <a:srgbClr val="2D3748"/>
                </a:solidFill>
                <a:latin typeface="Inter"/>
                <a:ea typeface="Inter"/>
                <a:cs typeface="Inter"/>
                <a:sym typeface="Inter"/>
              </a:rPr>
              <a:t> (Medical, Legal) where the "how" matters as much as the "what."</a:t>
            </a:r>
            <a:endParaRPr b="0" i="0" sz="950" u="none" cap="none" strike="noStrike">
              <a:solidFill>
                <a:schemeClr val="dk1"/>
              </a:solidFill>
              <a:latin typeface="Calibri"/>
              <a:ea typeface="Calibri"/>
              <a:cs typeface="Calibri"/>
              <a:sym typeface="Calibri"/>
            </a:endParaRPr>
          </a:p>
        </p:txBody>
      </p:sp>
      <p:sp>
        <p:nvSpPr>
          <p:cNvPr id="77" name="Google Shape;77;p16"/>
          <p:cNvSpPr/>
          <p:nvPr/>
        </p:nvSpPr>
        <p:spPr>
          <a:xfrm>
            <a:off x="857250" y="2776351"/>
            <a:ext cx="3421856" cy="411435"/>
          </a:xfrm>
          <a:prstGeom prst="rect">
            <a:avLst/>
          </a:prstGeom>
          <a:noFill/>
          <a:ln>
            <a:noFill/>
          </a:ln>
        </p:spPr>
        <p:txBody>
          <a:bodyPr anchorCtr="0" anchor="t" bIns="0" lIns="212575" spcFirstLastPara="1" rIns="0" wrap="square" tIns="0">
            <a:noAutofit/>
          </a:bodyPr>
          <a:lstStyle/>
          <a:p>
            <a:pPr indent="0" lvl="0" marL="0" marR="0" rtl="0" algn="l">
              <a:lnSpc>
                <a:spcPct val="128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Current evaluations focus on </a:t>
            </a:r>
            <a:r>
              <a:rPr b="0" i="0" lang="en-GB" sz="900" u="none" cap="none" strike="noStrike">
                <a:solidFill>
                  <a:srgbClr val="3182CE"/>
                </a:solidFill>
                <a:latin typeface="Inter SemiBold"/>
                <a:ea typeface="Inter SemiBold"/>
                <a:cs typeface="Inter SemiBold"/>
                <a:sym typeface="Inter SemiBold"/>
              </a:rPr>
              <a:t>final answer accuracy</a:t>
            </a:r>
            <a:r>
              <a:rPr b="0" i="0" lang="en-GB" sz="950" u="none" cap="none" strike="noStrike">
                <a:solidFill>
                  <a:srgbClr val="2D3748"/>
                </a:solidFill>
                <a:latin typeface="Inter"/>
                <a:ea typeface="Inter"/>
                <a:cs typeface="Inter"/>
                <a:sym typeface="Inter"/>
              </a:rPr>
              <a:t>, ignoring the logical path.</a:t>
            </a:r>
            <a:endParaRPr b="0" i="0" sz="950" u="none" cap="none" strike="noStrike">
              <a:solidFill>
                <a:schemeClr val="dk1"/>
              </a:solidFill>
              <a:latin typeface="Calibri"/>
              <a:ea typeface="Calibri"/>
              <a:cs typeface="Calibri"/>
              <a:sym typeface="Calibri"/>
            </a:endParaRPr>
          </a:p>
        </p:txBody>
      </p:sp>
      <p:sp>
        <p:nvSpPr>
          <p:cNvPr id="78" name="Google Shape;78;p16"/>
          <p:cNvSpPr/>
          <p:nvPr/>
        </p:nvSpPr>
        <p:spPr>
          <a:xfrm>
            <a:off x="4707731" y="1571625"/>
            <a:ext cx="4007644" cy="1701887"/>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857250" y="2073473"/>
            <a:ext cx="64294" cy="20571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80" name="Google Shape;80;p16"/>
          <p:cNvSpPr/>
          <p:nvPr/>
        </p:nvSpPr>
        <p:spPr>
          <a:xfrm>
            <a:off x="857250" y="2776351"/>
            <a:ext cx="64294" cy="20571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81" name="Google Shape;81;p16"/>
          <p:cNvSpPr/>
          <p:nvPr/>
        </p:nvSpPr>
        <p:spPr>
          <a:xfrm>
            <a:off x="4857750" y="1714500"/>
            <a:ext cx="1927027" cy="230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250"/>
              <a:buFont typeface="Montserrat"/>
              <a:buNone/>
            </a:pPr>
            <a:r>
              <a:rPr b="1" i="0" lang="en-GB" sz="1250" u="none" cap="none" strike="noStrike">
                <a:solidFill>
                  <a:srgbClr val="0A2342"/>
                </a:solidFill>
                <a:latin typeface="Montserrat"/>
                <a:ea typeface="Montserrat"/>
                <a:cs typeface="Montserrat"/>
                <a:sym typeface="Montserrat"/>
              </a:rPr>
              <a:t>The Rashomon Effect</a:t>
            </a:r>
            <a:endParaRPr b="0" i="0" sz="1250" u="none" cap="none" strike="noStrike">
              <a:solidFill>
                <a:schemeClr val="dk1"/>
              </a:solidFill>
              <a:latin typeface="Calibri"/>
              <a:ea typeface="Calibri"/>
              <a:cs typeface="Calibri"/>
              <a:sym typeface="Calibri"/>
            </a:endParaRPr>
          </a:p>
        </p:txBody>
      </p:sp>
      <p:sp>
        <p:nvSpPr>
          <p:cNvPr id="82" name="Google Shape;82;p16"/>
          <p:cNvSpPr/>
          <p:nvPr/>
        </p:nvSpPr>
        <p:spPr>
          <a:xfrm>
            <a:off x="5143500" y="2073473"/>
            <a:ext cx="3429000" cy="411435"/>
          </a:xfrm>
          <a:prstGeom prst="rect">
            <a:avLst/>
          </a:prstGeom>
          <a:noFill/>
          <a:ln>
            <a:noFill/>
          </a:ln>
        </p:spPr>
        <p:txBody>
          <a:bodyPr anchorCtr="0" anchor="t" bIns="0" lIns="212575" spcFirstLastPara="1" rIns="0" wrap="square" tIns="0">
            <a:noAutofit/>
          </a:bodyPr>
          <a:lstStyle/>
          <a:p>
            <a:pPr indent="0" lvl="0" marL="0" marR="0" rtl="0" algn="l">
              <a:lnSpc>
                <a:spcPct val="128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Models reach the </a:t>
            </a:r>
            <a:r>
              <a:rPr b="0" i="0" lang="en-GB" sz="900" u="none" cap="none" strike="noStrike">
                <a:solidFill>
                  <a:srgbClr val="3182CE"/>
                </a:solidFill>
                <a:latin typeface="Inter SemiBold"/>
                <a:ea typeface="Inter SemiBold"/>
                <a:cs typeface="Inter SemiBold"/>
                <a:sym typeface="Inter SemiBold"/>
              </a:rPr>
              <a:t>same correct answer</a:t>
            </a:r>
            <a:r>
              <a:rPr b="0" i="0" lang="en-GB" sz="950" u="none" cap="none" strike="noStrike">
                <a:solidFill>
                  <a:srgbClr val="2D3748"/>
                </a:solidFill>
                <a:latin typeface="Inter"/>
                <a:ea typeface="Inter"/>
                <a:cs typeface="Inter"/>
                <a:sym typeface="Inter"/>
              </a:rPr>
              <a:t> via conflicting or flawed reasoning paths.</a:t>
            </a:r>
            <a:endParaRPr b="0" i="0" sz="950" u="none" cap="none" strike="noStrike">
              <a:solidFill>
                <a:schemeClr val="dk1"/>
              </a:solidFill>
              <a:latin typeface="Calibri"/>
              <a:ea typeface="Calibri"/>
              <a:cs typeface="Calibri"/>
              <a:sym typeface="Calibri"/>
            </a:endParaRPr>
          </a:p>
        </p:txBody>
      </p:sp>
      <p:sp>
        <p:nvSpPr>
          <p:cNvPr id="83" name="Google Shape;83;p16"/>
          <p:cNvSpPr/>
          <p:nvPr/>
        </p:nvSpPr>
        <p:spPr>
          <a:xfrm>
            <a:off x="5143500" y="2570634"/>
            <a:ext cx="3429000" cy="411435"/>
          </a:xfrm>
          <a:prstGeom prst="rect">
            <a:avLst/>
          </a:prstGeom>
          <a:noFill/>
          <a:ln>
            <a:noFill/>
          </a:ln>
        </p:spPr>
        <p:txBody>
          <a:bodyPr anchorCtr="0" anchor="t" bIns="0" lIns="212575" spcFirstLastPara="1" rIns="0" wrap="square" tIns="0">
            <a:noAutofit/>
          </a:bodyPr>
          <a:lstStyle/>
          <a:p>
            <a:pPr indent="0" lvl="0" marL="0" marR="0" rtl="0" algn="l">
              <a:lnSpc>
                <a:spcPct val="128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A correct answer from flawed logic is a </a:t>
            </a:r>
            <a:r>
              <a:rPr b="0" i="0" lang="en-GB" sz="900" u="none" cap="none" strike="noStrike">
                <a:solidFill>
                  <a:srgbClr val="3182CE"/>
                </a:solidFill>
                <a:latin typeface="Inter SemiBold"/>
                <a:ea typeface="Inter SemiBold"/>
                <a:cs typeface="Inter SemiBold"/>
                <a:sym typeface="Inter SemiBold"/>
              </a:rPr>
              <a:t>liability</a:t>
            </a:r>
            <a:r>
              <a:rPr b="0" i="0" lang="en-GB" sz="950" u="none" cap="none" strike="noStrike">
                <a:solidFill>
                  <a:srgbClr val="2D3748"/>
                </a:solidFill>
                <a:latin typeface="Inter"/>
                <a:ea typeface="Inter"/>
                <a:cs typeface="Inter"/>
                <a:sym typeface="Inter"/>
              </a:rPr>
              <a:t>, not an asset.</a:t>
            </a:r>
            <a:endParaRPr b="0" i="0" sz="950" u="none" cap="none" strike="noStrike">
              <a:solidFill>
                <a:schemeClr val="dk1"/>
              </a:solidFill>
              <a:latin typeface="Calibri"/>
              <a:ea typeface="Calibri"/>
              <a:cs typeface="Calibri"/>
              <a:sym typeface="Calibri"/>
            </a:endParaRPr>
          </a:p>
        </p:txBody>
      </p:sp>
      <p:sp>
        <p:nvSpPr>
          <p:cNvPr id="84" name="Google Shape;84;p16"/>
          <p:cNvSpPr/>
          <p:nvPr/>
        </p:nvSpPr>
        <p:spPr>
          <a:xfrm>
            <a:off x="5143500" y="2073473"/>
            <a:ext cx="64294" cy="20571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85" name="Google Shape;85;p16"/>
          <p:cNvSpPr/>
          <p:nvPr/>
        </p:nvSpPr>
        <p:spPr>
          <a:xfrm>
            <a:off x="5143500" y="2570634"/>
            <a:ext cx="64294" cy="20571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preencoded.png" id="91" name="Google Shape;91;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2" name="Google Shape;92;p17"/>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Research/project question</a:t>
            </a:r>
            <a:endParaRPr b="0" i="0" sz="2450" u="none" cap="none" strike="noStrike">
              <a:solidFill>
                <a:schemeClr val="dk1"/>
              </a:solidFill>
              <a:latin typeface="Calibri"/>
              <a:ea typeface="Calibri"/>
              <a:cs typeface="Calibri"/>
              <a:sym typeface="Calibri"/>
            </a:endParaRPr>
          </a:p>
        </p:txBody>
      </p:sp>
      <p:sp>
        <p:nvSpPr>
          <p:cNvPr id="94" name="Google Shape;94;p17"/>
          <p:cNvSpPr/>
          <p:nvPr/>
        </p:nvSpPr>
        <p:spPr>
          <a:xfrm>
            <a:off x="857250" y="1714500"/>
            <a:ext cx="7429500" cy="1302953"/>
          </a:xfrm>
          <a:prstGeom prst="rect">
            <a:avLst/>
          </a:prstGeom>
          <a:solidFill>
            <a:srgbClr val="F8FAFC"/>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p:nvPr/>
        </p:nvSpPr>
        <p:spPr>
          <a:xfrm>
            <a:off x="1143000" y="2000250"/>
            <a:ext cx="6858000" cy="100291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0A2342"/>
              </a:buClr>
              <a:buSzPts val="1900"/>
              <a:buFont typeface="Montserrat"/>
              <a:buNone/>
            </a:pPr>
            <a:r>
              <a:rPr b="1" i="0" lang="en-GB" sz="1900" u="none" cap="none" strike="noStrike">
                <a:solidFill>
                  <a:srgbClr val="0A2342"/>
                </a:solidFill>
                <a:latin typeface="Montserrat"/>
                <a:ea typeface="Montserrat"/>
                <a:cs typeface="Montserrat"/>
                <a:sym typeface="Montserrat"/>
              </a:rPr>
              <a:t>How can we quantitatively evaluate and verify the alignment of LLM reasoning paths with established logical standards?</a:t>
            </a:r>
            <a:endParaRPr b="0" i="0" sz="1900" u="none" cap="none" strike="noStrike">
              <a:solidFill>
                <a:schemeClr val="dk1"/>
              </a:solidFill>
              <a:latin typeface="Calibri"/>
              <a:ea typeface="Calibri"/>
              <a:cs typeface="Calibri"/>
              <a:sym typeface="Calibri"/>
            </a:endParaRPr>
          </a:p>
        </p:txBody>
      </p:sp>
      <p:sp>
        <p:nvSpPr>
          <p:cNvPr id="96" name="Google Shape;96;p17"/>
          <p:cNvSpPr/>
          <p:nvPr/>
        </p:nvSpPr>
        <p:spPr>
          <a:xfrm>
            <a:off x="857250" y="3431791"/>
            <a:ext cx="2333634" cy="578644"/>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4A5568"/>
              </a:buClr>
              <a:buSzPts val="950"/>
              <a:buFont typeface="Inter"/>
              <a:buNone/>
            </a:pPr>
            <a:r>
              <a:rPr b="0" i="0" lang="en-GB" sz="950" u="none" cap="none" strike="noStrike">
                <a:solidFill>
                  <a:srgbClr val="4A5568"/>
                </a:solidFill>
                <a:latin typeface="Inter"/>
                <a:ea typeface="Inter"/>
                <a:cs typeface="Inter"/>
                <a:sym typeface="Inter"/>
              </a:rPr>
              <a:t>Can we detect the Rashomon Effect where models get the right answer for the wrong reasons?</a:t>
            </a:r>
            <a:endParaRPr b="0" i="0" sz="950" u="none" cap="none" strike="noStrike">
              <a:solidFill>
                <a:schemeClr val="dk1"/>
              </a:solidFill>
              <a:latin typeface="Calibri"/>
              <a:ea typeface="Calibri"/>
              <a:cs typeface="Calibri"/>
              <a:sym typeface="Calibri"/>
            </a:endParaRPr>
          </a:p>
        </p:txBody>
      </p:sp>
      <p:sp>
        <p:nvSpPr>
          <p:cNvPr id="97" name="Google Shape;97;p17"/>
          <p:cNvSpPr/>
          <p:nvPr/>
        </p:nvSpPr>
        <p:spPr>
          <a:xfrm>
            <a:off x="3405197" y="3431791"/>
            <a:ext cx="2333634" cy="578644"/>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4A5568"/>
              </a:buClr>
              <a:buSzPts val="950"/>
              <a:buFont typeface="Inter"/>
              <a:buNone/>
            </a:pPr>
            <a:r>
              <a:rPr b="0" i="0" lang="en-GB" sz="950" u="none" cap="none" strike="noStrike">
                <a:solidFill>
                  <a:srgbClr val="4A5568"/>
                </a:solidFill>
                <a:latin typeface="Inter"/>
                <a:ea typeface="Inter"/>
                <a:cs typeface="Inter"/>
                <a:sym typeface="Inter"/>
              </a:rPr>
              <a:t>Is it possible to create a pluggable framework that ranks models based on reasoning integrity?</a:t>
            </a:r>
            <a:endParaRPr b="0" i="0" sz="950" u="none" cap="none" strike="noStrike">
              <a:solidFill>
                <a:schemeClr val="dk1"/>
              </a:solidFill>
              <a:latin typeface="Calibri"/>
              <a:ea typeface="Calibri"/>
              <a:cs typeface="Calibri"/>
              <a:sym typeface="Calibri"/>
            </a:endParaRPr>
          </a:p>
        </p:txBody>
      </p:sp>
      <p:sp>
        <p:nvSpPr>
          <p:cNvPr id="98" name="Google Shape;98;p17"/>
          <p:cNvSpPr/>
          <p:nvPr/>
        </p:nvSpPr>
        <p:spPr>
          <a:xfrm>
            <a:off x="5953144" y="3431791"/>
            <a:ext cx="2333634" cy="578644"/>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4A5568"/>
              </a:buClr>
              <a:buSzPts val="950"/>
              <a:buFont typeface="Inter"/>
              <a:buNone/>
            </a:pPr>
            <a:r>
              <a:rPr b="0" i="0" lang="en-GB" sz="950" u="none" cap="none" strike="noStrike">
                <a:solidFill>
                  <a:srgbClr val="4A5568"/>
                </a:solidFill>
                <a:latin typeface="Inter"/>
                <a:ea typeface="Inter"/>
                <a:cs typeface="Inter"/>
                <a:sym typeface="Inter"/>
              </a:rPr>
              <a:t>How do we balance reasoning depth with computational and API cost efficiency?</a:t>
            </a:r>
            <a:endParaRPr b="0" i="0" sz="950" u="none" cap="none" strike="noStrike">
              <a:solidFill>
                <a:schemeClr val="dk1"/>
              </a:solidFill>
              <a:latin typeface="Calibri"/>
              <a:ea typeface="Calibri"/>
              <a:cs typeface="Calibri"/>
              <a:sym typeface="Calibri"/>
            </a:endParaRPr>
          </a:p>
        </p:txBody>
      </p:sp>
      <p:sp>
        <p:nvSpPr>
          <p:cNvPr id="99" name="Google Shape;99;p17"/>
          <p:cNvSpPr/>
          <p:nvPr/>
        </p:nvSpPr>
        <p:spPr>
          <a:xfrm>
            <a:off x="857250" y="3431791"/>
            <a:ext cx="128588"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100" name="Google Shape;100;p17"/>
          <p:cNvSpPr/>
          <p:nvPr/>
        </p:nvSpPr>
        <p:spPr>
          <a:xfrm>
            <a:off x="3405197" y="3431791"/>
            <a:ext cx="128588"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101" name="Google Shape;101;p17"/>
          <p:cNvSpPr/>
          <p:nvPr/>
        </p:nvSpPr>
        <p:spPr>
          <a:xfrm>
            <a:off x="5953144" y="3431791"/>
            <a:ext cx="128588"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preencoded.png" id="107" name="Google Shape;107;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8" name="Google Shape;108;p18"/>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8"/>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Core Evaluation Metrics (Part 1)</a:t>
            </a:r>
            <a:endParaRPr b="0" i="0" sz="2450" u="none" cap="none" strike="noStrike">
              <a:solidFill>
                <a:schemeClr val="dk1"/>
              </a:solidFill>
              <a:latin typeface="Calibri"/>
              <a:ea typeface="Calibri"/>
              <a:cs typeface="Calibri"/>
              <a:sym typeface="Calibri"/>
            </a:endParaRPr>
          </a:p>
        </p:txBody>
      </p:sp>
      <p:sp>
        <p:nvSpPr>
          <p:cNvPr id="110" name="Google Shape;110;p18"/>
          <p:cNvSpPr/>
          <p:nvPr/>
        </p:nvSpPr>
        <p:spPr>
          <a:xfrm>
            <a:off x="432197" y="1375172"/>
            <a:ext cx="1383236" cy="258961"/>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p:nvPr/>
        </p:nvSpPr>
        <p:spPr>
          <a:xfrm>
            <a:off x="432197" y="1375172"/>
            <a:ext cx="1383236" cy="258961"/>
          </a:xfrm>
          <a:prstGeom prst="rect">
            <a:avLst/>
          </a:prstGeom>
          <a:noFill/>
          <a:ln>
            <a:noFill/>
          </a:ln>
        </p:spPr>
        <p:txBody>
          <a:bodyPr anchorCtr="0" anchor="ctr" bIns="8500" lIns="102100" spcFirstLastPara="1" rIns="102100" wrap="square" tIns="85075">
            <a:noAutofit/>
          </a:bodyPr>
          <a:lstStyle/>
          <a:p>
            <a:pPr indent="0" lvl="0" marL="0" marR="0" rtl="0" algn="l">
              <a:spcBef>
                <a:spcPts val="0"/>
              </a:spcBef>
              <a:spcAft>
                <a:spcPts val="0"/>
              </a:spcAft>
              <a:buClr>
                <a:srgbClr val="FFFFFF"/>
              </a:buClr>
              <a:buSzPts val="1000"/>
              <a:buFont typeface="Montserrat"/>
              <a:buNone/>
            </a:pPr>
            <a:r>
              <a:rPr b="1" i="0" lang="en-GB" sz="1000" u="none" cap="none" strike="noStrike">
                <a:solidFill>
                  <a:srgbClr val="FFFFFF"/>
                </a:solidFill>
                <a:latin typeface="Montserrat"/>
                <a:ea typeface="Montserrat"/>
                <a:cs typeface="Montserrat"/>
                <a:sym typeface="Montserrat"/>
              </a:rPr>
              <a:t>Metric</a:t>
            </a:r>
            <a:endParaRPr b="0" i="0" sz="1000" u="none" cap="none" strike="noStrike">
              <a:solidFill>
                <a:schemeClr val="dk1"/>
              </a:solidFill>
              <a:latin typeface="Calibri"/>
              <a:ea typeface="Calibri"/>
              <a:cs typeface="Calibri"/>
              <a:sym typeface="Calibri"/>
            </a:endParaRPr>
          </a:p>
        </p:txBody>
      </p:sp>
      <p:sp>
        <p:nvSpPr>
          <p:cNvPr id="112" name="Google Shape;112;p18"/>
          <p:cNvSpPr/>
          <p:nvPr/>
        </p:nvSpPr>
        <p:spPr>
          <a:xfrm>
            <a:off x="1815433" y="1375172"/>
            <a:ext cx="1723569" cy="258961"/>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1815433" y="1375172"/>
            <a:ext cx="1723569" cy="258961"/>
          </a:xfrm>
          <a:prstGeom prst="rect">
            <a:avLst/>
          </a:prstGeom>
          <a:noFill/>
          <a:ln>
            <a:noFill/>
          </a:ln>
        </p:spPr>
        <p:txBody>
          <a:bodyPr anchorCtr="0" anchor="ctr" bIns="8500" lIns="102100" spcFirstLastPara="1" rIns="102100" wrap="square" tIns="85075">
            <a:noAutofit/>
          </a:bodyPr>
          <a:lstStyle/>
          <a:p>
            <a:pPr indent="0" lvl="0" marL="0" marR="0" rtl="0" algn="l">
              <a:spcBef>
                <a:spcPts val="0"/>
              </a:spcBef>
              <a:spcAft>
                <a:spcPts val="0"/>
              </a:spcAft>
              <a:buClr>
                <a:srgbClr val="FFFFFF"/>
              </a:buClr>
              <a:buSzPts val="1000"/>
              <a:buFont typeface="Montserrat"/>
              <a:buNone/>
            </a:pPr>
            <a:r>
              <a:rPr b="1" i="0" lang="en-GB" sz="1000" u="none" cap="none" strike="noStrike">
                <a:solidFill>
                  <a:srgbClr val="FFFFFF"/>
                </a:solidFill>
                <a:latin typeface="Montserrat"/>
                <a:ea typeface="Montserrat"/>
                <a:cs typeface="Montserrat"/>
                <a:sym typeface="Montserrat"/>
              </a:rPr>
              <a:t>Measures</a:t>
            </a:r>
            <a:endParaRPr b="0" i="0" sz="1000" u="none" cap="none" strike="noStrike">
              <a:solidFill>
                <a:schemeClr val="dk1"/>
              </a:solidFill>
              <a:latin typeface="Calibri"/>
              <a:ea typeface="Calibri"/>
              <a:cs typeface="Calibri"/>
              <a:sym typeface="Calibri"/>
            </a:endParaRPr>
          </a:p>
        </p:txBody>
      </p:sp>
      <p:sp>
        <p:nvSpPr>
          <p:cNvPr id="114" name="Google Shape;114;p18"/>
          <p:cNvSpPr/>
          <p:nvPr/>
        </p:nvSpPr>
        <p:spPr>
          <a:xfrm>
            <a:off x="3538556" y="1375172"/>
            <a:ext cx="2272885" cy="258961"/>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p:nvPr/>
        </p:nvSpPr>
        <p:spPr>
          <a:xfrm>
            <a:off x="3538556" y="1375172"/>
            <a:ext cx="2272885" cy="258961"/>
          </a:xfrm>
          <a:prstGeom prst="rect">
            <a:avLst/>
          </a:prstGeom>
          <a:noFill/>
          <a:ln>
            <a:noFill/>
          </a:ln>
        </p:spPr>
        <p:txBody>
          <a:bodyPr anchorCtr="0" anchor="ctr" bIns="8500" lIns="102100" spcFirstLastPara="1" rIns="102100" wrap="square" tIns="85075">
            <a:noAutofit/>
          </a:bodyPr>
          <a:lstStyle/>
          <a:p>
            <a:pPr indent="0" lvl="0" marL="0" marR="0" rtl="0" algn="l">
              <a:spcBef>
                <a:spcPts val="0"/>
              </a:spcBef>
              <a:spcAft>
                <a:spcPts val="0"/>
              </a:spcAft>
              <a:buClr>
                <a:srgbClr val="FFFFFF"/>
              </a:buClr>
              <a:buSzPts val="1000"/>
              <a:buFont typeface="Montserrat"/>
              <a:buNone/>
            </a:pPr>
            <a:r>
              <a:rPr b="1" i="0" lang="en-GB" sz="1000" u="none" cap="none" strike="noStrike">
                <a:solidFill>
                  <a:srgbClr val="FFFFFF"/>
                </a:solidFill>
                <a:latin typeface="Montserrat"/>
                <a:ea typeface="Montserrat"/>
                <a:cs typeface="Montserrat"/>
                <a:sym typeface="Montserrat"/>
              </a:rPr>
              <a:t>Formula / Approach</a:t>
            </a:r>
            <a:endParaRPr b="0" i="0" sz="1000" u="none" cap="none" strike="noStrike">
              <a:solidFill>
                <a:schemeClr val="dk1"/>
              </a:solidFill>
              <a:latin typeface="Calibri"/>
              <a:ea typeface="Calibri"/>
              <a:cs typeface="Calibri"/>
              <a:sym typeface="Calibri"/>
            </a:endParaRPr>
          </a:p>
        </p:txBody>
      </p:sp>
      <p:sp>
        <p:nvSpPr>
          <p:cNvPr id="116" name="Google Shape;116;p18"/>
          <p:cNvSpPr/>
          <p:nvPr/>
        </p:nvSpPr>
        <p:spPr>
          <a:xfrm>
            <a:off x="432197" y="1626989"/>
            <a:ext cx="1384325"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AAS (Answer Alignment)</a:t>
            </a:r>
            <a:endParaRPr b="0" i="0" sz="900" u="none" cap="none" strike="noStrike">
              <a:solidFill>
                <a:schemeClr val="dk1"/>
              </a:solidFill>
              <a:latin typeface="Calibri"/>
              <a:ea typeface="Calibri"/>
              <a:cs typeface="Calibri"/>
              <a:sym typeface="Calibri"/>
            </a:endParaRPr>
          </a:p>
        </p:txBody>
      </p:sp>
      <p:sp>
        <p:nvSpPr>
          <p:cNvPr id="117" name="Google Shape;117;p18"/>
          <p:cNvSpPr/>
          <p:nvPr/>
        </p:nvSpPr>
        <p:spPr>
          <a:xfrm>
            <a:off x="1816522" y="1626989"/>
            <a:ext cx="1721588"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Is the final answer correct?</a:t>
            </a:r>
            <a:endParaRPr b="0" i="0" sz="950" u="none" cap="none" strike="noStrike">
              <a:solidFill>
                <a:schemeClr val="dk1"/>
              </a:solidFill>
              <a:latin typeface="Calibri"/>
              <a:ea typeface="Calibri"/>
              <a:cs typeface="Calibri"/>
              <a:sym typeface="Calibri"/>
            </a:endParaRPr>
          </a:p>
        </p:txBody>
      </p:sp>
      <p:sp>
        <p:nvSpPr>
          <p:cNvPr id="118" name="Google Shape;118;p18"/>
          <p:cNvSpPr/>
          <p:nvPr/>
        </p:nvSpPr>
        <p:spPr>
          <a:xfrm>
            <a:off x="3538110" y="1626989"/>
            <a:ext cx="2273331"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3182CE"/>
              </a:buClr>
              <a:buSzPts val="900"/>
              <a:buFont typeface="Courier New"/>
              <a:buNone/>
            </a:pPr>
            <a:r>
              <a:rPr b="0" i="0" lang="en-GB" sz="900" u="none" cap="none" strike="noStrike">
                <a:solidFill>
                  <a:srgbClr val="3182CE"/>
                </a:solidFill>
                <a:latin typeface="Courier New"/>
                <a:ea typeface="Courier New"/>
                <a:cs typeface="Courier New"/>
                <a:sym typeface="Courier New"/>
              </a:rPr>
              <a:t>cosine_sim(model_ans, gold_ans)</a:t>
            </a:r>
            <a:endParaRPr b="0" i="0" sz="900" u="none" cap="none" strike="noStrike">
              <a:solidFill>
                <a:schemeClr val="dk1"/>
              </a:solidFill>
              <a:latin typeface="Calibri"/>
              <a:ea typeface="Calibri"/>
              <a:cs typeface="Calibri"/>
              <a:sym typeface="Calibri"/>
            </a:endParaRPr>
          </a:p>
        </p:txBody>
      </p:sp>
      <p:sp>
        <p:nvSpPr>
          <p:cNvPr id="119" name="Google Shape;119;p18"/>
          <p:cNvSpPr/>
          <p:nvPr/>
        </p:nvSpPr>
        <p:spPr>
          <a:xfrm>
            <a:off x="432197" y="2098477"/>
            <a:ext cx="1384325"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RAS (Reasoning Alignment)</a:t>
            </a:r>
            <a:endParaRPr b="0" i="0" sz="900" u="none" cap="none" strike="noStrike">
              <a:solidFill>
                <a:schemeClr val="dk1"/>
              </a:solidFill>
              <a:latin typeface="Calibri"/>
              <a:ea typeface="Calibri"/>
              <a:cs typeface="Calibri"/>
              <a:sym typeface="Calibri"/>
            </a:endParaRPr>
          </a:p>
        </p:txBody>
      </p:sp>
      <p:sp>
        <p:nvSpPr>
          <p:cNvPr id="120" name="Google Shape;120;p18"/>
          <p:cNvSpPr/>
          <p:nvPr/>
        </p:nvSpPr>
        <p:spPr>
          <a:xfrm>
            <a:off x="1816522" y="2098477"/>
            <a:ext cx="1721588"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Does reasoning match golden reference?</a:t>
            </a:r>
            <a:endParaRPr b="0" i="0" sz="950" u="none" cap="none" strike="noStrike">
              <a:solidFill>
                <a:schemeClr val="dk1"/>
              </a:solidFill>
              <a:latin typeface="Calibri"/>
              <a:ea typeface="Calibri"/>
              <a:cs typeface="Calibri"/>
              <a:sym typeface="Calibri"/>
            </a:endParaRPr>
          </a:p>
        </p:txBody>
      </p:sp>
      <p:sp>
        <p:nvSpPr>
          <p:cNvPr id="121" name="Google Shape;121;p18"/>
          <p:cNvSpPr/>
          <p:nvPr/>
        </p:nvSpPr>
        <p:spPr>
          <a:xfrm>
            <a:off x="3538110" y="2098477"/>
            <a:ext cx="2273331"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3182CE"/>
              </a:buClr>
              <a:buSzPts val="900"/>
              <a:buFont typeface="Courier New"/>
              <a:buNone/>
            </a:pPr>
            <a:r>
              <a:rPr b="0" i="0" lang="en-GB" sz="900" u="none" cap="none" strike="noStrike">
                <a:solidFill>
                  <a:srgbClr val="3182CE"/>
                </a:solidFill>
                <a:latin typeface="Courier New"/>
                <a:ea typeface="Courier New"/>
                <a:cs typeface="Courier New"/>
                <a:sym typeface="Courier New"/>
              </a:rPr>
              <a:t>cosine_sim(model_reas, gold_reas)</a:t>
            </a:r>
            <a:endParaRPr b="0" i="0" sz="900" u="none" cap="none" strike="noStrike">
              <a:solidFill>
                <a:schemeClr val="dk1"/>
              </a:solidFill>
              <a:latin typeface="Calibri"/>
              <a:ea typeface="Calibri"/>
              <a:cs typeface="Calibri"/>
              <a:sym typeface="Calibri"/>
            </a:endParaRPr>
          </a:p>
        </p:txBody>
      </p:sp>
      <p:sp>
        <p:nvSpPr>
          <p:cNvPr id="122" name="Google Shape;122;p18"/>
          <p:cNvSpPr/>
          <p:nvPr/>
        </p:nvSpPr>
        <p:spPr>
          <a:xfrm>
            <a:off x="432197" y="2569964"/>
            <a:ext cx="1384325"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SLMS (Step-Level Matching)</a:t>
            </a:r>
            <a:endParaRPr b="0" i="0" sz="900" u="none" cap="none" strike="noStrike">
              <a:solidFill>
                <a:schemeClr val="dk1"/>
              </a:solidFill>
              <a:latin typeface="Calibri"/>
              <a:ea typeface="Calibri"/>
              <a:cs typeface="Calibri"/>
              <a:sym typeface="Calibri"/>
            </a:endParaRPr>
          </a:p>
        </p:txBody>
      </p:sp>
      <p:sp>
        <p:nvSpPr>
          <p:cNvPr id="123" name="Google Shape;123;p18"/>
          <p:cNvSpPr/>
          <p:nvPr/>
        </p:nvSpPr>
        <p:spPr>
          <a:xfrm>
            <a:off x="1816522" y="2569964"/>
            <a:ext cx="1721588"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Does model cover all golden steps?</a:t>
            </a:r>
            <a:endParaRPr b="0" i="0" sz="950" u="none" cap="none" strike="noStrike">
              <a:solidFill>
                <a:schemeClr val="dk1"/>
              </a:solidFill>
              <a:latin typeface="Calibri"/>
              <a:ea typeface="Calibri"/>
              <a:cs typeface="Calibri"/>
              <a:sym typeface="Calibri"/>
            </a:endParaRPr>
          </a:p>
        </p:txBody>
      </p:sp>
      <p:sp>
        <p:nvSpPr>
          <p:cNvPr id="124" name="Google Shape;124;p18"/>
          <p:cNvSpPr/>
          <p:nvPr/>
        </p:nvSpPr>
        <p:spPr>
          <a:xfrm>
            <a:off x="3538110" y="2569964"/>
            <a:ext cx="2273331" cy="471488"/>
          </a:xfrm>
          <a:prstGeom prst="rect">
            <a:avLst/>
          </a:prstGeom>
          <a:noFill/>
          <a:ln>
            <a:noFill/>
          </a:ln>
        </p:spPr>
        <p:txBody>
          <a:bodyPr anchorCtr="0" anchor="ctr" bIns="8500" lIns="102100" spcFirstLastPara="1" rIns="102100" wrap="square" tIns="85075">
            <a:noAutofit/>
          </a:bodyPr>
          <a:lstStyle/>
          <a:p>
            <a:pPr indent="0" lvl="0" marL="0" marR="0" rtl="0" algn="l">
              <a:lnSpc>
                <a:spcPct val="120000"/>
              </a:lnSpc>
              <a:spcBef>
                <a:spcPts val="0"/>
              </a:spcBef>
              <a:spcAft>
                <a:spcPts val="0"/>
              </a:spcAft>
              <a:buClr>
                <a:srgbClr val="3182CE"/>
              </a:buClr>
              <a:buSzPts val="900"/>
              <a:buFont typeface="Courier New"/>
              <a:buNone/>
            </a:pPr>
            <a:r>
              <a:rPr b="0" i="0" lang="en-GB" sz="900" u="none" cap="none" strike="noStrike">
                <a:solidFill>
                  <a:srgbClr val="3182CE"/>
                </a:solidFill>
                <a:latin typeface="Courier New"/>
                <a:ea typeface="Courier New"/>
                <a:cs typeface="Courier New"/>
                <a:sym typeface="Courier New"/>
              </a:rPr>
              <a:t>Asymmetric step-by-step matching</a:t>
            </a:r>
            <a:endParaRPr b="0" i="0" sz="900" u="none" cap="none" strike="noStrike">
              <a:solidFill>
                <a:schemeClr val="dk1"/>
              </a:solidFill>
              <a:latin typeface="Calibri"/>
              <a:ea typeface="Calibri"/>
              <a:cs typeface="Calibri"/>
              <a:sym typeface="Calibri"/>
            </a:endParaRPr>
          </a:p>
        </p:txBody>
      </p:sp>
      <p:sp>
        <p:nvSpPr>
          <p:cNvPr id="125" name="Google Shape;125;p18"/>
          <p:cNvSpPr/>
          <p:nvPr/>
        </p:nvSpPr>
        <p:spPr>
          <a:xfrm>
            <a:off x="5986463" y="1400175"/>
            <a:ext cx="2651754" cy="992981"/>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p:nvPr/>
        </p:nvSpPr>
        <p:spPr>
          <a:xfrm>
            <a:off x="5986463" y="1400175"/>
            <a:ext cx="35719" cy="992981"/>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8"/>
          <p:cNvSpPr/>
          <p:nvPr/>
        </p:nvSpPr>
        <p:spPr>
          <a:xfrm>
            <a:off x="6100763" y="1485900"/>
            <a:ext cx="2423154" cy="1571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950"/>
              <a:buFont typeface="Montserrat"/>
              <a:buNone/>
            </a:pPr>
            <a:r>
              <a:rPr b="1" i="0" lang="en-GB" sz="950" u="none" cap="none" strike="noStrike">
                <a:solidFill>
                  <a:srgbClr val="0A2342"/>
                </a:solidFill>
                <a:latin typeface="Montserrat"/>
                <a:ea typeface="Montserrat"/>
                <a:cs typeface="Montserrat"/>
                <a:sym typeface="Montserrat"/>
              </a:rPr>
              <a:t>KEY INSIGHT</a:t>
            </a:r>
            <a:endParaRPr b="0" i="0" sz="950" u="none" cap="none" strike="noStrike">
              <a:solidFill>
                <a:schemeClr val="dk1"/>
              </a:solidFill>
              <a:latin typeface="Calibri"/>
              <a:ea typeface="Calibri"/>
              <a:cs typeface="Calibri"/>
              <a:sym typeface="Calibri"/>
            </a:endParaRPr>
          </a:p>
        </p:txBody>
      </p:sp>
      <p:sp>
        <p:nvSpPr>
          <p:cNvPr id="128" name="Google Shape;128;p18"/>
          <p:cNvSpPr/>
          <p:nvPr/>
        </p:nvSpPr>
        <p:spPr>
          <a:xfrm>
            <a:off x="6100763" y="1685925"/>
            <a:ext cx="2423154" cy="6215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3748"/>
              </a:buClr>
              <a:buSzPts val="900"/>
              <a:buFont typeface="Inter SemiBold"/>
              <a:buNone/>
            </a:pPr>
            <a:r>
              <a:rPr b="1" i="0" lang="en-GB" sz="900" u="none" cap="none" strike="noStrike">
                <a:solidFill>
                  <a:srgbClr val="2D3748"/>
                </a:solidFill>
                <a:latin typeface="Inter SemiBold"/>
                <a:ea typeface="Inter SemiBold"/>
                <a:cs typeface="Inter SemiBold"/>
                <a:sym typeface="Inter SemiBold"/>
              </a:rPr>
              <a:t>RAS is the Rashomon metric</a:t>
            </a:r>
            <a:r>
              <a:rPr b="0" i="0" lang="en-GB" sz="950" u="none" cap="none" strike="noStrike">
                <a:solidFill>
                  <a:srgbClr val="2D3748"/>
                </a:solidFill>
                <a:latin typeface="Inter"/>
                <a:ea typeface="Inter"/>
                <a:cs typeface="Inter"/>
                <a:sym typeface="Inter"/>
              </a:rPr>
              <a:t>—it reveals when two models reach the same answer via different reasoning paths, exposing flawed logic.</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1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5" name="Google Shape;135;p19"/>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9"/>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Core Evaluation Metrics (Part 2)</a:t>
            </a:r>
            <a:endParaRPr b="0" i="0" sz="2450" u="none" cap="none" strike="noStrike">
              <a:solidFill>
                <a:schemeClr val="dk1"/>
              </a:solidFill>
              <a:latin typeface="Calibri"/>
              <a:ea typeface="Calibri"/>
              <a:cs typeface="Calibri"/>
              <a:sym typeface="Calibri"/>
            </a:endParaRPr>
          </a:p>
        </p:txBody>
      </p:sp>
      <p:sp>
        <p:nvSpPr>
          <p:cNvPr id="137" name="Google Shape;137;p19"/>
          <p:cNvSpPr/>
          <p:nvPr/>
        </p:nvSpPr>
        <p:spPr>
          <a:xfrm>
            <a:off x="575072" y="1346597"/>
            <a:ext cx="2211660" cy="294680"/>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9"/>
          <p:cNvSpPr/>
          <p:nvPr/>
        </p:nvSpPr>
        <p:spPr>
          <a:xfrm>
            <a:off x="575072" y="1346597"/>
            <a:ext cx="2211660" cy="294680"/>
          </a:xfrm>
          <a:prstGeom prst="rect">
            <a:avLst/>
          </a:prstGeom>
          <a:noFill/>
          <a:ln>
            <a:noFill/>
          </a:ln>
        </p:spPr>
        <p:txBody>
          <a:bodyPr anchorCtr="0" anchor="ctr" bIns="68050" lIns="127500" spcFirstLastPara="1" rIns="127500" wrap="square" tIns="68050">
            <a:noAutofit/>
          </a:bodyPr>
          <a:lstStyle/>
          <a:p>
            <a:pPr indent="0" lvl="0" marL="0" marR="0" rtl="0" algn="l">
              <a:spcBef>
                <a:spcPts val="0"/>
              </a:spcBef>
              <a:spcAft>
                <a:spcPts val="0"/>
              </a:spcAft>
              <a:buClr>
                <a:srgbClr val="FFFFFF"/>
              </a:buClr>
              <a:buSzPts val="1000"/>
              <a:buFont typeface="Montserrat"/>
              <a:buNone/>
            </a:pPr>
            <a:r>
              <a:rPr b="1" i="0" lang="en-GB" sz="1000" u="none" cap="none" strike="noStrike">
                <a:solidFill>
                  <a:srgbClr val="FFFFFF"/>
                </a:solidFill>
                <a:latin typeface="Montserrat"/>
                <a:ea typeface="Montserrat"/>
                <a:cs typeface="Montserrat"/>
                <a:sym typeface="Montserrat"/>
              </a:rPr>
              <a:t>Metric</a:t>
            </a:r>
            <a:endParaRPr b="0" i="0" sz="1000" u="none" cap="none" strike="noStrike">
              <a:solidFill>
                <a:schemeClr val="dk1"/>
              </a:solidFill>
              <a:latin typeface="Calibri"/>
              <a:ea typeface="Calibri"/>
              <a:cs typeface="Calibri"/>
              <a:sym typeface="Calibri"/>
            </a:endParaRPr>
          </a:p>
        </p:txBody>
      </p:sp>
      <p:sp>
        <p:nvSpPr>
          <p:cNvPr id="139" name="Google Shape;139;p19"/>
          <p:cNvSpPr/>
          <p:nvPr/>
        </p:nvSpPr>
        <p:spPr>
          <a:xfrm>
            <a:off x="2786732" y="1346597"/>
            <a:ext cx="2590586" cy="294680"/>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9"/>
          <p:cNvSpPr/>
          <p:nvPr/>
        </p:nvSpPr>
        <p:spPr>
          <a:xfrm>
            <a:off x="2786732" y="1346597"/>
            <a:ext cx="2590586" cy="294680"/>
          </a:xfrm>
          <a:prstGeom prst="rect">
            <a:avLst/>
          </a:prstGeom>
          <a:noFill/>
          <a:ln>
            <a:noFill/>
          </a:ln>
        </p:spPr>
        <p:txBody>
          <a:bodyPr anchorCtr="0" anchor="ctr" bIns="68050" lIns="127500" spcFirstLastPara="1" rIns="127500" wrap="square" tIns="68050">
            <a:noAutofit/>
          </a:bodyPr>
          <a:lstStyle/>
          <a:p>
            <a:pPr indent="0" lvl="0" marL="0" marR="0" rtl="0" algn="l">
              <a:spcBef>
                <a:spcPts val="0"/>
              </a:spcBef>
              <a:spcAft>
                <a:spcPts val="0"/>
              </a:spcAft>
              <a:buClr>
                <a:srgbClr val="FFFFFF"/>
              </a:buClr>
              <a:buSzPts val="1000"/>
              <a:buFont typeface="Montserrat"/>
              <a:buNone/>
            </a:pPr>
            <a:r>
              <a:rPr b="1" i="0" lang="en-GB" sz="1000" u="none" cap="none" strike="noStrike">
                <a:solidFill>
                  <a:srgbClr val="FFFFFF"/>
                </a:solidFill>
                <a:latin typeface="Montserrat"/>
                <a:ea typeface="Montserrat"/>
                <a:cs typeface="Montserrat"/>
                <a:sym typeface="Montserrat"/>
              </a:rPr>
              <a:t>Measures</a:t>
            </a:r>
            <a:endParaRPr b="0" i="0" sz="1000" u="none" cap="none" strike="noStrike">
              <a:solidFill>
                <a:schemeClr val="dk1"/>
              </a:solidFill>
              <a:latin typeface="Calibri"/>
              <a:ea typeface="Calibri"/>
              <a:cs typeface="Calibri"/>
              <a:sym typeface="Calibri"/>
            </a:endParaRPr>
          </a:p>
        </p:txBody>
      </p:sp>
      <p:sp>
        <p:nvSpPr>
          <p:cNvPr id="141" name="Google Shape;141;p19"/>
          <p:cNvSpPr/>
          <p:nvPr/>
        </p:nvSpPr>
        <p:spPr>
          <a:xfrm>
            <a:off x="5377318" y="1346597"/>
            <a:ext cx="3191610" cy="294680"/>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9"/>
          <p:cNvSpPr/>
          <p:nvPr/>
        </p:nvSpPr>
        <p:spPr>
          <a:xfrm>
            <a:off x="5377318" y="1346597"/>
            <a:ext cx="3191610" cy="294680"/>
          </a:xfrm>
          <a:prstGeom prst="rect">
            <a:avLst/>
          </a:prstGeom>
          <a:noFill/>
          <a:ln>
            <a:noFill/>
          </a:ln>
        </p:spPr>
        <p:txBody>
          <a:bodyPr anchorCtr="0" anchor="ctr" bIns="68050" lIns="127500" spcFirstLastPara="1" rIns="127500" wrap="square" tIns="68050">
            <a:noAutofit/>
          </a:bodyPr>
          <a:lstStyle/>
          <a:p>
            <a:pPr indent="0" lvl="0" marL="0" marR="0" rtl="0" algn="l">
              <a:spcBef>
                <a:spcPts val="0"/>
              </a:spcBef>
              <a:spcAft>
                <a:spcPts val="0"/>
              </a:spcAft>
              <a:buClr>
                <a:srgbClr val="FFFFFF"/>
              </a:buClr>
              <a:buSzPts val="1000"/>
              <a:buFont typeface="Montserrat"/>
              <a:buNone/>
            </a:pPr>
            <a:r>
              <a:rPr b="1" i="0" lang="en-GB" sz="1000" u="none" cap="none" strike="noStrike">
                <a:solidFill>
                  <a:srgbClr val="FFFFFF"/>
                </a:solidFill>
                <a:latin typeface="Montserrat"/>
                <a:ea typeface="Montserrat"/>
                <a:cs typeface="Montserrat"/>
                <a:sym typeface="Montserrat"/>
              </a:rPr>
              <a:t>Formula / Approach</a:t>
            </a:r>
            <a:endParaRPr b="0" i="0" sz="1000" u="none" cap="none" strike="noStrike">
              <a:solidFill>
                <a:schemeClr val="dk1"/>
              </a:solidFill>
              <a:latin typeface="Calibri"/>
              <a:ea typeface="Calibri"/>
              <a:cs typeface="Calibri"/>
              <a:sym typeface="Calibri"/>
            </a:endParaRPr>
          </a:p>
        </p:txBody>
      </p:sp>
      <p:sp>
        <p:nvSpPr>
          <p:cNvPr id="143" name="Google Shape;143;p19"/>
          <p:cNvSpPr/>
          <p:nvPr/>
        </p:nvSpPr>
        <p:spPr>
          <a:xfrm>
            <a:off x="575072" y="1634133"/>
            <a:ext cx="2211660" cy="314325"/>
          </a:xfrm>
          <a:prstGeom prst="rect">
            <a:avLst/>
          </a:prstGeom>
          <a:noFill/>
          <a:ln>
            <a:noFill/>
          </a:ln>
        </p:spPr>
        <p:txBody>
          <a:bodyPr anchorCtr="0" anchor="ctr" bIns="68050" lIns="127500" spcFirstLastPara="1" rIns="127500" wrap="square" tIns="68050">
            <a:noAutofit/>
          </a:bodyPr>
          <a:lstStyle/>
          <a:p>
            <a:pPr indent="0" lvl="0" marL="0" marR="0" rtl="0" algn="l">
              <a:lnSpc>
                <a:spcPct val="120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CS (Consistency Score)</a:t>
            </a:r>
            <a:endParaRPr b="0" i="0" sz="900" u="none" cap="none" strike="noStrike">
              <a:solidFill>
                <a:schemeClr val="dk1"/>
              </a:solidFill>
              <a:latin typeface="Calibri"/>
              <a:ea typeface="Calibri"/>
              <a:cs typeface="Calibri"/>
              <a:sym typeface="Calibri"/>
            </a:endParaRPr>
          </a:p>
        </p:txBody>
      </p:sp>
      <p:sp>
        <p:nvSpPr>
          <p:cNvPr id="144" name="Google Shape;144;p19"/>
          <p:cNvSpPr/>
          <p:nvPr/>
        </p:nvSpPr>
        <p:spPr>
          <a:xfrm>
            <a:off x="2786732" y="1634133"/>
            <a:ext cx="2590586" cy="314325"/>
          </a:xfrm>
          <a:prstGeom prst="rect">
            <a:avLst/>
          </a:prstGeom>
          <a:noFill/>
          <a:ln>
            <a:noFill/>
          </a:ln>
        </p:spPr>
        <p:txBody>
          <a:bodyPr anchorCtr="0" anchor="ctr" bIns="68050" lIns="127500" spcFirstLastPara="1" rIns="127500" wrap="square" tIns="6805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Stability of reasoning across runs</a:t>
            </a:r>
            <a:endParaRPr b="0" i="0" sz="950" u="none" cap="none" strike="noStrike">
              <a:solidFill>
                <a:schemeClr val="dk1"/>
              </a:solidFill>
              <a:latin typeface="Calibri"/>
              <a:ea typeface="Calibri"/>
              <a:cs typeface="Calibri"/>
              <a:sym typeface="Calibri"/>
            </a:endParaRPr>
          </a:p>
        </p:txBody>
      </p:sp>
      <p:sp>
        <p:nvSpPr>
          <p:cNvPr id="145" name="Google Shape;145;p19"/>
          <p:cNvSpPr/>
          <p:nvPr/>
        </p:nvSpPr>
        <p:spPr>
          <a:xfrm>
            <a:off x="5377318" y="1634133"/>
            <a:ext cx="3191610" cy="314325"/>
          </a:xfrm>
          <a:prstGeom prst="rect">
            <a:avLst/>
          </a:prstGeom>
          <a:noFill/>
          <a:ln>
            <a:noFill/>
          </a:ln>
        </p:spPr>
        <p:txBody>
          <a:bodyPr anchorCtr="0" anchor="ctr" bIns="68050" lIns="127500" spcFirstLastPara="1" rIns="127500" wrap="square" tIns="68050">
            <a:noAutofit/>
          </a:bodyPr>
          <a:lstStyle/>
          <a:p>
            <a:pPr indent="0" lvl="0" marL="0" marR="0" rtl="0" algn="l">
              <a:lnSpc>
                <a:spcPct val="120000"/>
              </a:lnSpc>
              <a:spcBef>
                <a:spcPts val="0"/>
              </a:spcBef>
              <a:spcAft>
                <a:spcPts val="0"/>
              </a:spcAft>
              <a:buClr>
                <a:srgbClr val="3182CE"/>
              </a:buClr>
              <a:buSzPts val="900"/>
              <a:buFont typeface="Courier New"/>
              <a:buNone/>
            </a:pPr>
            <a:r>
              <a:rPr b="0" i="0" lang="en-GB" sz="900" u="none" cap="none" strike="noStrike">
                <a:solidFill>
                  <a:srgbClr val="3182CE"/>
                </a:solidFill>
                <a:latin typeface="Courier New"/>
                <a:ea typeface="Courier New"/>
                <a:cs typeface="Courier New"/>
                <a:sym typeface="Courier New"/>
              </a:rPr>
              <a:t>1 − variance(RAS₁, ..., RASₜ)</a:t>
            </a:r>
            <a:endParaRPr b="0" i="0" sz="900" u="none" cap="none" strike="noStrike">
              <a:solidFill>
                <a:schemeClr val="dk1"/>
              </a:solidFill>
              <a:latin typeface="Calibri"/>
              <a:ea typeface="Calibri"/>
              <a:cs typeface="Calibri"/>
              <a:sym typeface="Calibri"/>
            </a:endParaRPr>
          </a:p>
        </p:txBody>
      </p:sp>
      <p:sp>
        <p:nvSpPr>
          <p:cNvPr id="146" name="Google Shape;146;p19"/>
          <p:cNvSpPr/>
          <p:nvPr/>
        </p:nvSpPr>
        <p:spPr>
          <a:xfrm>
            <a:off x="575072" y="1948458"/>
            <a:ext cx="2211660" cy="314325"/>
          </a:xfrm>
          <a:prstGeom prst="rect">
            <a:avLst/>
          </a:prstGeom>
          <a:noFill/>
          <a:ln>
            <a:noFill/>
          </a:ln>
        </p:spPr>
        <p:txBody>
          <a:bodyPr anchorCtr="0" anchor="ctr" bIns="68050" lIns="127500" spcFirstLastPara="1" rIns="127500" wrap="square" tIns="68050">
            <a:noAutofit/>
          </a:bodyPr>
          <a:lstStyle/>
          <a:p>
            <a:pPr indent="0" lvl="0" marL="0" marR="0" rtl="0" algn="l">
              <a:lnSpc>
                <a:spcPct val="120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DKUS (Domain Knowledge)</a:t>
            </a:r>
            <a:endParaRPr b="0" i="0" sz="900" u="none" cap="none" strike="noStrike">
              <a:solidFill>
                <a:schemeClr val="dk1"/>
              </a:solidFill>
              <a:latin typeface="Calibri"/>
              <a:ea typeface="Calibri"/>
              <a:cs typeface="Calibri"/>
              <a:sym typeface="Calibri"/>
            </a:endParaRPr>
          </a:p>
        </p:txBody>
      </p:sp>
      <p:sp>
        <p:nvSpPr>
          <p:cNvPr id="147" name="Google Shape;147;p19"/>
          <p:cNvSpPr/>
          <p:nvPr/>
        </p:nvSpPr>
        <p:spPr>
          <a:xfrm>
            <a:off x="2786732" y="1948458"/>
            <a:ext cx="2590586" cy="314325"/>
          </a:xfrm>
          <a:prstGeom prst="rect">
            <a:avLst/>
          </a:prstGeom>
          <a:noFill/>
          <a:ln>
            <a:noFill/>
          </a:ln>
        </p:spPr>
        <p:txBody>
          <a:bodyPr anchorCtr="0" anchor="ctr" bIns="68050" lIns="127500" spcFirstLastPara="1" rIns="127500" wrap="square" tIns="6805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Utilization of domain concepts</a:t>
            </a:r>
            <a:endParaRPr b="0" i="0" sz="950" u="none" cap="none" strike="noStrike">
              <a:solidFill>
                <a:schemeClr val="dk1"/>
              </a:solidFill>
              <a:latin typeface="Calibri"/>
              <a:ea typeface="Calibri"/>
              <a:cs typeface="Calibri"/>
              <a:sym typeface="Calibri"/>
            </a:endParaRPr>
          </a:p>
        </p:txBody>
      </p:sp>
      <p:sp>
        <p:nvSpPr>
          <p:cNvPr id="148" name="Google Shape;148;p19"/>
          <p:cNvSpPr/>
          <p:nvPr/>
        </p:nvSpPr>
        <p:spPr>
          <a:xfrm>
            <a:off x="5377318" y="1948458"/>
            <a:ext cx="3191610" cy="314325"/>
          </a:xfrm>
          <a:prstGeom prst="rect">
            <a:avLst/>
          </a:prstGeom>
          <a:noFill/>
          <a:ln>
            <a:noFill/>
          </a:ln>
        </p:spPr>
        <p:txBody>
          <a:bodyPr anchorCtr="0" anchor="ctr" bIns="68050" lIns="127500" spcFirstLastPara="1" rIns="127500" wrap="square" tIns="68050">
            <a:noAutofit/>
          </a:bodyPr>
          <a:lstStyle/>
          <a:p>
            <a:pPr indent="0" lvl="0" marL="0" marR="0" rtl="0" algn="l">
              <a:lnSpc>
                <a:spcPct val="120000"/>
              </a:lnSpc>
              <a:spcBef>
                <a:spcPts val="0"/>
              </a:spcBef>
              <a:spcAft>
                <a:spcPts val="0"/>
              </a:spcAft>
              <a:buClr>
                <a:srgbClr val="3182CE"/>
              </a:buClr>
              <a:buSzPts val="900"/>
              <a:buFont typeface="Courier New"/>
              <a:buNone/>
            </a:pPr>
            <a:r>
              <a:rPr b="0" i="0" lang="en-GB" sz="900" u="none" cap="none" strike="noStrike">
                <a:solidFill>
                  <a:srgbClr val="3182CE"/>
                </a:solidFill>
                <a:latin typeface="Courier New"/>
                <a:ea typeface="Courier New"/>
                <a:cs typeface="Courier New"/>
                <a:sym typeface="Courier New"/>
              </a:rPr>
              <a:t>Concept overlap / Golden concepts</a:t>
            </a:r>
            <a:endParaRPr b="0" i="0" sz="900" u="none" cap="none" strike="noStrike">
              <a:solidFill>
                <a:schemeClr val="dk1"/>
              </a:solidFill>
              <a:latin typeface="Calibri"/>
              <a:ea typeface="Calibri"/>
              <a:cs typeface="Calibri"/>
              <a:sym typeface="Calibri"/>
            </a:endParaRPr>
          </a:p>
        </p:txBody>
      </p:sp>
      <p:sp>
        <p:nvSpPr>
          <p:cNvPr id="149" name="Google Shape;149;p19"/>
          <p:cNvSpPr/>
          <p:nvPr/>
        </p:nvSpPr>
        <p:spPr>
          <a:xfrm>
            <a:off x="571500" y="2409230"/>
            <a:ext cx="8001000" cy="935831"/>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714375" y="2516386"/>
            <a:ext cx="2252067" cy="2053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150"/>
              <a:buFont typeface="Montserrat"/>
              <a:buNone/>
            </a:pPr>
            <a:r>
              <a:rPr b="1" i="0" lang="en-GB" sz="1150" u="none" cap="none" strike="noStrike">
                <a:solidFill>
                  <a:srgbClr val="0A2342"/>
                </a:solidFill>
                <a:latin typeface="Montserrat"/>
                <a:ea typeface="Montserrat"/>
                <a:cs typeface="Montserrat"/>
                <a:sym typeface="Montserrat"/>
              </a:rPr>
              <a:t>FPS: Final Preference Score</a:t>
            </a:r>
            <a:endParaRPr b="0" i="0" sz="1150" u="none" cap="none" strike="noStrike">
              <a:solidFill>
                <a:schemeClr val="dk1"/>
              </a:solidFill>
              <a:latin typeface="Calibri"/>
              <a:ea typeface="Calibri"/>
              <a:cs typeface="Calibri"/>
              <a:sym typeface="Calibri"/>
            </a:endParaRPr>
          </a:p>
        </p:txBody>
      </p:sp>
      <p:sp>
        <p:nvSpPr>
          <p:cNvPr id="151" name="Google Shape;151;p19"/>
          <p:cNvSpPr/>
          <p:nvPr/>
        </p:nvSpPr>
        <p:spPr>
          <a:xfrm>
            <a:off x="714375" y="2864644"/>
            <a:ext cx="7715250" cy="2428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D3748"/>
              </a:buClr>
              <a:buSzPts val="1400"/>
              <a:buFont typeface="Inter SemiBold"/>
              <a:buNone/>
            </a:pPr>
            <a:r>
              <a:rPr b="0" i="0" lang="en-GB" sz="1400" u="none" cap="none" strike="noStrike">
                <a:solidFill>
                  <a:srgbClr val="2D3748"/>
                </a:solidFill>
                <a:latin typeface="Inter SemiBold"/>
                <a:ea typeface="Inter SemiBold"/>
                <a:cs typeface="Inter SemiBold"/>
                <a:sym typeface="Inter SemiBold"/>
              </a:rPr>
              <a:t>FPS = w₁·AAS + w₂·RAS + w₃·SLMS + w₄·CS + w₅·DKUS</a:t>
            </a:r>
            <a:endParaRPr b="0" i="0" sz="1400" u="none" cap="none" strike="noStrike">
              <a:solidFill>
                <a:schemeClr val="dk1"/>
              </a:solidFill>
              <a:latin typeface="Calibri"/>
              <a:ea typeface="Calibri"/>
              <a:cs typeface="Calibri"/>
              <a:sym typeface="Calibri"/>
            </a:endParaRPr>
          </a:p>
        </p:txBody>
      </p:sp>
      <p:sp>
        <p:nvSpPr>
          <p:cNvPr id="152" name="Google Shape;152;p19"/>
          <p:cNvSpPr/>
          <p:nvPr/>
        </p:nvSpPr>
        <p:spPr>
          <a:xfrm>
            <a:off x="714375" y="3193256"/>
            <a:ext cx="7715250" cy="13751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718096"/>
              </a:buClr>
              <a:buSzPts val="850"/>
              <a:buFont typeface="Inter"/>
              <a:buNone/>
            </a:pPr>
            <a:r>
              <a:rPr b="0" i="1" lang="en-GB" sz="850" u="none" cap="none" strike="noStrike">
                <a:solidFill>
                  <a:srgbClr val="718096"/>
                </a:solidFill>
                <a:latin typeface="Inter"/>
                <a:ea typeface="Inter"/>
                <a:cs typeface="Inter"/>
                <a:sym typeface="Inter"/>
              </a:rPr>
              <a:t>Weights are configurable in real-time — adjust on-the-fly based on application priorities (e.g., Medical vs. Tutoring).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preencoded.png" id="158" name="Google Shape;158;p2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9" name="Google Shape;159;p20"/>
          <p:cNvSpPr/>
          <p:nvPr/>
        </p:nvSpPr>
        <p:spPr>
          <a:xfrm>
            <a:off x="0" y="-7144"/>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0"/>
          <p:cNvSpPr/>
          <p:nvPr/>
        </p:nvSpPr>
        <p:spPr>
          <a:xfrm>
            <a:off x="571500" y="498277"/>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Data Pipeline and Methodology and Approach</a:t>
            </a:r>
            <a:endParaRPr b="0" i="0" sz="2450" u="none" cap="none" strike="noStrike">
              <a:solidFill>
                <a:schemeClr val="dk1"/>
              </a:solidFill>
              <a:latin typeface="Calibri"/>
              <a:ea typeface="Calibri"/>
              <a:cs typeface="Calibri"/>
              <a:sym typeface="Calibri"/>
            </a:endParaRPr>
          </a:p>
        </p:txBody>
      </p:sp>
      <p:sp>
        <p:nvSpPr>
          <p:cNvPr id="161" name="Google Shape;161;p20"/>
          <p:cNvSpPr/>
          <p:nvPr/>
        </p:nvSpPr>
        <p:spPr>
          <a:xfrm>
            <a:off x="428625" y="1564481"/>
            <a:ext cx="1551617" cy="1014413"/>
          </a:xfrm>
          <a:prstGeom prst="rect">
            <a:avLst/>
          </a:prstGeom>
          <a:solidFill>
            <a:srgbClr val="F8FAFC"/>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p:nvPr/>
        </p:nvSpPr>
        <p:spPr>
          <a:xfrm>
            <a:off x="535781" y="1916311"/>
            <a:ext cx="1325891" cy="12144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182CE"/>
              </a:buClr>
              <a:buSzPts val="700"/>
              <a:buFont typeface="Montserrat"/>
              <a:buNone/>
            </a:pPr>
            <a:r>
              <a:rPr b="1" i="0" lang="en-GB" sz="700" u="none" cap="none" strike="noStrike">
                <a:solidFill>
                  <a:srgbClr val="3182CE"/>
                </a:solidFill>
                <a:latin typeface="Montserrat"/>
                <a:ea typeface="Montserrat"/>
                <a:cs typeface="Montserrat"/>
                <a:sym typeface="Montserrat"/>
              </a:rPr>
              <a:t>STEP 1</a:t>
            </a:r>
            <a:endParaRPr b="0" i="0" sz="700" u="none" cap="none" strike="noStrike">
              <a:solidFill>
                <a:schemeClr val="dk1"/>
              </a:solidFill>
              <a:latin typeface="Calibri"/>
              <a:ea typeface="Calibri"/>
              <a:cs typeface="Calibri"/>
              <a:sym typeface="Calibri"/>
            </a:endParaRPr>
          </a:p>
        </p:txBody>
      </p:sp>
      <p:sp>
        <p:nvSpPr>
          <p:cNvPr id="163" name="Google Shape;163;p20"/>
          <p:cNvSpPr/>
          <p:nvPr/>
        </p:nvSpPr>
        <p:spPr>
          <a:xfrm>
            <a:off x="535781" y="2094905"/>
            <a:ext cx="1325891" cy="27503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2342"/>
              </a:buClr>
              <a:buSzPts val="800"/>
              <a:buFont typeface="Inter SemiBold"/>
              <a:buNone/>
            </a:pPr>
            <a:r>
              <a:rPr b="0" i="0" lang="en-GB" sz="800" u="none" cap="none" strike="noStrike">
                <a:solidFill>
                  <a:srgbClr val="0A2342"/>
                </a:solidFill>
                <a:latin typeface="Inter SemiBold"/>
                <a:ea typeface="Inter SemiBold"/>
                <a:cs typeface="Inter SemiBold"/>
                <a:sym typeface="Inter SemiBold"/>
              </a:rPr>
              <a:t>Load Dataset &amp; Golden Truth</a:t>
            </a:r>
            <a:endParaRPr b="0" i="0" sz="800" u="none" cap="none" strike="noStrike">
              <a:solidFill>
                <a:schemeClr val="dk1"/>
              </a:solidFill>
              <a:latin typeface="Calibri"/>
              <a:ea typeface="Calibri"/>
              <a:cs typeface="Calibri"/>
              <a:sym typeface="Calibri"/>
            </a:endParaRPr>
          </a:p>
        </p:txBody>
      </p:sp>
      <p:sp>
        <p:nvSpPr>
          <p:cNvPr id="164" name="Google Shape;164;p20"/>
          <p:cNvSpPr/>
          <p:nvPr/>
        </p:nvSpPr>
        <p:spPr>
          <a:xfrm>
            <a:off x="1968829" y="1968103"/>
            <a:ext cx="132159" cy="2071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1250"/>
              <a:buFont typeface="Inter"/>
              <a:buNone/>
            </a:pPr>
            <a:r>
              <a:rPr b="0" i="0" lang="en-GB" sz="1250" u="none" cap="none" strike="noStrike">
                <a:solidFill>
                  <a:srgbClr val="3182CE"/>
                </a:solidFill>
                <a:latin typeface="Inter"/>
                <a:ea typeface="Inter"/>
                <a:cs typeface="Inter"/>
                <a:sym typeface="Inter"/>
              </a:rPr>
              <a:t>▶</a:t>
            </a:r>
            <a:endParaRPr b="0" i="0" sz="1250" u="none" cap="none" strike="noStrike">
              <a:solidFill>
                <a:schemeClr val="dk1"/>
              </a:solidFill>
              <a:latin typeface="Calibri"/>
              <a:ea typeface="Calibri"/>
              <a:cs typeface="Calibri"/>
              <a:sym typeface="Calibri"/>
            </a:endParaRPr>
          </a:p>
        </p:txBody>
      </p:sp>
      <p:sp>
        <p:nvSpPr>
          <p:cNvPr id="165" name="Google Shape;165;p20"/>
          <p:cNvSpPr/>
          <p:nvPr/>
        </p:nvSpPr>
        <p:spPr>
          <a:xfrm>
            <a:off x="2100988" y="1564481"/>
            <a:ext cx="1554491" cy="1014413"/>
          </a:xfrm>
          <a:prstGeom prst="rect">
            <a:avLst/>
          </a:prstGeom>
          <a:solidFill>
            <a:srgbClr val="F8FAFC"/>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
          <p:cNvSpPr/>
          <p:nvPr/>
        </p:nvSpPr>
        <p:spPr>
          <a:xfrm>
            <a:off x="2210991" y="1916311"/>
            <a:ext cx="1328738" cy="12144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182CE"/>
              </a:buClr>
              <a:buSzPts val="700"/>
              <a:buFont typeface="Montserrat"/>
              <a:buNone/>
            </a:pPr>
            <a:r>
              <a:rPr b="1" i="0" lang="en-GB" sz="700" u="none" cap="none" strike="noStrike">
                <a:solidFill>
                  <a:srgbClr val="3182CE"/>
                </a:solidFill>
                <a:latin typeface="Montserrat"/>
                <a:ea typeface="Montserrat"/>
                <a:cs typeface="Montserrat"/>
                <a:sym typeface="Montserrat"/>
              </a:rPr>
              <a:t>STEP 2</a:t>
            </a:r>
            <a:endParaRPr b="0" i="0" sz="700" u="none" cap="none" strike="noStrike">
              <a:solidFill>
                <a:schemeClr val="dk1"/>
              </a:solidFill>
              <a:latin typeface="Calibri"/>
              <a:ea typeface="Calibri"/>
              <a:cs typeface="Calibri"/>
              <a:sym typeface="Calibri"/>
            </a:endParaRPr>
          </a:p>
        </p:txBody>
      </p:sp>
      <p:sp>
        <p:nvSpPr>
          <p:cNvPr id="167" name="Google Shape;167;p20"/>
          <p:cNvSpPr/>
          <p:nvPr/>
        </p:nvSpPr>
        <p:spPr>
          <a:xfrm>
            <a:off x="2210991" y="2094905"/>
            <a:ext cx="1328738" cy="27503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2342"/>
              </a:buClr>
              <a:buSzPts val="800"/>
              <a:buFont typeface="Inter SemiBold"/>
              <a:buNone/>
            </a:pPr>
            <a:r>
              <a:rPr b="0" i="0" lang="en-GB" sz="800" u="none" cap="none" strike="noStrike">
                <a:solidFill>
                  <a:srgbClr val="0A2342"/>
                </a:solidFill>
                <a:latin typeface="Inter SemiBold"/>
                <a:ea typeface="Inter SemiBold"/>
                <a:cs typeface="Inter SemiBold"/>
                <a:sym typeface="Inter SemiBold"/>
              </a:rPr>
              <a:t>Query LLMs with CoT Prompts</a:t>
            </a:r>
            <a:endParaRPr b="0" i="0" sz="800" u="none" cap="none" strike="noStrike">
              <a:solidFill>
                <a:schemeClr val="dk1"/>
              </a:solidFill>
              <a:latin typeface="Calibri"/>
              <a:ea typeface="Calibri"/>
              <a:cs typeface="Calibri"/>
              <a:sym typeface="Calibri"/>
            </a:endParaRPr>
          </a:p>
        </p:txBody>
      </p:sp>
      <p:sp>
        <p:nvSpPr>
          <p:cNvPr id="168" name="Google Shape;168;p20"/>
          <p:cNvSpPr/>
          <p:nvPr/>
        </p:nvSpPr>
        <p:spPr>
          <a:xfrm>
            <a:off x="3646884" y="1968103"/>
            <a:ext cx="132159" cy="2071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1250"/>
              <a:buFont typeface="Inter"/>
              <a:buNone/>
            </a:pPr>
            <a:r>
              <a:rPr b="0" i="0" lang="en-GB" sz="1250" u="none" cap="none" strike="noStrike">
                <a:solidFill>
                  <a:srgbClr val="3182CE"/>
                </a:solidFill>
                <a:latin typeface="Inter"/>
                <a:ea typeface="Inter"/>
                <a:cs typeface="Inter"/>
                <a:sym typeface="Inter"/>
              </a:rPr>
              <a:t>▶</a:t>
            </a:r>
            <a:endParaRPr b="0" i="0" sz="1250" u="none" cap="none" strike="noStrike">
              <a:solidFill>
                <a:schemeClr val="dk1"/>
              </a:solidFill>
              <a:latin typeface="Calibri"/>
              <a:ea typeface="Calibri"/>
              <a:cs typeface="Calibri"/>
              <a:sym typeface="Calibri"/>
            </a:endParaRPr>
          </a:p>
        </p:txBody>
      </p:sp>
      <p:sp>
        <p:nvSpPr>
          <p:cNvPr id="169" name="Google Shape;169;p20"/>
          <p:cNvSpPr/>
          <p:nvPr/>
        </p:nvSpPr>
        <p:spPr>
          <a:xfrm>
            <a:off x="3779044" y="1564481"/>
            <a:ext cx="1557338" cy="1014413"/>
          </a:xfrm>
          <a:prstGeom prst="rect">
            <a:avLst/>
          </a:prstGeom>
          <a:solidFill>
            <a:srgbClr val="F8FAFC"/>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a:off x="3891893" y="1916311"/>
            <a:ext cx="1331584" cy="12144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182CE"/>
              </a:buClr>
              <a:buSzPts val="700"/>
              <a:buFont typeface="Montserrat"/>
              <a:buNone/>
            </a:pPr>
            <a:r>
              <a:rPr b="1" i="0" lang="en-GB" sz="700" u="none" cap="none" strike="noStrike">
                <a:solidFill>
                  <a:srgbClr val="3182CE"/>
                </a:solidFill>
                <a:latin typeface="Montserrat"/>
                <a:ea typeface="Montserrat"/>
                <a:cs typeface="Montserrat"/>
                <a:sym typeface="Montserrat"/>
              </a:rPr>
              <a:t>STEP 3</a:t>
            </a:r>
            <a:endParaRPr b="0" i="0" sz="700" u="none" cap="none" strike="noStrike">
              <a:solidFill>
                <a:schemeClr val="dk1"/>
              </a:solidFill>
              <a:latin typeface="Calibri"/>
              <a:ea typeface="Calibri"/>
              <a:cs typeface="Calibri"/>
              <a:sym typeface="Calibri"/>
            </a:endParaRPr>
          </a:p>
        </p:txBody>
      </p:sp>
      <p:sp>
        <p:nvSpPr>
          <p:cNvPr id="171" name="Google Shape;171;p20"/>
          <p:cNvSpPr/>
          <p:nvPr/>
        </p:nvSpPr>
        <p:spPr>
          <a:xfrm>
            <a:off x="3891893" y="2094905"/>
            <a:ext cx="1331584" cy="27503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2342"/>
              </a:buClr>
              <a:buSzPts val="800"/>
              <a:buFont typeface="Inter SemiBold"/>
              <a:buNone/>
            </a:pPr>
            <a:r>
              <a:rPr b="0" i="0" lang="en-GB" sz="800" u="none" cap="none" strike="noStrike">
                <a:solidFill>
                  <a:srgbClr val="0A2342"/>
                </a:solidFill>
                <a:latin typeface="Inter SemiBold"/>
                <a:ea typeface="Inter SemiBold"/>
                <a:cs typeface="Inter SemiBold"/>
                <a:sym typeface="Inter SemiBold"/>
              </a:rPr>
              <a:t>Parse Reasoning &amp; Answers</a:t>
            </a:r>
            <a:endParaRPr b="0" i="0" sz="800" u="none" cap="none" strike="noStrike">
              <a:solidFill>
                <a:schemeClr val="dk1"/>
              </a:solidFill>
              <a:latin typeface="Calibri"/>
              <a:ea typeface="Calibri"/>
              <a:cs typeface="Calibri"/>
              <a:sym typeface="Calibri"/>
            </a:endParaRPr>
          </a:p>
        </p:txBody>
      </p:sp>
      <p:sp>
        <p:nvSpPr>
          <p:cNvPr id="172" name="Google Shape;172;p20"/>
          <p:cNvSpPr/>
          <p:nvPr/>
        </p:nvSpPr>
        <p:spPr>
          <a:xfrm>
            <a:off x="5330633" y="1968103"/>
            <a:ext cx="132159" cy="2071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1250"/>
              <a:buFont typeface="Inter"/>
              <a:buNone/>
            </a:pPr>
            <a:r>
              <a:rPr b="0" i="0" lang="en-GB" sz="1250" u="none" cap="none" strike="noStrike">
                <a:solidFill>
                  <a:srgbClr val="3182CE"/>
                </a:solidFill>
                <a:latin typeface="Inter"/>
                <a:ea typeface="Inter"/>
                <a:cs typeface="Inter"/>
                <a:sym typeface="Inter"/>
              </a:rPr>
              <a:t>▶</a:t>
            </a:r>
            <a:endParaRPr b="0" i="0" sz="1250" u="none" cap="none" strike="noStrike">
              <a:solidFill>
                <a:schemeClr val="dk1"/>
              </a:solidFill>
              <a:latin typeface="Calibri"/>
              <a:ea typeface="Calibri"/>
              <a:cs typeface="Calibri"/>
              <a:sym typeface="Calibri"/>
            </a:endParaRPr>
          </a:p>
        </p:txBody>
      </p:sp>
      <p:sp>
        <p:nvSpPr>
          <p:cNvPr id="173" name="Google Shape;173;p20"/>
          <p:cNvSpPr/>
          <p:nvPr/>
        </p:nvSpPr>
        <p:spPr>
          <a:xfrm>
            <a:off x="5462792" y="1564481"/>
            <a:ext cx="1560184" cy="1014413"/>
          </a:xfrm>
          <a:prstGeom prst="rect">
            <a:avLst/>
          </a:prstGeom>
          <a:solidFill>
            <a:srgbClr val="F8FAFC"/>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a:off x="5578571" y="1916311"/>
            <a:ext cx="1334458" cy="12144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182CE"/>
              </a:buClr>
              <a:buSzPts val="700"/>
              <a:buFont typeface="Montserrat"/>
              <a:buNone/>
            </a:pPr>
            <a:r>
              <a:rPr b="1" i="0" lang="en-GB" sz="700" u="none" cap="none" strike="noStrike">
                <a:solidFill>
                  <a:srgbClr val="3182CE"/>
                </a:solidFill>
                <a:latin typeface="Montserrat"/>
                <a:ea typeface="Montserrat"/>
                <a:cs typeface="Montserrat"/>
                <a:sym typeface="Montserrat"/>
              </a:rPr>
              <a:t>STEP 4</a:t>
            </a:r>
            <a:endParaRPr b="0" i="0" sz="700" u="none" cap="none" strike="noStrike">
              <a:solidFill>
                <a:schemeClr val="dk1"/>
              </a:solidFill>
              <a:latin typeface="Calibri"/>
              <a:ea typeface="Calibri"/>
              <a:cs typeface="Calibri"/>
              <a:sym typeface="Calibri"/>
            </a:endParaRPr>
          </a:p>
        </p:txBody>
      </p:sp>
      <p:sp>
        <p:nvSpPr>
          <p:cNvPr id="175" name="Google Shape;175;p20"/>
          <p:cNvSpPr/>
          <p:nvPr/>
        </p:nvSpPr>
        <p:spPr>
          <a:xfrm>
            <a:off x="5578571" y="2094905"/>
            <a:ext cx="1334458" cy="27503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2342"/>
              </a:buClr>
              <a:buSzPts val="800"/>
              <a:buFont typeface="Inter SemiBold"/>
              <a:buNone/>
            </a:pPr>
            <a:r>
              <a:rPr b="0" i="0" lang="en-GB" sz="800" u="none" cap="none" strike="noStrike">
                <a:solidFill>
                  <a:srgbClr val="0A2342"/>
                </a:solidFill>
                <a:latin typeface="Inter SemiBold"/>
                <a:ea typeface="Inter SemiBold"/>
                <a:cs typeface="Inter SemiBold"/>
                <a:sym typeface="Inter SemiBold"/>
              </a:rPr>
              <a:t>Compute Semantic Metrics</a:t>
            </a:r>
            <a:endParaRPr b="0" i="0" sz="800" u="none" cap="none" strike="noStrike">
              <a:solidFill>
                <a:schemeClr val="dk1"/>
              </a:solidFill>
              <a:latin typeface="Calibri"/>
              <a:ea typeface="Calibri"/>
              <a:cs typeface="Calibri"/>
              <a:sym typeface="Calibri"/>
            </a:endParaRPr>
          </a:p>
        </p:txBody>
      </p:sp>
      <p:sp>
        <p:nvSpPr>
          <p:cNvPr id="176" name="Google Shape;176;p20"/>
          <p:cNvSpPr/>
          <p:nvPr/>
        </p:nvSpPr>
        <p:spPr>
          <a:xfrm>
            <a:off x="7020185" y="1968103"/>
            <a:ext cx="132159" cy="2071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1250"/>
              <a:buFont typeface="Inter"/>
              <a:buNone/>
            </a:pPr>
            <a:r>
              <a:rPr b="0" i="0" lang="en-GB" sz="1250" u="none" cap="none" strike="noStrike">
                <a:solidFill>
                  <a:srgbClr val="3182CE"/>
                </a:solidFill>
                <a:latin typeface="Inter"/>
                <a:ea typeface="Inter"/>
                <a:cs typeface="Inter"/>
                <a:sym typeface="Inter"/>
              </a:rPr>
              <a:t>▶</a:t>
            </a:r>
            <a:endParaRPr b="0" i="0" sz="1250" u="none" cap="none" strike="noStrike">
              <a:solidFill>
                <a:schemeClr val="dk1"/>
              </a:solidFill>
              <a:latin typeface="Calibri"/>
              <a:ea typeface="Calibri"/>
              <a:cs typeface="Calibri"/>
              <a:sym typeface="Calibri"/>
            </a:endParaRPr>
          </a:p>
        </p:txBody>
      </p:sp>
      <p:sp>
        <p:nvSpPr>
          <p:cNvPr id="177" name="Google Shape;177;p20"/>
          <p:cNvSpPr/>
          <p:nvPr/>
        </p:nvSpPr>
        <p:spPr>
          <a:xfrm>
            <a:off x="7152345" y="1564481"/>
            <a:ext cx="1563058" cy="1014413"/>
          </a:xfrm>
          <a:prstGeom prst="rect">
            <a:avLst/>
          </a:prstGeom>
          <a:solidFill>
            <a:srgbClr val="F8FAFC"/>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7270886" y="1977926"/>
            <a:ext cx="1337304" cy="12144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182CE"/>
              </a:buClr>
              <a:buSzPts val="700"/>
              <a:buFont typeface="Montserrat"/>
              <a:buNone/>
            </a:pPr>
            <a:r>
              <a:rPr b="1" i="0" lang="en-GB" sz="700" u="none" cap="none" strike="noStrike">
                <a:solidFill>
                  <a:srgbClr val="3182CE"/>
                </a:solidFill>
                <a:latin typeface="Montserrat"/>
                <a:ea typeface="Montserrat"/>
                <a:cs typeface="Montserrat"/>
                <a:sym typeface="Montserrat"/>
              </a:rPr>
              <a:t>STEP 5</a:t>
            </a:r>
            <a:endParaRPr b="0" i="0" sz="700" u="none" cap="none" strike="noStrike">
              <a:solidFill>
                <a:schemeClr val="dk1"/>
              </a:solidFill>
              <a:latin typeface="Calibri"/>
              <a:ea typeface="Calibri"/>
              <a:cs typeface="Calibri"/>
              <a:sym typeface="Calibri"/>
            </a:endParaRPr>
          </a:p>
        </p:txBody>
      </p:sp>
      <p:sp>
        <p:nvSpPr>
          <p:cNvPr id="179" name="Google Shape;179;p20"/>
          <p:cNvSpPr/>
          <p:nvPr/>
        </p:nvSpPr>
        <p:spPr>
          <a:xfrm>
            <a:off x="7270886" y="2156520"/>
            <a:ext cx="1337304" cy="13751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2342"/>
              </a:buClr>
              <a:buSzPts val="800"/>
              <a:buFont typeface="Inter SemiBold"/>
              <a:buNone/>
            </a:pPr>
            <a:r>
              <a:rPr b="0" i="0" lang="en-GB" sz="800" u="none" cap="none" strike="noStrike">
                <a:solidFill>
                  <a:srgbClr val="0A2342"/>
                </a:solidFill>
                <a:latin typeface="Inter SemiBold"/>
                <a:ea typeface="Inter SemiBold"/>
                <a:cs typeface="Inter SemiBold"/>
                <a:sym typeface="Inter SemiBold"/>
              </a:rPr>
              <a:t>Aggregate &amp; Visualize</a:t>
            </a:r>
            <a:endParaRPr b="0" i="0" sz="800" u="none" cap="none" strike="noStrike">
              <a:solidFill>
                <a:schemeClr val="dk1"/>
              </a:solidFill>
              <a:latin typeface="Calibri"/>
              <a:ea typeface="Calibri"/>
              <a:cs typeface="Calibri"/>
              <a:sym typeface="Calibri"/>
            </a:endParaRPr>
          </a:p>
        </p:txBody>
      </p:sp>
      <p:sp>
        <p:nvSpPr>
          <p:cNvPr id="180" name="Google Shape;180;p20"/>
          <p:cNvSpPr/>
          <p:nvPr/>
        </p:nvSpPr>
        <p:spPr>
          <a:xfrm>
            <a:off x="428625" y="2993231"/>
            <a:ext cx="4000500" cy="1121569"/>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p:nvPr/>
        </p:nvSpPr>
        <p:spPr>
          <a:xfrm>
            <a:off x="607219" y="3136106"/>
            <a:ext cx="2098477"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950"/>
              <a:buFont typeface="Montserrat"/>
              <a:buNone/>
            </a:pPr>
            <a:r>
              <a:rPr b="1" i="0" lang="en-GB" sz="950" u="none" cap="none" strike="noStrike">
                <a:solidFill>
                  <a:srgbClr val="0A2342"/>
                </a:solidFill>
                <a:latin typeface="Montserrat"/>
                <a:ea typeface="Montserrat"/>
                <a:cs typeface="Montserrat"/>
                <a:sym typeface="Montserrat"/>
              </a:rPr>
              <a:t>DATASET &amp; STANDARDIZATION</a:t>
            </a:r>
            <a:endParaRPr b="0" i="0" sz="950" u="none" cap="none" strike="noStrike">
              <a:solidFill>
                <a:schemeClr val="dk1"/>
              </a:solidFill>
              <a:latin typeface="Calibri"/>
              <a:ea typeface="Calibri"/>
              <a:cs typeface="Calibri"/>
              <a:sym typeface="Calibri"/>
            </a:endParaRPr>
          </a:p>
        </p:txBody>
      </p:sp>
      <p:sp>
        <p:nvSpPr>
          <p:cNvPr id="182" name="Google Shape;182;p20"/>
          <p:cNvSpPr/>
          <p:nvPr/>
        </p:nvSpPr>
        <p:spPr>
          <a:xfrm>
            <a:off x="892969" y="3414713"/>
            <a:ext cx="3357563" cy="17145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00"/>
              <a:buFont typeface="Inter SemiBold"/>
              <a:buNone/>
            </a:pPr>
            <a:r>
              <a:rPr b="1" i="0" lang="en-GB" sz="800" u="none" cap="none" strike="noStrike">
                <a:solidFill>
                  <a:srgbClr val="2D3748"/>
                </a:solidFill>
                <a:latin typeface="Inter SemiBold"/>
                <a:ea typeface="Inter SemiBold"/>
                <a:cs typeface="Inter SemiBold"/>
                <a:sym typeface="Inter SemiBold"/>
              </a:rPr>
              <a:t>Source</a:t>
            </a:r>
            <a:r>
              <a:rPr b="0" i="0" lang="en-GB" sz="850" u="none" cap="none" strike="noStrike">
                <a:solidFill>
                  <a:srgbClr val="2D3748"/>
                </a:solidFill>
                <a:latin typeface="Inter"/>
                <a:ea typeface="Inter"/>
                <a:cs typeface="Inter"/>
                <a:sym typeface="Inter"/>
              </a:rPr>
              <a:t>: German-RAG-ORPO-Alpaca-HESSIAN-AI.</a:t>
            </a:r>
            <a:endParaRPr b="0" i="0" sz="800" u="none" cap="none" strike="noStrike">
              <a:solidFill>
                <a:schemeClr val="dk1"/>
              </a:solidFill>
              <a:latin typeface="Calibri"/>
              <a:ea typeface="Calibri"/>
              <a:cs typeface="Calibri"/>
              <a:sym typeface="Calibri"/>
            </a:endParaRPr>
          </a:p>
        </p:txBody>
      </p:sp>
      <p:sp>
        <p:nvSpPr>
          <p:cNvPr id="183" name="Google Shape;183;p20"/>
          <p:cNvSpPr/>
          <p:nvPr/>
        </p:nvSpPr>
        <p:spPr>
          <a:xfrm>
            <a:off x="892969" y="3643313"/>
            <a:ext cx="3357563" cy="17145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00"/>
              <a:buFont typeface="Inter SemiBold"/>
              <a:buNone/>
            </a:pPr>
            <a:r>
              <a:rPr b="1" i="0" lang="en-GB" sz="800" u="none" cap="none" strike="noStrike">
                <a:solidFill>
                  <a:srgbClr val="2D3748"/>
                </a:solidFill>
                <a:latin typeface="Inter SemiBold"/>
                <a:ea typeface="Inter SemiBold"/>
                <a:cs typeface="Inter SemiBold"/>
                <a:sym typeface="Inter SemiBold"/>
              </a:rPr>
              <a:t>Scope</a:t>
            </a:r>
            <a:r>
              <a:rPr b="0" i="0" lang="en-GB" sz="850" u="none" cap="none" strike="noStrike">
                <a:solidFill>
                  <a:srgbClr val="2D3748"/>
                </a:solidFill>
                <a:latin typeface="Inter"/>
                <a:ea typeface="Inter"/>
                <a:cs typeface="Inter"/>
                <a:sym typeface="Inter"/>
              </a:rPr>
              <a:t>: 50–100 hard reasoning problems in English.</a:t>
            </a:r>
            <a:endParaRPr b="0" i="0" sz="800" u="none" cap="none" strike="noStrike">
              <a:solidFill>
                <a:schemeClr val="dk1"/>
              </a:solidFill>
              <a:latin typeface="Calibri"/>
              <a:ea typeface="Calibri"/>
              <a:cs typeface="Calibri"/>
              <a:sym typeface="Calibri"/>
            </a:endParaRPr>
          </a:p>
        </p:txBody>
      </p:sp>
      <p:sp>
        <p:nvSpPr>
          <p:cNvPr id="184" name="Google Shape;184;p20"/>
          <p:cNvSpPr/>
          <p:nvPr/>
        </p:nvSpPr>
        <p:spPr>
          <a:xfrm>
            <a:off x="892969" y="3871913"/>
            <a:ext cx="3357563" cy="17145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00"/>
              <a:buFont typeface="Inter SemiBold"/>
              <a:buNone/>
            </a:pPr>
            <a:r>
              <a:rPr b="1" i="0" lang="en-GB" sz="800" u="none" cap="none" strike="noStrike">
                <a:solidFill>
                  <a:srgbClr val="2D3748"/>
                </a:solidFill>
                <a:latin typeface="Inter SemiBold"/>
                <a:ea typeface="Inter SemiBold"/>
                <a:cs typeface="Inter SemiBold"/>
                <a:sym typeface="Inter SemiBold"/>
              </a:rPr>
              <a:t>Fairness</a:t>
            </a:r>
            <a:r>
              <a:rPr b="0" i="0" lang="en-GB" sz="850" u="none" cap="none" strike="noStrike">
                <a:solidFill>
                  <a:srgbClr val="2D3748"/>
                </a:solidFill>
                <a:latin typeface="Inter"/>
                <a:ea typeface="Inter"/>
                <a:cs typeface="Inter"/>
                <a:sym typeface="Inter"/>
              </a:rPr>
              <a:t>: Identical system prompts for all models.</a:t>
            </a:r>
            <a:endParaRPr b="0" i="0" sz="800" u="none" cap="none" strike="noStrike">
              <a:solidFill>
                <a:schemeClr val="dk1"/>
              </a:solidFill>
              <a:latin typeface="Calibri"/>
              <a:ea typeface="Calibri"/>
              <a:cs typeface="Calibri"/>
              <a:sym typeface="Calibri"/>
            </a:endParaRPr>
          </a:p>
        </p:txBody>
      </p:sp>
      <p:sp>
        <p:nvSpPr>
          <p:cNvPr id="185" name="Google Shape;185;p20"/>
          <p:cNvSpPr/>
          <p:nvPr/>
        </p:nvSpPr>
        <p:spPr>
          <a:xfrm>
            <a:off x="4714875" y="2993231"/>
            <a:ext cx="4000500" cy="1121569"/>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a:off x="892969" y="3414713"/>
            <a:ext cx="114300" cy="1714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50"/>
              <a:buFont typeface="Inter"/>
              <a:buNone/>
            </a:pPr>
            <a:r>
              <a:rPr b="0" i="0" lang="en-GB" sz="850" u="none" cap="none" strike="noStrike">
                <a:solidFill>
                  <a:srgbClr val="3182CE"/>
                </a:solidFill>
                <a:latin typeface="Inter"/>
                <a:ea typeface="Inter"/>
                <a:cs typeface="Inter"/>
                <a:sym typeface="Inter"/>
              </a:rPr>
              <a:t>→</a:t>
            </a:r>
            <a:endParaRPr b="0" i="0" sz="850" u="none" cap="none" strike="noStrike">
              <a:solidFill>
                <a:schemeClr val="dk1"/>
              </a:solidFill>
              <a:latin typeface="Calibri"/>
              <a:ea typeface="Calibri"/>
              <a:cs typeface="Calibri"/>
              <a:sym typeface="Calibri"/>
            </a:endParaRPr>
          </a:p>
        </p:txBody>
      </p:sp>
      <p:sp>
        <p:nvSpPr>
          <p:cNvPr id="187" name="Google Shape;187;p20"/>
          <p:cNvSpPr/>
          <p:nvPr/>
        </p:nvSpPr>
        <p:spPr>
          <a:xfrm>
            <a:off x="892969" y="3643313"/>
            <a:ext cx="114300" cy="1714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50"/>
              <a:buFont typeface="Inter"/>
              <a:buNone/>
            </a:pPr>
            <a:r>
              <a:rPr b="0" i="0" lang="en-GB" sz="850" u="none" cap="none" strike="noStrike">
                <a:solidFill>
                  <a:srgbClr val="3182CE"/>
                </a:solidFill>
                <a:latin typeface="Inter"/>
                <a:ea typeface="Inter"/>
                <a:cs typeface="Inter"/>
                <a:sym typeface="Inter"/>
              </a:rPr>
              <a:t>→</a:t>
            </a:r>
            <a:endParaRPr b="0" i="0" sz="850" u="none" cap="none" strike="noStrike">
              <a:solidFill>
                <a:schemeClr val="dk1"/>
              </a:solidFill>
              <a:latin typeface="Calibri"/>
              <a:ea typeface="Calibri"/>
              <a:cs typeface="Calibri"/>
              <a:sym typeface="Calibri"/>
            </a:endParaRPr>
          </a:p>
        </p:txBody>
      </p:sp>
      <p:sp>
        <p:nvSpPr>
          <p:cNvPr id="188" name="Google Shape;188;p20"/>
          <p:cNvSpPr/>
          <p:nvPr/>
        </p:nvSpPr>
        <p:spPr>
          <a:xfrm>
            <a:off x="892969" y="3871913"/>
            <a:ext cx="114300" cy="1714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50"/>
              <a:buFont typeface="Inter"/>
              <a:buNone/>
            </a:pPr>
            <a:r>
              <a:rPr b="0" i="0" lang="en-GB" sz="850" u="none" cap="none" strike="noStrike">
                <a:solidFill>
                  <a:srgbClr val="3182CE"/>
                </a:solidFill>
                <a:latin typeface="Inter"/>
                <a:ea typeface="Inter"/>
                <a:cs typeface="Inter"/>
                <a:sym typeface="Inter"/>
              </a:rPr>
              <a:t>→</a:t>
            </a:r>
            <a:endParaRPr b="0" i="0" sz="850" u="none" cap="none" strike="noStrike">
              <a:solidFill>
                <a:schemeClr val="dk1"/>
              </a:solidFill>
              <a:latin typeface="Calibri"/>
              <a:ea typeface="Calibri"/>
              <a:cs typeface="Calibri"/>
              <a:sym typeface="Calibri"/>
            </a:endParaRPr>
          </a:p>
        </p:txBody>
      </p:sp>
      <p:sp>
        <p:nvSpPr>
          <p:cNvPr id="189" name="Google Shape;189;p20"/>
          <p:cNvSpPr/>
          <p:nvPr/>
        </p:nvSpPr>
        <p:spPr>
          <a:xfrm>
            <a:off x="4893469" y="3136106"/>
            <a:ext cx="204847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950"/>
              <a:buFont typeface="Montserrat"/>
              <a:buNone/>
            </a:pPr>
            <a:r>
              <a:rPr b="1" i="0" lang="en-GB" sz="950" u="none" cap="none" strike="noStrike">
                <a:solidFill>
                  <a:srgbClr val="0A2342"/>
                </a:solidFill>
                <a:latin typeface="Montserrat"/>
                <a:ea typeface="Montserrat"/>
                <a:cs typeface="Montserrat"/>
                <a:sym typeface="Montserrat"/>
              </a:rPr>
              <a:t>TECHNICAL IMPLEMENTATION</a:t>
            </a:r>
            <a:endParaRPr b="0" i="0" sz="950" u="none" cap="none" strike="noStrike">
              <a:solidFill>
                <a:schemeClr val="dk1"/>
              </a:solidFill>
              <a:latin typeface="Calibri"/>
              <a:ea typeface="Calibri"/>
              <a:cs typeface="Calibri"/>
              <a:sym typeface="Calibri"/>
            </a:endParaRPr>
          </a:p>
        </p:txBody>
      </p:sp>
      <p:sp>
        <p:nvSpPr>
          <p:cNvPr id="190" name="Google Shape;190;p20"/>
          <p:cNvSpPr/>
          <p:nvPr/>
        </p:nvSpPr>
        <p:spPr>
          <a:xfrm>
            <a:off x="5179219" y="3414713"/>
            <a:ext cx="3357563" cy="17145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00"/>
              <a:buFont typeface="Inter SemiBold"/>
              <a:buNone/>
            </a:pPr>
            <a:r>
              <a:rPr b="1" i="0" lang="en-GB" sz="800" u="none" cap="none" strike="noStrike">
                <a:solidFill>
                  <a:srgbClr val="2D3748"/>
                </a:solidFill>
                <a:latin typeface="Inter SemiBold"/>
                <a:ea typeface="Inter SemiBold"/>
                <a:cs typeface="Inter SemiBold"/>
                <a:sym typeface="Inter SemiBold"/>
              </a:rPr>
              <a:t>Embeddings</a:t>
            </a:r>
            <a:r>
              <a:rPr b="0" i="0" lang="en-GB" sz="850" u="none" cap="none" strike="noStrike">
                <a:solidFill>
                  <a:srgbClr val="2D3748"/>
                </a:solidFill>
                <a:latin typeface="Inter"/>
                <a:ea typeface="Inter"/>
                <a:cs typeface="Inter"/>
                <a:sym typeface="Inter"/>
              </a:rPr>
              <a:t>: all-MiniLM-L6-v2 for RAS/AAS.</a:t>
            </a:r>
            <a:endParaRPr b="0" i="0" sz="800" u="none" cap="none" strike="noStrike">
              <a:solidFill>
                <a:schemeClr val="dk1"/>
              </a:solidFill>
              <a:latin typeface="Calibri"/>
              <a:ea typeface="Calibri"/>
              <a:cs typeface="Calibri"/>
              <a:sym typeface="Calibri"/>
            </a:endParaRPr>
          </a:p>
        </p:txBody>
      </p:sp>
      <p:sp>
        <p:nvSpPr>
          <p:cNvPr id="191" name="Google Shape;191;p20"/>
          <p:cNvSpPr/>
          <p:nvPr/>
        </p:nvSpPr>
        <p:spPr>
          <a:xfrm>
            <a:off x="5179219" y="3643313"/>
            <a:ext cx="3357563" cy="17145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00"/>
              <a:buFont typeface="Inter SemiBold"/>
              <a:buNone/>
            </a:pPr>
            <a:r>
              <a:rPr b="1" i="0" lang="en-GB" sz="800" u="none" cap="none" strike="noStrike">
                <a:solidFill>
                  <a:srgbClr val="2D3748"/>
                </a:solidFill>
                <a:latin typeface="Inter SemiBold"/>
                <a:ea typeface="Inter SemiBold"/>
                <a:cs typeface="Inter SemiBold"/>
                <a:sym typeface="Inter SemiBold"/>
              </a:rPr>
              <a:t>Logic</a:t>
            </a:r>
            <a:r>
              <a:rPr b="0" i="0" lang="en-GB" sz="850" u="none" cap="none" strike="noStrike">
                <a:solidFill>
                  <a:srgbClr val="2D3748"/>
                </a:solidFill>
                <a:latin typeface="Inter"/>
                <a:ea typeface="Inter"/>
                <a:cs typeface="Inter"/>
                <a:sym typeface="Inter"/>
              </a:rPr>
              <a:t>: Asymmetric step-matching for SLMS.</a:t>
            </a:r>
            <a:endParaRPr b="0" i="0" sz="800" u="none" cap="none" strike="noStrike">
              <a:solidFill>
                <a:schemeClr val="dk1"/>
              </a:solidFill>
              <a:latin typeface="Calibri"/>
              <a:ea typeface="Calibri"/>
              <a:cs typeface="Calibri"/>
              <a:sym typeface="Calibri"/>
            </a:endParaRPr>
          </a:p>
        </p:txBody>
      </p:sp>
      <p:sp>
        <p:nvSpPr>
          <p:cNvPr id="192" name="Google Shape;192;p20"/>
          <p:cNvSpPr/>
          <p:nvPr/>
        </p:nvSpPr>
        <p:spPr>
          <a:xfrm>
            <a:off x="5179219" y="3871913"/>
            <a:ext cx="3357563" cy="17145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00"/>
              <a:buFont typeface="Inter SemiBold"/>
              <a:buNone/>
            </a:pPr>
            <a:r>
              <a:rPr b="1" i="0" lang="en-GB" sz="800" u="none" cap="none" strike="noStrike">
                <a:solidFill>
                  <a:srgbClr val="2D3748"/>
                </a:solidFill>
                <a:latin typeface="Inter SemiBold"/>
                <a:ea typeface="Inter SemiBold"/>
                <a:cs typeface="Inter SemiBold"/>
                <a:sym typeface="Inter SemiBold"/>
              </a:rPr>
              <a:t>Interface</a:t>
            </a:r>
            <a:r>
              <a:rPr b="0" i="0" lang="en-GB" sz="850" u="none" cap="none" strike="noStrike">
                <a:solidFill>
                  <a:srgbClr val="2D3748"/>
                </a:solidFill>
                <a:latin typeface="Inter"/>
                <a:ea typeface="Inter"/>
                <a:cs typeface="Inter"/>
                <a:sym typeface="Inter"/>
              </a:rPr>
              <a:t>: Streamlit-based real-time dashboard.</a:t>
            </a:r>
            <a:endParaRPr b="0" i="0" sz="800" u="none" cap="none" strike="noStrike">
              <a:solidFill>
                <a:schemeClr val="dk1"/>
              </a:solidFill>
              <a:latin typeface="Calibri"/>
              <a:ea typeface="Calibri"/>
              <a:cs typeface="Calibri"/>
              <a:sym typeface="Calibri"/>
            </a:endParaRPr>
          </a:p>
        </p:txBody>
      </p:sp>
      <p:sp>
        <p:nvSpPr>
          <p:cNvPr id="193" name="Google Shape;193;p20"/>
          <p:cNvSpPr/>
          <p:nvPr/>
        </p:nvSpPr>
        <p:spPr>
          <a:xfrm>
            <a:off x="5179219" y="3414713"/>
            <a:ext cx="114300" cy="1714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50"/>
              <a:buFont typeface="Inter"/>
              <a:buNone/>
            </a:pPr>
            <a:r>
              <a:rPr b="0" i="0" lang="en-GB" sz="850" u="none" cap="none" strike="noStrike">
                <a:solidFill>
                  <a:srgbClr val="3182CE"/>
                </a:solidFill>
                <a:latin typeface="Inter"/>
                <a:ea typeface="Inter"/>
                <a:cs typeface="Inter"/>
                <a:sym typeface="Inter"/>
              </a:rPr>
              <a:t>→</a:t>
            </a:r>
            <a:endParaRPr b="0" i="0" sz="850" u="none" cap="none" strike="noStrike">
              <a:solidFill>
                <a:schemeClr val="dk1"/>
              </a:solidFill>
              <a:latin typeface="Calibri"/>
              <a:ea typeface="Calibri"/>
              <a:cs typeface="Calibri"/>
              <a:sym typeface="Calibri"/>
            </a:endParaRPr>
          </a:p>
        </p:txBody>
      </p:sp>
      <p:sp>
        <p:nvSpPr>
          <p:cNvPr id="194" name="Google Shape;194;p20"/>
          <p:cNvSpPr/>
          <p:nvPr/>
        </p:nvSpPr>
        <p:spPr>
          <a:xfrm>
            <a:off x="5179219" y="3643313"/>
            <a:ext cx="114300" cy="1714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50"/>
              <a:buFont typeface="Inter"/>
              <a:buNone/>
            </a:pPr>
            <a:r>
              <a:rPr b="0" i="0" lang="en-GB" sz="850" u="none" cap="none" strike="noStrike">
                <a:solidFill>
                  <a:srgbClr val="3182CE"/>
                </a:solidFill>
                <a:latin typeface="Inter"/>
                <a:ea typeface="Inter"/>
                <a:cs typeface="Inter"/>
                <a:sym typeface="Inter"/>
              </a:rPr>
              <a:t>→</a:t>
            </a:r>
            <a:endParaRPr b="0" i="0" sz="850" u="none" cap="none" strike="noStrike">
              <a:solidFill>
                <a:schemeClr val="dk1"/>
              </a:solidFill>
              <a:latin typeface="Calibri"/>
              <a:ea typeface="Calibri"/>
              <a:cs typeface="Calibri"/>
              <a:sym typeface="Calibri"/>
            </a:endParaRPr>
          </a:p>
        </p:txBody>
      </p:sp>
      <p:sp>
        <p:nvSpPr>
          <p:cNvPr id="195" name="Google Shape;195;p20"/>
          <p:cNvSpPr/>
          <p:nvPr/>
        </p:nvSpPr>
        <p:spPr>
          <a:xfrm>
            <a:off x="5179219" y="3871913"/>
            <a:ext cx="114300" cy="1714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50"/>
              <a:buFont typeface="Inter"/>
              <a:buNone/>
            </a:pPr>
            <a:r>
              <a:rPr b="0" i="0" lang="en-GB" sz="850" u="none" cap="none" strike="noStrike">
                <a:solidFill>
                  <a:srgbClr val="3182CE"/>
                </a:solidFill>
                <a:latin typeface="Inter"/>
                <a:ea typeface="Inter"/>
                <a:cs typeface="Inter"/>
                <a:sym typeface="Inter"/>
              </a:rPr>
              <a:t>→</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descr="preencoded.png" id="201" name="Google Shape;201;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02" name="Google Shape;202;p21"/>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Model Support &amp; Cost Optimization</a:t>
            </a:r>
            <a:endParaRPr b="0" i="0" sz="2450" u="none" cap="none" strike="noStrike">
              <a:solidFill>
                <a:schemeClr val="dk1"/>
              </a:solidFill>
              <a:latin typeface="Calibri"/>
              <a:ea typeface="Calibri"/>
              <a:cs typeface="Calibri"/>
              <a:sym typeface="Calibri"/>
            </a:endParaRPr>
          </a:p>
        </p:txBody>
      </p:sp>
      <p:sp>
        <p:nvSpPr>
          <p:cNvPr id="204" name="Google Shape;204;p21"/>
          <p:cNvSpPr/>
          <p:nvPr/>
        </p:nvSpPr>
        <p:spPr>
          <a:xfrm>
            <a:off x="428625" y="1285875"/>
            <a:ext cx="4057650" cy="1064419"/>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
          <p:cNvSpPr/>
          <p:nvPr/>
        </p:nvSpPr>
        <p:spPr>
          <a:xfrm>
            <a:off x="571500" y="1371600"/>
            <a:ext cx="2035969" cy="2053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150"/>
              <a:buFont typeface="Montserrat"/>
              <a:buNone/>
            </a:pPr>
            <a:r>
              <a:rPr b="1" i="0" lang="en-GB" sz="1150" u="none" cap="none" strike="noStrike">
                <a:solidFill>
                  <a:srgbClr val="0A2342"/>
                </a:solidFill>
                <a:latin typeface="Montserrat"/>
                <a:ea typeface="Montserrat"/>
                <a:cs typeface="Montserrat"/>
                <a:sym typeface="Montserrat"/>
              </a:rPr>
              <a:t>API-Based (High Quality)</a:t>
            </a:r>
            <a:endParaRPr b="0" i="0" sz="1150" u="none" cap="none" strike="noStrike">
              <a:solidFill>
                <a:schemeClr val="dk1"/>
              </a:solidFill>
              <a:latin typeface="Calibri"/>
              <a:ea typeface="Calibri"/>
              <a:cs typeface="Calibri"/>
              <a:sym typeface="Calibri"/>
            </a:endParaRPr>
          </a:p>
        </p:txBody>
      </p:sp>
      <p:sp>
        <p:nvSpPr>
          <p:cNvPr id="206" name="Google Shape;206;p21"/>
          <p:cNvSpPr/>
          <p:nvPr/>
        </p:nvSpPr>
        <p:spPr>
          <a:xfrm>
            <a:off x="857250" y="1698427"/>
            <a:ext cx="3479006" cy="155377"/>
          </a:xfrm>
          <a:prstGeom prst="rect">
            <a:avLst/>
          </a:prstGeom>
          <a:noFill/>
          <a:ln>
            <a:noFill/>
          </a:ln>
        </p:spPr>
        <p:txBody>
          <a:bodyPr anchorCtr="0" anchor="t" bIns="0" lIns="170050" spcFirstLastPara="1" rIns="0" wrap="square" tIns="0">
            <a:noAutofit/>
          </a:bodyPr>
          <a:lstStyle/>
          <a:p>
            <a:pPr indent="0" lvl="0" marL="0" marR="0" rtl="0" algn="l">
              <a:spcBef>
                <a:spcPts val="0"/>
              </a:spcBef>
              <a:spcAft>
                <a:spcPts val="0"/>
              </a:spcAft>
              <a:buClr>
                <a:srgbClr val="3182CE"/>
              </a:buClr>
              <a:buSzPts val="900"/>
              <a:buFont typeface="Inter SemiBold"/>
              <a:buNone/>
            </a:pPr>
            <a:r>
              <a:rPr b="0" i="0" lang="en-GB" sz="900" u="none" cap="none" strike="noStrike">
                <a:solidFill>
                  <a:srgbClr val="3182CE"/>
                </a:solidFill>
                <a:latin typeface="Inter SemiBold"/>
                <a:ea typeface="Inter SemiBold"/>
                <a:cs typeface="Inter SemiBold"/>
                <a:sym typeface="Inter SemiBold"/>
              </a:rPr>
              <a:t>OpenAI</a:t>
            </a:r>
            <a:r>
              <a:rPr b="0" i="0" lang="en-GB" sz="950" u="none" cap="none" strike="noStrike">
                <a:solidFill>
                  <a:srgbClr val="2D3748"/>
                </a:solidFill>
                <a:latin typeface="Inter"/>
                <a:ea typeface="Inter"/>
                <a:cs typeface="Inter"/>
                <a:sym typeface="Inter"/>
              </a:rPr>
              <a:t>: GPT-4o</a:t>
            </a:r>
            <a:endParaRPr b="0" i="0" sz="900" u="none" cap="none" strike="noStrike">
              <a:solidFill>
                <a:schemeClr val="dk1"/>
              </a:solidFill>
              <a:latin typeface="Calibri"/>
              <a:ea typeface="Calibri"/>
              <a:cs typeface="Calibri"/>
              <a:sym typeface="Calibri"/>
            </a:endParaRPr>
          </a:p>
        </p:txBody>
      </p:sp>
      <p:sp>
        <p:nvSpPr>
          <p:cNvPr id="207" name="Google Shape;207;p21"/>
          <p:cNvSpPr/>
          <p:nvPr/>
        </p:nvSpPr>
        <p:spPr>
          <a:xfrm>
            <a:off x="857250" y="1910953"/>
            <a:ext cx="3479006" cy="155377"/>
          </a:xfrm>
          <a:prstGeom prst="rect">
            <a:avLst/>
          </a:prstGeom>
          <a:noFill/>
          <a:ln>
            <a:noFill/>
          </a:ln>
        </p:spPr>
        <p:txBody>
          <a:bodyPr anchorCtr="0" anchor="t" bIns="0" lIns="170050" spcFirstLastPara="1" rIns="0" wrap="square" tIns="0">
            <a:noAutofit/>
          </a:bodyPr>
          <a:lstStyle/>
          <a:p>
            <a:pPr indent="0" lvl="0" marL="0" marR="0" rtl="0" algn="l">
              <a:spcBef>
                <a:spcPts val="0"/>
              </a:spcBef>
              <a:spcAft>
                <a:spcPts val="0"/>
              </a:spcAft>
              <a:buClr>
                <a:srgbClr val="3182CE"/>
              </a:buClr>
              <a:buSzPts val="900"/>
              <a:buFont typeface="Inter SemiBold"/>
              <a:buNone/>
            </a:pPr>
            <a:r>
              <a:rPr b="0" i="0" lang="en-GB" sz="900" u="none" cap="none" strike="noStrike">
                <a:solidFill>
                  <a:srgbClr val="3182CE"/>
                </a:solidFill>
                <a:latin typeface="Inter SemiBold"/>
                <a:ea typeface="Inter SemiBold"/>
                <a:cs typeface="Inter SemiBold"/>
                <a:sym typeface="Inter SemiBold"/>
              </a:rPr>
              <a:t>Anthropic</a:t>
            </a:r>
            <a:r>
              <a:rPr b="0" i="0" lang="en-GB" sz="950" u="none" cap="none" strike="noStrike">
                <a:solidFill>
                  <a:srgbClr val="2D3748"/>
                </a:solidFill>
                <a:latin typeface="Inter"/>
                <a:ea typeface="Inter"/>
                <a:cs typeface="Inter"/>
                <a:sym typeface="Inter"/>
              </a:rPr>
              <a:t>: Claude 3.5 Sonnet</a:t>
            </a:r>
            <a:endParaRPr b="0" i="0" sz="900" u="none" cap="none" strike="noStrike">
              <a:solidFill>
                <a:schemeClr val="dk1"/>
              </a:solidFill>
              <a:latin typeface="Calibri"/>
              <a:ea typeface="Calibri"/>
              <a:cs typeface="Calibri"/>
              <a:sym typeface="Calibri"/>
            </a:endParaRPr>
          </a:p>
        </p:txBody>
      </p:sp>
      <p:sp>
        <p:nvSpPr>
          <p:cNvPr id="208" name="Google Shape;208;p21"/>
          <p:cNvSpPr/>
          <p:nvPr/>
        </p:nvSpPr>
        <p:spPr>
          <a:xfrm>
            <a:off x="857250" y="2123480"/>
            <a:ext cx="3479006" cy="155377"/>
          </a:xfrm>
          <a:prstGeom prst="rect">
            <a:avLst/>
          </a:prstGeom>
          <a:noFill/>
          <a:ln>
            <a:noFill/>
          </a:ln>
        </p:spPr>
        <p:txBody>
          <a:bodyPr anchorCtr="0" anchor="t" bIns="0" lIns="170050" spcFirstLastPara="1" rIns="0" wrap="square" tIns="0">
            <a:noAutofit/>
          </a:bodyPr>
          <a:lstStyle/>
          <a:p>
            <a:pPr indent="0" lvl="0" marL="0" marR="0" rtl="0" algn="l">
              <a:spcBef>
                <a:spcPts val="0"/>
              </a:spcBef>
              <a:spcAft>
                <a:spcPts val="0"/>
              </a:spcAft>
              <a:buClr>
                <a:srgbClr val="3182CE"/>
              </a:buClr>
              <a:buSzPts val="900"/>
              <a:buFont typeface="Inter SemiBold"/>
              <a:buNone/>
            </a:pPr>
            <a:r>
              <a:rPr b="0" i="0" lang="en-GB" sz="900" u="none" cap="none" strike="noStrike">
                <a:solidFill>
                  <a:srgbClr val="3182CE"/>
                </a:solidFill>
                <a:latin typeface="Inter SemiBold"/>
                <a:ea typeface="Inter SemiBold"/>
                <a:cs typeface="Inter SemiBold"/>
                <a:sym typeface="Inter SemiBold"/>
              </a:rPr>
              <a:t>Google</a:t>
            </a:r>
            <a:r>
              <a:rPr b="0" i="0" lang="en-GB" sz="950" u="none" cap="none" strike="noStrike">
                <a:solidFill>
                  <a:srgbClr val="2D3748"/>
                </a:solidFill>
                <a:latin typeface="Inter"/>
                <a:ea typeface="Inter"/>
                <a:cs typeface="Inter"/>
                <a:sym typeface="Inter"/>
              </a:rPr>
              <a:t>: Gemini 1.5 Pro</a:t>
            </a:r>
            <a:endParaRPr b="0" i="0" sz="900" u="none" cap="none" strike="noStrike">
              <a:solidFill>
                <a:schemeClr val="dk1"/>
              </a:solidFill>
              <a:latin typeface="Calibri"/>
              <a:ea typeface="Calibri"/>
              <a:cs typeface="Calibri"/>
              <a:sym typeface="Calibri"/>
            </a:endParaRPr>
          </a:p>
        </p:txBody>
      </p:sp>
      <p:sp>
        <p:nvSpPr>
          <p:cNvPr id="209" name="Google Shape;209;p21"/>
          <p:cNvSpPr/>
          <p:nvPr/>
        </p:nvSpPr>
        <p:spPr>
          <a:xfrm>
            <a:off x="4650581" y="1285875"/>
            <a:ext cx="4064794" cy="1064419"/>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1"/>
          <p:cNvSpPr/>
          <p:nvPr/>
        </p:nvSpPr>
        <p:spPr>
          <a:xfrm>
            <a:off x="857250" y="1698427"/>
            <a:ext cx="128588"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950"/>
              <a:buFont typeface="Inter"/>
              <a:buNone/>
            </a:pPr>
            <a:r>
              <a:rPr b="0" i="0" lang="en-GB" sz="950" u="none" cap="none" strike="noStrike">
                <a:solidFill>
                  <a:srgbClr val="3182CE"/>
                </a:solidFill>
                <a:latin typeface="Inter"/>
                <a:ea typeface="Inter"/>
                <a:cs typeface="Inter"/>
                <a:sym typeface="Inter"/>
              </a:rPr>
              <a:t>→</a:t>
            </a:r>
            <a:endParaRPr b="0" i="0" sz="950" u="none" cap="none" strike="noStrike">
              <a:solidFill>
                <a:schemeClr val="dk1"/>
              </a:solidFill>
              <a:latin typeface="Calibri"/>
              <a:ea typeface="Calibri"/>
              <a:cs typeface="Calibri"/>
              <a:sym typeface="Calibri"/>
            </a:endParaRPr>
          </a:p>
        </p:txBody>
      </p:sp>
      <p:sp>
        <p:nvSpPr>
          <p:cNvPr id="211" name="Google Shape;211;p21"/>
          <p:cNvSpPr/>
          <p:nvPr/>
        </p:nvSpPr>
        <p:spPr>
          <a:xfrm>
            <a:off x="857250" y="1910953"/>
            <a:ext cx="128588"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950"/>
              <a:buFont typeface="Inter"/>
              <a:buNone/>
            </a:pPr>
            <a:r>
              <a:rPr b="0" i="0" lang="en-GB" sz="950" u="none" cap="none" strike="noStrike">
                <a:solidFill>
                  <a:srgbClr val="3182CE"/>
                </a:solidFill>
                <a:latin typeface="Inter"/>
                <a:ea typeface="Inter"/>
                <a:cs typeface="Inter"/>
                <a:sym typeface="Inter"/>
              </a:rPr>
              <a:t>→</a:t>
            </a:r>
            <a:endParaRPr b="0" i="0" sz="950" u="none" cap="none" strike="noStrike">
              <a:solidFill>
                <a:schemeClr val="dk1"/>
              </a:solidFill>
              <a:latin typeface="Calibri"/>
              <a:ea typeface="Calibri"/>
              <a:cs typeface="Calibri"/>
              <a:sym typeface="Calibri"/>
            </a:endParaRPr>
          </a:p>
        </p:txBody>
      </p:sp>
      <p:sp>
        <p:nvSpPr>
          <p:cNvPr id="212" name="Google Shape;212;p21"/>
          <p:cNvSpPr/>
          <p:nvPr/>
        </p:nvSpPr>
        <p:spPr>
          <a:xfrm>
            <a:off x="857250" y="2123480"/>
            <a:ext cx="128588"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950"/>
              <a:buFont typeface="Inter"/>
              <a:buNone/>
            </a:pPr>
            <a:r>
              <a:rPr b="0" i="0" lang="en-GB" sz="950" u="none" cap="none" strike="noStrike">
                <a:solidFill>
                  <a:srgbClr val="3182CE"/>
                </a:solidFill>
                <a:latin typeface="Inter"/>
                <a:ea typeface="Inter"/>
                <a:cs typeface="Inter"/>
                <a:sym typeface="Inter"/>
              </a:rPr>
              <a:t>→</a:t>
            </a:r>
            <a:endParaRPr b="0" i="0" sz="950" u="none" cap="none" strike="noStrike">
              <a:solidFill>
                <a:schemeClr val="dk1"/>
              </a:solidFill>
              <a:latin typeface="Calibri"/>
              <a:ea typeface="Calibri"/>
              <a:cs typeface="Calibri"/>
              <a:sym typeface="Calibri"/>
            </a:endParaRPr>
          </a:p>
        </p:txBody>
      </p:sp>
      <p:sp>
        <p:nvSpPr>
          <p:cNvPr id="213" name="Google Shape;213;p21"/>
          <p:cNvSpPr/>
          <p:nvPr/>
        </p:nvSpPr>
        <p:spPr>
          <a:xfrm>
            <a:off x="4800600" y="1371600"/>
            <a:ext cx="2373511" cy="2053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150"/>
              <a:buFont typeface="Montserrat"/>
              <a:buNone/>
            </a:pPr>
            <a:r>
              <a:rPr b="1" i="0" lang="en-GB" sz="1150" u="none" cap="none" strike="noStrike">
                <a:solidFill>
                  <a:srgbClr val="0A2342"/>
                </a:solidFill>
                <a:latin typeface="Montserrat"/>
                <a:ea typeface="Montserrat"/>
                <a:cs typeface="Montserrat"/>
                <a:sym typeface="Montserrat"/>
              </a:rPr>
              <a:t>Open-Source (Cost Effective)</a:t>
            </a:r>
            <a:endParaRPr b="0" i="0" sz="1150" u="none" cap="none" strike="noStrike">
              <a:solidFill>
                <a:schemeClr val="dk1"/>
              </a:solidFill>
              <a:latin typeface="Calibri"/>
              <a:ea typeface="Calibri"/>
              <a:cs typeface="Calibri"/>
              <a:sym typeface="Calibri"/>
            </a:endParaRPr>
          </a:p>
        </p:txBody>
      </p:sp>
      <p:sp>
        <p:nvSpPr>
          <p:cNvPr id="214" name="Google Shape;214;p21"/>
          <p:cNvSpPr/>
          <p:nvPr/>
        </p:nvSpPr>
        <p:spPr>
          <a:xfrm>
            <a:off x="5086350" y="1698427"/>
            <a:ext cx="3486150" cy="155377"/>
          </a:xfrm>
          <a:prstGeom prst="rect">
            <a:avLst/>
          </a:prstGeom>
          <a:noFill/>
          <a:ln>
            <a:noFill/>
          </a:ln>
        </p:spPr>
        <p:txBody>
          <a:bodyPr anchorCtr="0" anchor="t" bIns="0" lIns="170050" spcFirstLastPara="1" rIns="0" wrap="square" tIns="0">
            <a:noAutofit/>
          </a:bodyPr>
          <a:lstStyle/>
          <a:p>
            <a:pPr indent="0" lvl="0" marL="0" marR="0" rtl="0" algn="l">
              <a:spcBef>
                <a:spcPts val="0"/>
              </a:spcBef>
              <a:spcAft>
                <a:spcPts val="0"/>
              </a:spcAft>
              <a:buClr>
                <a:srgbClr val="3182CE"/>
              </a:buClr>
              <a:buSzPts val="900"/>
              <a:buFont typeface="Inter SemiBold"/>
              <a:buNone/>
            </a:pPr>
            <a:r>
              <a:rPr b="0" i="0" lang="en-GB" sz="900" u="none" cap="none" strike="noStrike">
                <a:solidFill>
                  <a:srgbClr val="3182CE"/>
                </a:solidFill>
                <a:latin typeface="Inter SemiBold"/>
                <a:ea typeface="Inter SemiBold"/>
                <a:cs typeface="Inter SemiBold"/>
                <a:sym typeface="Inter SemiBold"/>
              </a:rPr>
              <a:t>Meta</a:t>
            </a:r>
            <a:r>
              <a:rPr b="0" i="0" lang="en-GB" sz="950" u="none" cap="none" strike="noStrike">
                <a:solidFill>
                  <a:srgbClr val="2D3748"/>
                </a:solidFill>
                <a:latin typeface="Inter"/>
                <a:ea typeface="Inter"/>
                <a:cs typeface="Inter"/>
                <a:sym typeface="Inter"/>
              </a:rPr>
              <a:t>: Llama 3.2 1B</a:t>
            </a:r>
            <a:endParaRPr b="0" i="0" sz="900" u="none" cap="none" strike="noStrike">
              <a:solidFill>
                <a:schemeClr val="dk1"/>
              </a:solidFill>
              <a:latin typeface="Calibri"/>
              <a:ea typeface="Calibri"/>
              <a:cs typeface="Calibri"/>
              <a:sym typeface="Calibri"/>
            </a:endParaRPr>
          </a:p>
        </p:txBody>
      </p:sp>
      <p:sp>
        <p:nvSpPr>
          <p:cNvPr id="215" name="Google Shape;215;p21"/>
          <p:cNvSpPr/>
          <p:nvPr/>
        </p:nvSpPr>
        <p:spPr>
          <a:xfrm>
            <a:off x="5086350" y="1910953"/>
            <a:ext cx="3486150" cy="155377"/>
          </a:xfrm>
          <a:prstGeom prst="rect">
            <a:avLst/>
          </a:prstGeom>
          <a:noFill/>
          <a:ln>
            <a:noFill/>
          </a:ln>
        </p:spPr>
        <p:txBody>
          <a:bodyPr anchorCtr="0" anchor="t" bIns="0" lIns="170050" spcFirstLastPara="1" rIns="0" wrap="square" tIns="0">
            <a:noAutofit/>
          </a:bodyPr>
          <a:lstStyle/>
          <a:p>
            <a:pPr indent="0" lvl="0" marL="0" marR="0" rtl="0" algn="l">
              <a:spcBef>
                <a:spcPts val="0"/>
              </a:spcBef>
              <a:spcAft>
                <a:spcPts val="0"/>
              </a:spcAft>
              <a:buClr>
                <a:srgbClr val="3182CE"/>
              </a:buClr>
              <a:buSzPts val="900"/>
              <a:buFont typeface="Inter SemiBold"/>
              <a:buNone/>
            </a:pPr>
            <a:r>
              <a:rPr b="0" i="0" lang="en-GB" sz="900" u="none" cap="none" strike="noStrike">
                <a:solidFill>
                  <a:srgbClr val="3182CE"/>
                </a:solidFill>
                <a:latin typeface="Inter SemiBold"/>
                <a:ea typeface="Inter SemiBold"/>
                <a:cs typeface="Inter SemiBold"/>
                <a:sym typeface="Inter SemiBold"/>
              </a:rPr>
              <a:t>Alibaba</a:t>
            </a:r>
            <a:r>
              <a:rPr b="0" i="0" lang="en-GB" sz="950" u="none" cap="none" strike="noStrike">
                <a:solidFill>
                  <a:srgbClr val="2D3748"/>
                </a:solidFill>
                <a:latin typeface="Inter"/>
                <a:ea typeface="Inter"/>
                <a:cs typeface="Inter"/>
                <a:sym typeface="Inter"/>
              </a:rPr>
              <a:t>: Qwen 2.5 7B</a:t>
            </a:r>
            <a:endParaRPr b="0" i="0" sz="900" u="none" cap="none" strike="noStrike">
              <a:solidFill>
                <a:schemeClr val="dk1"/>
              </a:solidFill>
              <a:latin typeface="Calibri"/>
              <a:ea typeface="Calibri"/>
              <a:cs typeface="Calibri"/>
              <a:sym typeface="Calibri"/>
            </a:endParaRPr>
          </a:p>
        </p:txBody>
      </p:sp>
      <p:sp>
        <p:nvSpPr>
          <p:cNvPr id="216" name="Google Shape;216;p21"/>
          <p:cNvSpPr/>
          <p:nvPr/>
        </p:nvSpPr>
        <p:spPr>
          <a:xfrm>
            <a:off x="5086350" y="2123480"/>
            <a:ext cx="3486150" cy="155377"/>
          </a:xfrm>
          <a:prstGeom prst="rect">
            <a:avLst/>
          </a:prstGeom>
          <a:noFill/>
          <a:ln>
            <a:noFill/>
          </a:ln>
        </p:spPr>
        <p:txBody>
          <a:bodyPr anchorCtr="0" anchor="t" bIns="0" lIns="170050" spcFirstLastPara="1" rIns="0" wrap="square" tIns="0">
            <a:noAutofit/>
          </a:bodyPr>
          <a:lstStyle/>
          <a:p>
            <a:pPr indent="0" lvl="0" marL="0" marR="0" rtl="0" algn="l">
              <a:spcBef>
                <a:spcPts val="0"/>
              </a:spcBef>
              <a:spcAft>
                <a:spcPts val="0"/>
              </a:spcAft>
              <a:buClr>
                <a:srgbClr val="3182CE"/>
              </a:buClr>
              <a:buSzPts val="900"/>
              <a:buFont typeface="Inter SemiBold"/>
              <a:buNone/>
            </a:pPr>
            <a:r>
              <a:rPr b="0" i="0" lang="en-GB" sz="900" u="none" cap="none" strike="noStrike">
                <a:solidFill>
                  <a:srgbClr val="3182CE"/>
                </a:solidFill>
                <a:latin typeface="Inter SemiBold"/>
                <a:ea typeface="Inter SemiBold"/>
                <a:cs typeface="Inter SemiBold"/>
                <a:sym typeface="Inter SemiBold"/>
              </a:rPr>
              <a:t>Google</a:t>
            </a:r>
            <a:r>
              <a:rPr b="0" i="0" lang="en-GB" sz="950" u="none" cap="none" strike="noStrike">
                <a:solidFill>
                  <a:srgbClr val="2D3748"/>
                </a:solidFill>
                <a:latin typeface="Inter"/>
                <a:ea typeface="Inter"/>
                <a:cs typeface="Inter"/>
                <a:sym typeface="Inter"/>
              </a:rPr>
              <a:t>: Gemma 2 2B</a:t>
            </a:r>
            <a:endParaRPr b="0" i="0" sz="900" u="none" cap="none" strike="noStrike">
              <a:solidFill>
                <a:schemeClr val="dk1"/>
              </a:solidFill>
              <a:latin typeface="Calibri"/>
              <a:ea typeface="Calibri"/>
              <a:cs typeface="Calibri"/>
              <a:sym typeface="Calibri"/>
            </a:endParaRPr>
          </a:p>
        </p:txBody>
      </p:sp>
      <p:sp>
        <p:nvSpPr>
          <p:cNvPr id="217" name="Google Shape;217;p21"/>
          <p:cNvSpPr/>
          <p:nvPr/>
        </p:nvSpPr>
        <p:spPr>
          <a:xfrm>
            <a:off x="428625" y="2478881"/>
            <a:ext cx="8286750" cy="961839"/>
          </a:xfrm>
          <a:prstGeom prst="rect">
            <a:avLst/>
          </a:prstGeom>
          <a:solidFill>
            <a:srgbClr val="EBF8FF"/>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
          <p:cNvSpPr/>
          <p:nvPr/>
        </p:nvSpPr>
        <p:spPr>
          <a:xfrm>
            <a:off x="5086350" y="1698427"/>
            <a:ext cx="128588"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950"/>
              <a:buFont typeface="Inter"/>
              <a:buNone/>
            </a:pPr>
            <a:r>
              <a:rPr b="0" i="0" lang="en-GB" sz="950" u="none" cap="none" strike="noStrike">
                <a:solidFill>
                  <a:srgbClr val="3182CE"/>
                </a:solidFill>
                <a:latin typeface="Inter"/>
                <a:ea typeface="Inter"/>
                <a:cs typeface="Inter"/>
                <a:sym typeface="Inter"/>
              </a:rPr>
              <a:t>→</a:t>
            </a:r>
            <a:endParaRPr b="0" i="0" sz="950" u="none" cap="none" strike="noStrike">
              <a:solidFill>
                <a:schemeClr val="dk1"/>
              </a:solidFill>
              <a:latin typeface="Calibri"/>
              <a:ea typeface="Calibri"/>
              <a:cs typeface="Calibri"/>
              <a:sym typeface="Calibri"/>
            </a:endParaRPr>
          </a:p>
        </p:txBody>
      </p:sp>
      <p:sp>
        <p:nvSpPr>
          <p:cNvPr id="219" name="Google Shape;219;p21"/>
          <p:cNvSpPr/>
          <p:nvPr/>
        </p:nvSpPr>
        <p:spPr>
          <a:xfrm>
            <a:off x="5086350" y="1910953"/>
            <a:ext cx="128588"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950"/>
              <a:buFont typeface="Inter"/>
              <a:buNone/>
            </a:pPr>
            <a:r>
              <a:rPr b="0" i="0" lang="en-GB" sz="950" u="none" cap="none" strike="noStrike">
                <a:solidFill>
                  <a:srgbClr val="3182CE"/>
                </a:solidFill>
                <a:latin typeface="Inter"/>
                <a:ea typeface="Inter"/>
                <a:cs typeface="Inter"/>
                <a:sym typeface="Inter"/>
              </a:rPr>
              <a:t>→</a:t>
            </a:r>
            <a:endParaRPr b="0" i="0" sz="950" u="none" cap="none" strike="noStrike">
              <a:solidFill>
                <a:schemeClr val="dk1"/>
              </a:solidFill>
              <a:latin typeface="Calibri"/>
              <a:ea typeface="Calibri"/>
              <a:cs typeface="Calibri"/>
              <a:sym typeface="Calibri"/>
            </a:endParaRPr>
          </a:p>
        </p:txBody>
      </p:sp>
      <p:sp>
        <p:nvSpPr>
          <p:cNvPr id="220" name="Google Shape;220;p21"/>
          <p:cNvSpPr/>
          <p:nvPr/>
        </p:nvSpPr>
        <p:spPr>
          <a:xfrm>
            <a:off x="5086350" y="2123480"/>
            <a:ext cx="128588" cy="155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950"/>
              <a:buFont typeface="Inter"/>
              <a:buNone/>
            </a:pPr>
            <a:r>
              <a:rPr b="0" i="0" lang="en-GB" sz="950" u="none" cap="none" strike="noStrike">
                <a:solidFill>
                  <a:srgbClr val="3182CE"/>
                </a:solidFill>
                <a:latin typeface="Inter"/>
                <a:ea typeface="Inter"/>
                <a:cs typeface="Inter"/>
                <a:sym typeface="Inter"/>
              </a:rPr>
              <a:t>→</a:t>
            </a:r>
            <a:endParaRPr b="0" i="0" sz="950" u="none" cap="none" strike="noStrike">
              <a:solidFill>
                <a:schemeClr val="dk1"/>
              </a:solidFill>
              <a:latin typeface="Calibri"/>
              <a:ea typeface="Calibri"/>
              <a:cs typeface="Calibri"/>
              <a:sym typeface="Calibri"/>
            </a:endParaRPr>
          </a:p>
        </p:txBody>
      </p:sp>
      <p:sp>
        <p:nvSpPr>
          <p:cNvPr id="221" name="Google Shape;221;p21"/>
          <p:cNvSpPr/>
          <p:nvPr/>
        </p:nvSpPr>
        <p:spPr>
          <a:xfrm>
            <a:off x="571500" y="2564606"/>
            <a:ext cx="8001000" cy="1732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282"/>
              </a:buClr>
              <a:buSzPts val="1050"/>
              <a:buFont typeface="Montserrat"/>
              <a:buNone/>
            </a:pPr>
            <a:r>
              <a:rPr b="1" i="0" lang="en-GB" sz="1050" u="none" cap="none" strike="noStrike">
                <a:solidFill>
                  <a:srgbClr val="2C5282"/>
                </a:solidFill>
                <a:latin typeface="Montserrat"/>
                <a:ea typeface="Montserrat"/>
                <a:cs typeface="Montserrat"/>
                <a:sym typeface="Montserrat"/>
              </a:rPr>
              <a:t>OPTIMIZATION STRATEGIES</a:t>
            </a:r>
            <a:endParaRPr b="0" i="0" sz="1050" u="none" cap="none" strike="noStrike">
              <a:solidFill>
                <a:schemeClr val="dk1"/>
              </a:solidFill>
              <a:latin typeface="Calibri"/>
              <a:ea typeface="Calibri"/>
              <a:cs typeface="Calibri"/>
              <a:sym typeface="Calibri"/>
            </a:endParaRPr>
          </a:p>
        </p:txBody>
      </p:sp>
      <p:sp>
        <p:nvSpPr>
          <p:cNvPr id="222" name="Google Shape;222;p21"/>
          <p:cNvSpPr/>
          <p:nvPr/>
        </p:nvSpPr>
        <p:spPr>
          <a:xfrm>
            <a:off x="571500" y="2809280"/>
            <a:ext cx="3914775" cy="41143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 </a:t>
            </a:r>
            <a:r>
              <a:rPr b="0" i="0" lang="en-GB" sz="900" u="none" cap="none" strike="noStrike">
                <a:solidFill>
                  <a:srgbClr val="3182CE"/>
                </a:solidFill>
                <a:latin typeface="Inter SemiBold"/>
                <a:ea typeface="Inter SemiBold"/>
                <a:cs typeface="Inter SemiBold"/>
                <a:sym typeface="Inter SemiBold"/>
              </a:rPr>
              <a:t>Token Limits</a:t>
            </a:r>
            <a:r>
              <a:rPr b="0" i="0" lang="en-GB" sz="950" u="none" cap="none" strike="noStrike">
                <a:solidFill>
                  <a:srgbClr val="2D3748"/>
                </a:solidFill>
                <a:latin typeface="Inter"/>
                <a:ea typeface="Inter"/>
                <a:cs typeface="Inter"/>
                <a:sym typeface="Inter"/>
              </a:rPr>
              <a:t>: Capped at 512 tokens to reduce per-call costs.</a:t>
            </a:r>
            <a:br>
              <a:rPr b="0" i="0" lang="en-GB" sz="950" u="none" cap="none" strike="noStrike">
                <a:solidFill>
                  <a:srgbClr val="2D3748"/>
                </a:solidFill>
                <a:latin typeface="Inter"/>
                <a:ea typeface="Inter"/>
                <a:cs typeface="Inter"/>
                <a:sym typeface="Inter"/>
              </a:rPr>
            </a:br>
            <a:r>
              <a:rPr b="0" i="0" lang="en-GB" sz="950" u="none" cap="none" strike="noStrike">
                <a:solidFill>
                  <a:srgbClr val="2D3748"/>
                </a:solidFill>
                <a:latin typeface="Inter"/>
                <a:ea typeface="Inter"/>
                <a:cs typeface="Inter"/>
                <a:sym typeface="Inter"/>
              </a:rPr>
              <a:t>• </a:t>
            </a:r>
            <a:r>
              <a:rPr b="0" i="0" lang="en-GB" sz="900" u="none" cap="none" strike="noStrike">
                <a:solidFill>
                  <a:srgbClr val="3182CE"/>
                </a:solidFill>
                <a:latin typeface="Inter SemiBold"/>
                <a:ea typeface="Inter SemiBold"/>
                <a:cs typeface="Inter SemiBold"/>
                <a:sym typeface="Inter SemiBold"/>
              </a:rPr>
              <a:t>Run Control</a:t>
            </a:r>
            <a:r>
              <a:rPr b="0" i="0" lang="en-GB" sz="950" u="none" cap="none" strike="noStrike">
                <a:solidFill>
                  <a:srgbClr val="2D3748"/>
                </a:solidFill>
                <a:latin typeface="Inter"/>
                <a:ea typeface="Inter"/>
                <a:cs typeface="Inter"/>
                <a:sym typeface="Inter"/>
              </a:rPr>
              <a:t>: Configurable runs (default 1) for rapid iteration.</a:t>
            </a:r>
            <a:endParaRPr b="0" i="0" sz="950" u="none" cap="none" strike="noStrike">
              <a:solidFill>
                <a:schemeClr val="dk1"/>
              </a:solidFill>
              <a:latin typeface="Calibri"/>
              <a:ea typeface="Calibri"/>
              <a:cs typeface="Calibri"/>
              <a:sym typeface="Calibri"/>
            </a:endParaRPr>
          </a:p>
        </p:txBody>
      </p:sp>
      <p:sp>
        <p:nvSpPr>
          <p:cNvPr id="223" name="Google Shape;223;p21"/>
          <p:cNvSpPr/>
          <p:nvPr/>
        </p:nvSpPr>
        <p:spPr>
          <a:xfrm>
            <a:off x="4657725" y="2809280"/>
            <a:ext cx="3914775" cy="41143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 </a:t>
            </a:r>
            <a:r>
              <a:rPr b="0" i="0" lang="en-GB" sz="900" u="none" cap="none" strike="noStrike">
                <a:solidFill>
                  <a:srgbClr val="3182CE"/>
                </a:solidFill>
                <a:latin typeface="Inter SemiBold"/>
                <a:ea typeface="Inter SemiBold"/>
                <a:cs typeface="Inter SemiBold"/>
                <a:sym typeface="Inter SemiBold"/>
              </a:rPr>
              <a:t>Inference Choice</a:t>
            </a:r>
            <a:r>
              <a:rPr b="0" i="0" lang="en-GB" sz="950" u="none" cap="none" strike="noStrike">
                <a:solidFill>
                  <a:srgbClr val="2D3748"/>
                </a:solidFill>
                <a:latin typeface="Inter"/>
                <a:ea typeface="Inter"/>
                <a:cs typeface="Inter"/>
                <a:sym typeface="Inter"/>
              </a:rPr>
              <a:t>: Use HF Serverless for open-source models.</a:t>
            </a:r>
            <a:br>
              <a:rPr b="0" i="0" lang="en-GB" sz="950" u="none" cap="none" strike="noStrike">
                <a:solidFill>
                  <a:srgbClr val="2D3748"/>
                </a:solidFill>
                <a:latin typeface="Inter"/>
                <a:ea typeface="Inter"/>
                <a:cs typeface="Inter"/>
                <a:sym typeface="Inter"/>
              </a:rPr>
            </a:br>
            <a:r>
              <a:rPr b="0" i="0" lang="en-GB" sz="950" u="none" cap="none" strike="noStrike">
                <a:solidFill>
                  <a:srgbClr val="2D3748"/>
                </a:solidFill>
                <a:latin typeface="Inter"/>
                <a:ea typeface="Inter"/>
                <a:cs typeface="Inter"/>
                <a:sym typeface="Inter"/>
              </a:rPr>
              <a:t>• </a:t>
            </a:r>
            <a:r>
              <a:rPr b="0" i="0" lang="en-GB" sz="900" u="none" cap="none" strike="noStrike">
                <a:solidFill>
                  <a:srgbClr val="3182CE"/>
                </a:solidFill>
                <a:latin typeface="Inter SemiBold"/>
                <a:ea typeface="Inter SemiBold"/>
                <a:cs typeface="Inter SemiBold"/>
                <a:sym typeface="Inter SemiBold"/>
              </a:rPr>
              <a:t>Trade-off</a:t>
            </a:r>
            <a:r>
              <a:rPr b="0" i="0" lang="en-GB" sz="950" u="none" cap="none" strike="noStrike">
                <a:solidFill>
                  <a:srgbClr val="2D3748"/>
                </a:solidFill>
                <a:latin typeface="Inter"/>
                <a:ea typeface="Inter"/>
                <a:cs typeface="Inter"/>
                <a:sym typeface="Inter"/>
              </a:rPr>
              <a:t>: Smaller models enable cheap experimentation.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preencoded.png" id="229" name="Google Shape;229;p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0" name="Google Shape;230;p22"/>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571500" y="505420"/>
            <a:ext cx="8001000" cy="41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Results and Experiments</a:t>
            </a:r>
            <a:endParaRPr b="0" i="0" sz="2450" u="none" cap="none" strike="noStrike">
              <a:solidFill>
                <a:schemeClr val="dk1"/>
              </a:solidFill>
              <a:latin typeface="Calibri"/>
              <a:ea typeface="Calibri"/>
              <a:cs typeface="Calibri"/>
              <a:sym typeface="Calibri"/>
            </a:endParaRPr>
          </a:p>
        </p:txBody>
      </p:sp>
      <p:sp>
        <p:nvSpPr>
          <p:cNvPr id="232" name="Google Shape;232;p22"/>
          <p:cNvSpPr/>
          <p:nvPr/>
        </p:nvSpPr>
        <p:spPr>
          <a:xfrm>
            <a:off x="428625" y="1357313"/>
            <a:ext cx="3850500" cy="1280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
          <p:cNvSpPr/>
          <p:nvPr/>
        </p:nvSpPr>
        <p:spPr>
          <a:xfrm>
            <a:off x="571500" y="1500188"/>
            <a:ext cx="1352100" cy="18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050"/>
              <a:buFont typeface="Montserrat"/>
              <a:buNone/>
            </a:pPr>
            <a:r>
              <a:rPr b="1" i="0" lang="en-GB" sz="1050" u="none" cap="none" strike="noStrike">
                <a:solidFill>
                  <a:srgbClr val="0A2342"/>
                </a:solidFill>
                <a:latin typeface="Montserrat"/>
                <a:ea typeface="Montserrat"/>
                <a:cs typeface="Montserrat"/>
                <a:sym typeface="Montserrat"/>
              </a:rPr>
              <a:t>Experiment Setup</a:t>
            </a:r>
            <a:endParaRPr b="0" i="0" sz="1050" u="none" cap="none" strike="noStrike">
              <a:solidFill>
                <a:schemeClr val="dk1"/>
              </a:solidFill>
              <a:latin typeface="Calibri"/>
              <a:ea typeface="Calibri"/>
              <a:cs typeface="Calibri"/>
              <a:sym typeface="Calibri"/>
            </a:endParaRPr>
          </a:p>
        </p:txBody>
      </p:sp>
      <p:sp>
        <p:nvSpPr>
          <p:cNvPr id="234" name="Google Shape;234;p22"/>
          <p:cNvSpPr/>
          <p:nvPr/>
        </p:nvSpPr>
        <p:spPr>
          <a:xfrm>
            <a:off x="857250" y="1794867"/>
            <a:ext cx="3279000" cy="34290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50"/>
              <a:buFont typeface="Inter"/>
              <a:buNone/>
            </a:pPr>
            <a:r>
              <a:rPr b="0" i="0" lang="en-GB" sz="850" u="none" cap="none" strike="noStrike">
                <a:solidFill>
                  <a:srgbClr val="2D3748"/>
                </a:solidFill>
                <a:latin typeface="Inter"/>
                <a:ea typeface="Inter"/>
                <a:cs typeface="Inter"/>
                <a:sym typeface="Inter"/>
              </a:rPr>
              <a:t>Evaluated high-tier APIs (GPT-4o, Claude 3.5) vs. Open-Source (Llama 3.2, Qwen 2.5).</a:t>
            </a:r>
            <a:endParaRPr b="0" i="0" sz="850" u="none" cap="none" strike="noStrike">
              <a:solidFill>
                <a:schemeClr val="dk1"/>
              </a:solidFill>
              <a:latin typeface="Calibri"/>
              <a:ea typeface="Calibri"/>
              <a:cs typeface="Calibri"/>
              <a:sym typeface="Calibri"/>
            </a:endParaRPr>
          </a:p>
        </p:txBody>
      </p:sp>
      <p:sp>
        <p:nvSpPr>
          <p:cNvPr id="235" name="Google Shape;235;p22"/>
          <p:cNvSpPr/>
          <p:nvPr/>
        </p:nvSpPr>
        <p:spPr>
          <a:xfrm>
            <a:off x="857250" y="2209205"/>
            <a:ext cx="3279000" cy="34290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50"/>
              <a:buFont typeface="Inter"/>
              <a:buNone/>
            </a:pPr>
            <a:r>
              <a:rPr b="0" i="0" lang="en-GB" sz="850" u="none" cap="none" strike="noStrike">
                <a:solidFill>
                  <a:srgbClr val="2D3748"/>
                </a:solidFill>
                <a:latin typeface="Inter"/>
                <a:ea typeface="Inter"/>
                <a:cs typeface="Inter"/>
                <a:sym typeface="Inter"/>
              </a:rPr>
              <a:t>Dataset: 50–100 hard reasoning problems with golden references.</a:t>
            </a:r>
            <a:endParaRPr b="0" i="0" sz="850" u="none" cap="none" strike="noStrike">
              <a:solidFill>
                <a:schemeClr val="dk1"/>
              </a:solidFill>
              <a:latin typeface="Calibri"/>
              <a:ea typeface="Calibri"/>
              <a:cs typeface="Calibri"/>
              <a:sym typeface="Calibri"/>
            </a:endParaRPr>
          </a:p>
        </p:txBody>
      </p:sp>
      <p:sp>
        <p:nvSpPr>
          <p:cNvPr id="236" name="Google Shape;236;p22"/>
          <p:cNvSpPr/>
          <p:nvPr/>
        </p:nvSpPr>
        <p:spPr>
          <a:xfrm>
            <a:off x="428625" y="2694980"/>
            <a:ext cx="3850500" cy="1280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2"/>
          <p:cNvSpPr/>
          <p:nvPr/>
        </p:nvSpPr>
        <p:spPr>
          <a:xfrm>
            <a:off x="857250" y="1794867"/>
            <a:ext cx="57300" cy="17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00"/>
              <a:buFont typeface="Inter SemiBold"/>
              <a:buNone/>
            </a:pPr>
            <a:r>
              <a:rPr b="1" i="0" lang="en-GB" sz="800" u="none" cap="none" strike="noStrike">
                <a:solidFill>
                  <a:srgbClr val="3182CE"/>
                </a:solidFill>
                <a:latin typeface="Inter SemiBold"/>
                <a:ea typeface="Inter SemiBold"/>
                <a:cs typeface="Inter SemiBold"/>
                <a:sym typeface="Inter SemiBold"/>
              </a:rPr>
              <a:t>•</a:t>
            </a:r>
            <a:endParaRPr b="0" i="0" sz="800" u="none" cap="none" strike="noStrike">
              <a:solidFill>
                <a:schemeClr val="dk1"/>
              </a:solidFill>
              <a:latin typeface="Calibri"/>
              <a:ea typeface="Calibri"/>
              <a:cs typeface="Calibri"/>
              <a:sym typeface="Calibri"/>
            </a:endParaRPr>
          </a:p>
        </p:txBody>
      </p:sp>
      <p:sp>
        <p:nvSpPr>
          <p:cNvPr id="238" name="Google Shape;238;p22"/>
          <p:cNvSpPr/>
          <p:nvPr/>
        </p:nvSpPr>
        <p:spPr>
          <a:xfrm>
            <a:off x="857250" y="2209205"/>
            <a:ext cx="57300" cy="17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00"/>
              <a:buFont typeface="Inter SemiBold"/>
              <a:buNone/>
            </a:pPr>
            <a:r>
              <a:rPr b="1" i="0" lang="en-GB" sz="800" u="none" cap="none" strike="noStrike">
                <a:solidFill>
                  <a:srgbClr val="3182CE"/>
                </a:solidFill>
                <a:latin typeface="Inter SemiBold"/>
                <a:ea typeface="Inter SemiBold"/>
                <a:cs typeface="Inter SemiBold"/>
                <a:sym typeface="Inter SemiBold"/>
              </a:rPr>
              <a:t>•</a:t>
            </a:r>
            <a:endParaRPr b="0" i="0" sz="800" u="none" cap="none" strike="noStrike">
              <a:solidFill>
                <a:schemeClr val="dk1"/>
              </a:solidFill>
              <a:latin typeface="Calibri"/>
              <a:ea typeface="Calibri"/>
              <a:cs typeface="Calibri"/>
              <a:sym typeface="Calibri"/>
            </a:endParaRPr>
          </a:p>
        </p:txBody>
      </p:sp>
      <p:sp>
        <p:nvSpPr>
          <p:cNvPr id="239" name="Google Shape;239;p22"/>
          <p:cNvSpPr/>
          <p:nvPr/>
        </p:nvSpPr>
        <p:spPr>
          <a:xfrm>
            <a:off x="571500" y="2837855"/>
            <a:ext cx="964500" cy="18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050"/>
              <a:buFont typeface="Montserrat"/>
              <a:buNone/>
            </a:pPr>
            <a:r>
              <a:rPr b="1" i="0" lang="en-GB" sz="1050" u="none" cap="none" strike="noStrike">
                <a:solidFill>
                  <a:srgbClr val="0A2342"/>
                </a:solidFill>
                <a:latin typeface="Montserrat"/>
                <a:ea typeface="Montserrat"/>
                <a:cs typeface="Montserrat"/>
                <a:sym typeface="Montserrat"/>
              </a:rPr>
              <a:t>Key Findings</a:t>
            </a:r>
            <a:endParaRPr b="0" i="0" sz="1050" u="none" cap="none" strike="noStrike">
              <a:solidFill>
                <a:schemeClr val="dk1"/>
              </a:solidFill>
              <a:latin typeface="Calibri"/>
              <a:ea typeface="Calibri"/>
              <a:cs typeface="Calibri"/>
              <a:sym typeface="Calibri"/>
            </a:endParaRPr>
          </a:p>
        </p:txBody>
      </p:sp>
      <p:sp>
        <p:nvSpPr>
          <p:cNvPr id="240" name="Google Shape;240;p22"/>
          <p:cNvSpPr/>
          <p:nvPr/>
        </p:nvSpPr>
        <p:spPr>
          <a:xfrm>
            <a:off x="857250" y="3132534"/>
            <a:ext cx="3279000" cy="34290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00"/>
              <a:buFont typeface="Inter SemiBold"/>
              <a:buNone/>
            </a:pPr>
            <a:r>
              <a:rPr b="1" i="0" lang="en-GB" sz="800" u="none" cap="none" strike="noStrike">
                <a:solidFill>
                  <a:srgbClr val="2D3748"/>
                </a:solidFill>
                <a:latin typeface="Inter SemiBold"/>
                <a:ea typeface="Inter SemiBold"/>
                <a:cs typeface="Inter SemiBold"/>
                <a:sym typeface="Inter SemiBold"/>
              </a:rPr>
              <a:t>Rashomon Effect Confirmed</a:t>
            </a:r>
            <a:r>
              <a:rPr b="0" i="0" lang="en-GB" sz="850" u="none" cap="none" strike="noStrike">
                <a:solidFill>
                  <a:srgbClr val="2D3748"/>
                </a:solidFill>
                <a:latin typeface="Inter"/>
                <a:ea typeface="Inter"/>
                <a:cs typeface="Inter"/>
                <a:sym typeface="Inter"/>
              </a:rPr>
              <a:t>: High answer accuracy (AAS) does not guarantee reasoning alignment (RAS).</a:t>
            </a:r>
            <a:endParaRPr b="0" i="0" sz="800" u="none" cap="none" strike="noStrike">
              <a:solidFill>
                <a:schemeClr val="dk1"/>
              </a:solidFill>
              <a:latin typeface="Calibri"/>
              <a:ea typeface="Calibri"/>
              <a:cs typeface="Calibri"/>
              <a:sym typeface="Calibri"/>
            </a:endParaRPr>
          </a:p>
        </p:txBody>
      </p:sp>
      <p:sp>
        <p:nvSpPr>
          <p:cNvPr id="241" name="Google Shape;241;p22"/>
          <p:cNvSpPr/>
          <p:nvPr/>
        </p:nvSpPr>
        <p:spPr>
          <a:xfrm>
            <a:off x="857250" y="3546872"/>
            <a:ext cx="3279000" cy="342900"/>
          </a:xfrm>
          <a:prstGeom prst="rect">
            <a:avLst/>
          </a:prstGeom>
          <a:noFill/>
          <a:ln>
            <a:noFill/>
          </a:ln>
        </p:spPr>
        <p:txBody>
          <a:bodyPr anchorCtr="0" anchor="t" bIns="0" lIns="170050" spcFirstLastPara="1" rIns="0" wrap="square" tIns="0">
            <a:noAutofit/>
          </a:bodyPr>
          <a:lstStyle/>
          <a:p>
            <a:pPr indent="0" lvl="0" marL="0" marR="0" rtl="0" algn="l">
              <a:lnSpc>
                <a:spcPct val="120000"/>
              </a:lnSpc>
              <a:spcBef>
                <a:spcPts val="0"/>
              </a:spcBef>
              <a:spcAft>
                <a:spcPts val="0"/>
              </a:spcAft>
              <a:buClr>
                <a:srgbClr val="2D3748"/>
              </a:buClr>
              <a:buSzPts val="850"/>
              <a:buFont typeface="Inter"/>
              <a:buNone/>
            </a:pPr>
            <a:r>
              <a:rPr b="0" i="0" lang="en-GB" sz="850" u="none" cap="none" strike="noStrike">
                <a:solidFill>
                  <a:srgbClr val="2D3748"/>
                </a:solidFill>
                <a:latin typeface="Inter"/>
                <a:ea typeface="Inter"/>
                <a:cs typeface="Inter"/>
                <a:sym typeface="Inter"/>
              </a:rPr>
              <a:t>Larger models show significantly higher consistency (CS) and step-level coverage (SLMS).</a:t>
            </a:r>
            <a:endParaRPr b="0" i="0" sz="850" u="none" cap="none" strike="noStrike">
              <a:solidFill>
                <a:schemeClr val="dk1"/>
              </a:solidFill>
              <a:latin typeface="Calibri"/>
              <a:ea typeface="Calibri"/>
              <a:cs typeface="Calibri"/>
              <a:sym typeface="Calibri"/>
            </a:endParaRPr>
          </a:p>
        </p:txBody>
      </p:sp>
      <p:sp>
        <p:nvSpPr>
          <p:cNvPr id="242" name="Google Shape;242;p22"/>
          <p:cNvSpPr/>
          <p:nvPr/>
        </p:nvSpPr>
        <p:spPr>
          <a:xfrm>
            <a:off x="4564856" y="1357313"/>
            <a:ext cx="4150500" cy="29217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857250" y="3132534"/>
            <a:ext cx="57300" cy="17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00"/>
              <a:buFont typeface="Inter SemiBold"/>
              <a:buNone/>
            </a:pPr>
            <a:r>
              <a:rPr b="1" i="0" lang="en-GB" sz="800" u="none" cap="none" strike="noStrike">
                <a:solidFill>
                  <a:srgbClr val="3182CE"/>
                </a:solidFill>
                <a:latin typeface="Inter SemiBold"/>
                <a:ea typeface="Inter SemiBold"/>
                <a:cs typeface="Inter SemiBold"/>
                <a:sym typeface="Inter SemiBold"/>
              </a:rPr>
              <a:t>•</a:t>
            </a:r>
            <a:endParaRPr b="0" i="0" sz="800" u="none" cap="none" strike="noStrike">
              <a:solidFill>
                <a:schemeClr val="dk1"/>
              </a:solidFill>
              <a:latin typeface="Calibri"/>
              <a:ea typeface="Calibri"/>
              <a:cs typeface="Calibri"/>
              <a:sym typeface="Calibri"/>
            </a:endParaRPr>
          </a:p>
        </p:txBody>
      </p:sp>
      <p:sp>
        <p:nvSpPr>
          <p:cNvPr id="244" name="Google Shape;244;p22"/>
          <p:cNvSpPr/>
          <p:nvPr/>
        </p:nvSpPr>
        <p:spPr>
          <a:xfrm>
            <a:off x="857250" y="3546872"/>
            <a:ext cx="57300" cy="17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800"/>
              <a:buFont typeface="Inter SemiBold"/>
              <a:buNone/>
            </a:pPr>
            <a:r>
              <a:rPr b="1" i="0" lang="en-GB" sz="800" u="none" cap="none" strike="noStrike">
                <a:solidFill>
                  <a:srgbClr val="3182CE"/>
                </a:solidFill>
                <a:latin typeface="Inter SemiBold"/>
                <a:ea typeface="Inter SemiBold"/>
                <a:cs typeface="Inter SemiBold"/>
                <a:sym typeface="Inter SemiBold"/>
              </a:rPr>
              <a:t>•</a:t>
            </a:r>
            <a:endParaRPr b="0" i="0" sz="800" u="none" cap="none" strike="noStrike">
              <a:solidFill>
                <a:schemeClr val="dk1"/>
              </a:solidFill>
              <a:latin typeface="Calibri"/>
              <a:ea typeface="Calibri"/>
              <a:cs typeface="Calibri"/>
              <a:sym typeface="Calibri"/>
            </a:endParaRPr>
          </a:p>
        </p:txBody>
      </p:sp>
      <p:sp>
        <p:nvSpPr>
          <p:cNvPr id="245" name="Google Shape;245;p22"/>
          <p:cNvSpPr/>
          <p:nvPr/>
        </p:nvSpPr>
        <p:spPr>
          <a:xfrm>
            <a:off x="5742682" y="1500188"/>
            <a:ext cx="1802100" cy="1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950"/>
              <a:buFont typeface="Montserrat"/>
              <a:buNone/>
            </a:pPr>
            <a:r>
              <a:rPr b="1" i="0" lang="en-GB" sz="950" u="none" cap="none" strike="noStrike">
                <a:solidFill>
                  <a:srgbClr val="0A2342"/>
                </a:solidFill>
                <a:latin typeface="Montserrat"/>
                <a:ea typeface="Montserrat"/>
                <a:cs typeface="Montserrat"/>
                <a:sym typeface="Montserrat"/>
              </a:rPr>
              <a:t>Model Performance Profile</a:t>
            </a:r>
            <a:endParaRPr b="0" i="0" sz="950" u="none" cap="none" strike="noStrike">
              <a:solidFill>
                <a:schemeClr val="dk1"/>
              </a:solidFill>
              <a:latin typeface="Calibri"/>
              <a:ea typeface="Calibri"/>
              <a:cs typeface="Calibri"/>
              <a:sym typeface="Calibri"/>
            </a:endParaRPr>
          </a:p>
        </p:txBody>
      </p:sp>
      <p:pic>
        <p:nvPicPr>
          <p:cNvPr id="246" name="Google Shape;246;p22"/>
          <p:cNvPicPr preferRelativeResize="0"/>
          <p:nvPr/>
        </p:nvPicPr>
        <p:blipFill>
          <a:blip r:embed="rId4">
            <a:alphaModFix/>
          </a:blip>
          <a:stretch>
            <a:fillRect/>
          </a:stretch>
        </p:blipFill>
        <p:spPr>
          <a:xfrm>
            <a:off x="5593013" y="1851500"/>
            <a:ext cx="2020637" cy="2343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3"/>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3"/>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Results and Experiments</a:t>
            </a:r>
            <a:endParaRPr b="0" i="0" sz="2450" u="none" cap="none" strike="noStrike">
              <a:solidFill>
                <a:schemeClr val="dk1"/>
              </a:solidFill>
              <a:latin typeface="Calibri"/>
              <a:ea typeface="Calibri"/>
              <a:cs typeface="Calibri"/>
              <a:sym typeface="Calibri"/>
            </a:endParaRPr>
          </a:p>
        </p:txBody>
      </p:sp>
      <p:sp>
        <p:nvSpPr>
          <p:cNvPr id="254" name="Google Shape;254;p23"/>
          <p:cNvSpPr/>
          <p:nvPr/>
        </p:nvSpPr>
        <p:spPr>
          <a:xfrm>
            <a:off x="222518" y="1229154"/>
            <a:ext cx="8665200" cy="38475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p:nvPr/>
        </p:nvSpPr>
        <p:spPr>
          <a:xfrm>
            <a:off x="751392" y="1467974"/>
            <a:ext cx="3914100" cy="58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950"/>
              <a:buFont typeface="Montserrat"/>
              <a:buNone/>
            </a:pPr>
            <a:r>
              <a:rPr b="1" i="0" lang="en-GB" sz="1950" u="none" cap="none" strike="noStrike">
                <a:solidFill>
                  <a:srgbClr val="0A2342"/>
                </a:solidFill>
                <a:latin typeface="Montserrat"/>
                <a:ea typeface="Montserrat"/>
                <a:cs typeface="Montserrat"/>
                <a:sym typeface="Montserrat"/>
              </a:rPr>
              <a:t>Model Performance Profile</a:t>
            </a:r>
            <a:endParaRPr b="0" i="0" sz="1950" u="none" cap="none" strike="noStrike">
              <a:solidFill>
                <a:schemeClr val="dk1"/>
              </a:solidFill>
              <a:latin typeface="Calibri"/>
              <a:ea typeface="Calibri"/>
              <a:cs typeface="Calibri"/>
              <a:sym typeface="Calibri"/>
            </a:endParaRPr>
          </a:p>
        </p:txBody>
      </p:sp>
      <p:pic>
        <p:nvPicPr>
          <p:cNvPr id="256" name="Google Shape;256;p23"/>
          <p:cNvPicPr preferRelativeResize="0"/>
          <p:nvPr/>
        </p:nvPicPr>
        <p:blipFill>
          <a:blip r:embed="rId3">
            <a:alphaModFix/>
          </a:blip>
          <a:stretch>
            <a:fillRect/>
          </a:stretch>
        </p:blipFill>
        <p:spPr>
          <a:xfrm>
            <a:off x="751400" y="1897400"/>
            <a:ext cx="5444299" cy="2993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p:nvPr/>
        </p:nvSpPr>
        <p:spPr>
          <a:xfrm>
            <a:off x="0" y="0"/>
            <a:ext cx="9144000" cy="1071563"/>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
          <p:cNvSpPr/>
          <p:nvPr/>
        </p:nvSpPr>
        <p:spPr>
          <a:xfrm>
            <a:off x="571500" y="469702"/>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Deep-Dive: Reasoning Comparison Tool</a:t>
            </a:r>
            <a:endParaRPr b="0" i="0" sz="2450" u="none" cap="none" strike="noStrike">
              <a:solidFill>
                <a:schemeClr val="dk1"/>
              </a:solidFill>
              <a:latin typeface="Calibri"/>
              <a:ea typeface="Calibri"/>
              <a:cs typeface="Calibri"/>
              <a:sym typeface="Calibri"/>
            </a:endParaRPr>
          </a:p>
        </p:txBody>
      </p:sp>
      <p:pic>
        <p:nvPicPr>
          <p:cNvPr id="264" name="Google Shape;264;p24"/>
          <p:cNvPicPr preferRelativeResize="0"/>
          <p:nvPr/>
        </p:nvPicPr>
        <p:blipFill>
          <a:blip r:embed="rId3">
            <a:alphaModFix/>
          </a:blip>
          <a:stretch>
            <a:fillRect/>
          </a:stretch>
        </p:blipFill>
        <p:spPr>
          <a:xfrm>
            <a:off x="152400" y="2196750"/>
            <a:ext cx="8991601" cy="2528896"/>
          </a:xfrm>
          <a:prstGeom prst="rect">
            <a:avLst/>
          </a:prstGeom>
          <a:noFill/>
          <a:ln>
            <a:noFill/>
          </a:ln>
        </p:spPr>
      </p:pic>
      <p:pic>
        <p:nvPicPr>
          <p:cNvPr id="265" name="Google Shape;265;p24"/>
          <p:cNvPicPr preferRelativeResize="0"/>
          <p:nvPr/>
        </p:nvPicPr>
        <p:blipFill>
          <a:blip r:embed="rId4">
            <a:alphaModFix/>
          </a:blip>
          <a:stretch>
            <a:fillRect/>
          </a:stretch>
        </p:blipFill>
        <p:spPr>
          <a:xfrm>
            <a:off x="0" y="1071586"/>
            <a:ext cx="9144003" cy="136177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p:nvPr/>
        </p:nvSpPr>
        <p:spPr>
          <a:xfrm>
            <a:off x="0" y="0"/>
            <a:ext cx="9144000" cy="10716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5"/>
          <p:cNvSpPr/>
          <p:nvPr/>
        </p:nvSpPr>
        <p:spPr>
          <a:xfrm>
            <a:off x="571500" y="469702"/>
            <a:ext cx="8001000" cy="41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Deep-Dive: Reasoning Comparison Tool</a:t>
            </a:r>
            <a:endParaRPr b="0" i="0" sz="2450" u="none" cap="none" strike="noStrike">
              <a:solidFill>
                <a:schemeClr val="dk1"/>
              </a:solidFill>
              <a:latin typeface="Calibri"/>
              <a:ea typeface="Calibri"/>
              <a:cs typeface="Calibri"/>
              <a:sym typeface="Calibri"/>
            </a:endParaRPr>
          </a:p>
        </p:txBody>
      </p:sp>
      <p:pic>
        <p:nvPicPr>
          <p:cNvPr id="273" name="Google Shape;273;p25"/>
          <p:cNvPicPr preferRelativeResize="0"/>
          <p:nvPr/>
        </p:nvPicPr>
        <p:blipFill>
          <a:blip r:embed="rId3">
            <a:alphaModFix/>
          </a:blip>
          <a:stretch>
            <a:fillRect/>
          </a:stretch>
        </p:blipFill>
        <p:spPr>
          <a:xfrm>
            <a:off x="152400" y="1224000"/>
            <a:ext cx="8839204" cy="2753619"/>
          </a:xfrm>
          <a:prstGeom prst="rect">
            <a:avLst/>
          </a:prstGeom>
          <a:noFill/>
          <a:ln>
            <a:noFill/>
          </a:ln>
        </p:spPr>
      </p:pic>
      <p:pic>
        <p:nvPicPr>
          <p:cNvPr id="274" name="Google Shape;274;p25"/>
          <p:cNvPicPr preferRelativeResize="0"/>
          <p:nvPr/>
        </p:nvPicPr>
        <p:blipFill>
          <a:blip r:embed="rId4">
            <a:alphaModFix/>
          </a:blip>
          <a:stretch>
            <a:fillRect/>
          </a:stretch>
        </p:blipFill>
        <p:spPr>
          <a:xfrm>
            <a:off x="0" y="3686625"/>
            <a:ext cx="5650801" cy="1456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descr="preencoded.png" id="280" name="Google Shape;280;p2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81" name="Google Shape;281;p26"/>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6"/>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Limitations and Future Work</a:t>
            </a:r>
            <a:endParaRPr b="0" i="0" sz="2450" u="none" cap="none" strike="noStrike">
              <a:solidFill>
                <a:schemeClr val="dk1"/>
              </a:solidFill>
              <a:latin typeface="Calibri"/>
              <a:ea typeface="Calibri"/>
              <a:cs typeface="Calibri"/>
              <a:sym typeface="Calibri"/>
            </a:endParaRPr>
          </a:p>
        </p:txBody>
      </p:sp>
      <p:sp>
        <p:nvSpPr>
          <p:cNvPr id="283" name="Google Shape;283;p26"/>
          <p:cNvSpPr/>
          <p:nvPr/>
        </p:nvSpPr>
        <p:spPr>
          <a:xfrm>
            <a:off x="428625" y="1428750"/>
            <a:ext cx="4000500" cy="2693194"/>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6"/>
          <p:cNvSpPr/>
          <p:nvPr/>
        </p:nvSpPr>
        <p:spPr>
          <a:xfrm>
            <a:off x="607219" y="1607344"/>
            <a:ext cx="1012627" cy="230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250"/>
              <a:buFont typeface="Montserrat"/>
              <a:buNone/>
            </a:pPr>
            <a:r>
              <a:rPr b="1" i="0" lang="en-GB" sz="1250" u="none" cap="none" strike="noStrike">
                <a:solidFill>
                  <a:srgbClr val="0A2342"/>
                </a:solidFill>
                <a:latin typeface="Montserrat"/>
                <a:ea typeface="Montserrat"/>
                <a:cs typeface="Montserrat"/>
                <a:sym typeface="Montserrat"/>
              </a:rPr>
              <a:t>Limitations</a:t>
            </a:r>
            <a:endParaRPr b="0" i="0" sz="1250" u="none" cap="none" strike="noStrike">
              <a:solidFill>
                <a:schemeClr val="dk1"/>
              </a:solidFill>
              <a:latin typeface="Calibri"/>
              <a:ea typeface="Calibri"/>
              <a:cs typeface="Calibri"/>
              <a:sym typeface="Calibri"/>
            </a:endParaRPr>
          </a:p>
        </p:txBody>
      </p:sp>
      <p:sp>
        <p:nvSpPr>
          <p:cNvPr id="285" name="Google Shape;285;p26"/>
          <p:cNvSpPr/>
          <p:nvPr/>
        </p:nvSpPr>
        <p:spPr>
          <a:xfrm>
            <a:off x="892969" y="2016323"/>
            <a:ext cx="3350419"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Dependency on high-quality </a:t>
            </a:r>
            <a:r>
              <a:rPr b="0" i="0" lang="en-GB" sz="900" u="none" cap="none" strike="noStrike">
                <a:solidFill>
                  <a:srgbClr val="3182CE"/>
                </a:solidFill>
                <a:latin typeface="Inter SemiBold"/>
                <a:ea typeface="Inter SemiBold"/>
                <a:cs typeface="Inter SemiBold"/>
                <a:sym typeface="Inter SemiBold"/>
              </a:rPr>
              <a:t>"golden" reasoning</a:t>
            </a:r>
            <a:r>
              <a:rPr b="0" i="0" lang="en-GB" sz="950" u="none" cap="none" strike="noStrike">
                <a:solidFill>
                  <a:srgbClr val="2D3748"/>
                </a:solidFill>
                <a:latin typeface="Inter"/>
                <a:ea typeface="Inter"/>
                <a:cs typeface="Inter"/>
                <a:sym typeface="Inter"/>
              </a:rPr>
              <a:t> references.</a:t>
            </a:r>
            <a:endParaRPr b="0" i="0" sz="950" u="none" cap="none" strike="noStrike">
              <a:solidFill>
                <a:schemeClr val="dk1"/>
              </a:solidFill>
              <a:latin typeface="Calibri"/>
              <a:ea typeface="Calibri"/>
              <a:cs typeface="Calibri"/>
              <a:sym typeface="Calibri"/>
            </a:endParaRPr>
          </a:p>
        </p:txBody>
      </p:sp>
      <p:sp>
        <p:nvSpPr>
          <p:cNvPr id="286" name="Google Shape;286;p26"/>
          <p:cNvSpPr/>
          <p:nvPr/>
        </p:nvSpPr>
        <p:spPr>
          <a:xfrm>
            <a:off x="892969" y="2509242"/>
            <a:ext cx="3350419"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Embedding-based comparison may miss extremely subtle logical nuances.</a:t>
            </a:r>
            <a:endParaRPr b="0" i="0" sz="950" u="none" cap="none" strike="noStrike">
              <a:solidFill>
                <a:schemeClr val="dk1"/>
              </a:solidFill>
              <a:latin typeface="Calibri"/>
              <a:ea typeface="Calibri"/>
              <a:cs typeface="Calibri"/>
              <a:sym typeface="Calibri"/>
            </a:endParaRPr>
          </a:p>
        </p:txBody>
      </p:sp>
      <p:sp>
        <p:nvSpPr>
          <p:cNvPr id="287" name="Google Shape;287;p26"/>
          <p:cNvSpPr/>
          <p:nvPr/>
        </p:nvSpPr>
        <p:spPr>
          <a:xfrm>
            <a:off x="892969" y="3002161"/>
            <a:ext cx="3350419"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Computational overhead for large-scale consistency testing.</a:t>
            </a:r>
            <a:endParaRPr b="0" i="0" sz="950" u="none" cap="none" strike="noStrike">
              <a:solidFill>
                <a:schemeClr val="dk1"/>
              </a:solidFill>
              <a:latin typeface="Calibri"/>
              <a:ea typeface="Calibri"/>
              <a:cs typeface="Calibri"/>
              <a:sym typeface="Calibri"/>
            </a:endParaRPr>
          </a:p>
        </p:txBody>
      </p:sp>
      <p:sp>
        <p:nvSpPr>
          <p:cNvPr id="288" name="Google Shape;288;p26"/>
          <p:cNvSpPr/>
          <p:nvPr/>
        </p:nvSpPr>
        <p:spPr>
          <a:xfrm>
            <a:off x="4707731" y="1428750"/>
            <a:ext cx="4007644" cy="2693194"/>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6"/>
          <p:cNvSpPr/>
          <p:nvPr/>
        </p:nvSpPr>
        <p:spPr>
          <a:xfrm>
            <a:off x="892969" y="2016323"/>
            <a:ext cx="64294"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290" name="Google Shape;290;p26"/>
          <p:cNvSpPr/>
          <p:nvPr/>
        </p:nvSpPr>
        <p:spPr>
          <a:xfrm>
            <a:off x="892969" y="2509242"/>
            <a:ext cx="64294"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291" name="Google Shape;291;p26"/>
          <p:cNvSpPr/>
          <p:nvPr/>
        </p:nvSpPr>
        <p:spPr>
          <a:xfrm>
            <a:off x="892969" y="3002161"/>
            <a:ext cx="64294"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292" name="Google Shape;292;p26"/>
          <p:cNvSpPr/>
          <p:nvPr/>
        </p:nvSpPr>
        <p:spPr>
          <a:xfrm>
            <a:off x="4893469" y="1607344"/>
            <a:ext cx="1135856" cy="230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250"/>
              <a:buFont typeface="Montserrat"/>
              <a:buNone/>
            </a:pPr>
            <a:r>
              <a:rPr b="1" i="0" lang="en-GB" sz="1250" u="none" cap="none" strike="noStrike">
                <a:solidFill>
                  <a:srgbClr val="0A2342"/>
                </a:solidFill>
                <a:latin typeface="Montserrat"/>
                <a:ea typeface="Montserrat"/>
                <a:cs typeface="Montserrat"/>
                <a:sym typeface="Montserrat"/>
              </a:rPr>
              <a:t>Future Work</a:t>
            </a:r>
            <a:endParaRPr b="0" i="0" sz="1250" u="none" cap="none" strike="noStrike">
              <a:solidFill>
                <a:schemeClr val="dk1"/>
              </a:solidFill>
              <a:latin typeface="Calibri"/>
              <a:ea typeface="Calibri"/>
              <a:cs typeface="Calibri"/>
              <a:sym typeface="Calibri"/>
            </a:endParaRPr>
          </a:p>
        </p:txBody>
      </p:sp>
      <p:sp>
        <p:nvSpPr>
          <p:cNvPr id="293" name="Google Shape;293;p26"/>
          <p:cNvSpPr/>
          <p:nvPr/>
        </p:nvSpPr>
        <p:spPr>
          <a:xfrm>
            <a:off x="5179219" y="2016323"/>
            <a:ext cx="3357563"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Expanding to </a:t>
            </a:r>
            <a:r>
              <a:rPr b="0" i="0" lang="en-GB" sz="900" u="none" cap="none" strike="noStrike">
                <a:solidFill>
                  <a:srgbClr val="3182CE"/>
                </a:solidFill>
                <a:latin typeface="Inter SemiBold"/>
                <a:ea typeface="Inter SemiBold"/>
                <a:cs typeface="Inter SemiBold"/>
                <a:sym typeface="Inter SemiBold"/>
              </a:rPr>
              <a:t>multi-modal reasoning</a:t>
            </a:r>
            <a:r>
              <a:rPr b="0" i="0" lang="en-GB" sz="950" u="none" cap="none" strike="noStrike">
                <a:solidFill>
                  <a:srgbClr val="2D3748"/>
                </a:solidFill>
                <a:latin typeface="Inter"/>
                <a:ea typeface="Inter"/>
                <a:cs typeface="Inter"/>
                <a:sym typeface="Inter"/>
              </a:rPr>
              <a:t> (Vision + Text).</a:t>
            </a:r>
            <a:endParaRPr b="0" i="0" sz="950" u="none" cap="none" strike="noStrike">
              <a:solidFill>
                <a:schemeClr val="dk1"/>
              </a:solidFill>
              <a:latin typeface="Calibri"/>
              <a:ea typeface="Calibri"/>
              <a:cs typeface="Calibri"/>
              <a:sym typeface="Calibri"/>
            </a:endParaRPr>
          </a:p>
        </p:txBody>
      </p:sp>
      <p:sp>
        <p:nvSpPr>
          <p:cNvPr id="294" name="Google Shape;294;p26"/>
          <p:cNvSpPr/>
          <p:nvPr/>
        </p:nvSpPr>
        <p:spPr>
          <a:xfrm>
            <a:off x="5179219" y="2509242"/>
            <a:ext cx="3357563"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Developing "self-correcting" reasoning loops based on SLMS feedback.</a:t>
            </a:r>
            <a:endParaRPr b="0" i="0" sz="950" u="none" cap="none" strike="noStrike">
              <a:solidFill>
                <a:schemeClr val="dk1"/>
              </a:solidFill>
              <a:latin typeface="Calibri"/>
              <a:ea typeface="Calibri"/>
              <a:cs typeface="Calibri"/>
              <a:sym typeface="Calibri"/>
            </a:endParaRPr>
          </a:p>
        </p:txBody>
      </p:sp>
      <p:sp>
        <p:nvSpPr>
          <p:cNvPr id="295" name="Google Shape;295;p26"/>
          <p:cNvSpPr/>
          <p:nvPr/>
        </p:nvSpPr>
        <p:spPr>
          <a:xfrm>
            <a:off x="5179219" y="3002161"/>
            <a:ext cx="3357563" cy="192881"/>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Scaling to more diverse, niche technical domains.</a:t>
            </a:r>
            <a:endParaRPr b="0" i="0" sz="950" u="none" cap="none" strike="noStrike">
              <a:solidFill>
                <a:schemeClr val="dk1"/>
              </a:solidFill>
              <a:latin typeface="Calibri"/>
              <a:ea typeface="Calibri"/>
              <a:cs typeface="Calibri"/>
              <a:sym typeface="Calibri"/>
            </a:endParaRPr>
          </a:p>
        </p:txBody>
      </p:sp>
      <p:sp>
        <p:nvSpPr>
          <p:cNvPr id="296" name="Google Shape;296;p26"/>
          <p:cNvSpPr/>
          <p:nvPr/>
        </p:nvSpPr>
        <p:spPr>
          <a:xfrm>
            <a:off x="5179219" y="2016323"/>
            <a:ext cx="64294"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297" name="Google Shape;297;p26"/>
          <p:cNvSpPr/>
          <p:nvPr/>
        </p:nvSpPr>
        <p:spPr>
          <a:xfrm>
            <a:off x="5179219" y="2509242"/>
            <a:ext cx="64294"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298" name="Google Shape;298;p26"/>
          <p:cNvSpPr/>
          <p:nvPr/>
        </p:nvSpPr>
        <p:spPr>
          <a:xfrm>
            <a:off x="5179219" y="3002161"/>
            <a:ext cx="64294"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preencoded.png" id="304" name="Google Shape;304;p2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05" name="Google Shape;305;p27"/>
          <p:cNvSpPr/>
          <p:nvPr/>
        </p:nvSpPr>
        <p:spPr>
          <a:xfrm>
            <a:off x="0" y="0"/>
            <a:ext cx="9144000" cy="1285875"/>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571500" y="576858"/>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Conclusion and Key Takeaways</a:t>
            </a:r>
            <a:endParaRPr b="0" i="0" sz="2450" u="none" cap="none" strike="noStrike">
              <a:solidFill>
                <a:schemeClr val="dk1"/>
              </a:solidFill>
              <a:latin typeface="Calibri"/>
              <a:ea typeface="Calibri"/>
              <a:cs typeface="Calibri"/>
              <a:sym typeface="Calibri"/>
            </a:endParaRPr>
          </a:p>
        </p:txBody>
      </p:sp>
      <p:sp>
        <p:nvSpPr>
          <p:cNvPr id="307" name="Google Shape;307;p27"/>
          <p:cNvSpPr/>
          <p:nvPr/>
        </p:nvSpPr>
        <p:spPr>
          <a:xfrm>
            <a:off x="571500" y="1428750"/>
            <a:ext cx="3857625" cy="2109192"/>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700088" y="1514475"/>
            <a:ext cx="1321594" cy="230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250"/>
              <a:buFont typeface="Montserrat"/>
              <a:buNone/>
            </a:pPr>
            <a:r>
              <a:rPr b="1" i="0" lang="en-GB" sz="1250" u="none" cap="none" strike="noStrike">
                <a:solidFill>
                  <a:srgbClr val="0A2342"/>
                </a:solidFill>
                <a:latin typeface="Montserrat"/>
                <a:ea typeface="Montserrat"/>
                <a:cs typeface="Montserrat"/>
                <a:sym typeface="Montserrat"/>
              </a:rPr>
              <a:t>What We Built</a:t>
            </a:r>
            <a:endParaRPr b="0" i="0" sz="1250" u="none" cap="none" strike="noStrike">
              <a:solidFill>
                <a:schemeClr val="dk1"/>
              </a:solidFill>
              <a:latin typeface="Calibri"/>
              <a:ea typeface="Calibri"/>
              <a:cs typeface="Calibri"/>
              <a:sym typeface="Calibri"/>
            </a:endParaRPr>
          </a:p>
        </p:txBody>
      </p:sp>
      <p:sp>
        <p:nvSpPr>
          <p:cNvPr id="309" name="Google Shape;309;p27"/>
          <p:cNvSpPr/>
          <p:nvPr/>
        </p:nvSpPr>
        <p:spPr>
          <a:xfrm>
            <a:off x="985838" y="1859161"/>
            <a:ext cx="3307556"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Framework evaluating </a:t>
            </a:r>
            <a:r>
              <a:rPr b="0" i="0" lang="en-GB" sz="900" u="none" cap="none" strike="noStrike">
                <a:solidFill>
                  <a:srgbClr val="3182CE"/>
                </a:solidFill>
                <a:latin typeface="Inter SemiBold"/>
                <a:ea typeface="Inter SemiBold"/>
                <a:cs typeface="Inter SemiBold"/>
                <a:sym typeface="Inter SemiBold"/>
              </a:rPr>
              <a:t>reasoning quality</a:t>
            </a:r>
            <a:r>
              <a:rPr b="0" i="0" lang="en-GB" sz="950" u="none" cap="none" strike="noStrike">
                <a:solidFill>
                  <a:srgbClr val="2D3748"/>
                </a:solidFill>
                <a:latin typeface="Inter"/>
                <a:ea typeface="Inter"/>
                <a:cs typeface="Inter"/>
                <a:sym typeface="Inter"/>
              </a:rPr>
              <a:t> vs. accuracy.</a:t>
            </a:r>
            <a:endParaRPr b="0" i="0" sz="950" u="none" cap="none" strike="noStrike">
              <a:solidFill>
                <a:schemeClr val="dk1"/>
              </a:solidFill>
              <a:latin typeface="Calibri"/>
              <a:ea typeface="Calibri"/>
              <a:cs typeface="Calibri"/>
              <a:sym typeface="Calibri"/>
            </a:endParaRPr>
          </a:p>
        </p:txBody>
      </p:sp>
      <p:sp>
        <p:nvSpPr>
          <p:cNvPr id="310" name="Google Shape;310;p27"/>
          <p:cNvSpPr/>
          <p:nvPr/>
        </p:nvSpPr>
        <p:spPr>
          <a:xfrm>
            <a:off x="985838" y="2302073"/>
            <a:ext cx="3307556" cy="192881"/>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Five interpretable, non-black-box metrics.</a:t>
            </a:r>
            <a:endParaRPr b="0" i="0" sz="950" u="none" cap="none" strike="noStrike">
              <a:solidFill>
                <a:schemeClr val="dk1"/>
              </a:solidFill>
              <a:latin typeface="Calibri"/>
              <a:ea typeface="Calibri"/>
              <a:cs typeface="Calibri"/>
              <a:sym typeface="Calibri"/>
            </a:endParaRPr>
          </a:p>
        </p:txBody>
      </p:sp>
      <p:sp>
        <p:nvSpPr>
          <p:cNvPr id="311" name="Google Shape;311;p27"/>
          <p:cNvSpPr/>
          <p:nvPr/>
        </p:nvSpPr>
        <p:spPr>
          <a:xfrm>
            <a:off x="985838" y="2552105"/>
            <a:ext cx="3307556" cy="192881"/>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Interactive dashboards for reasoning comparison.</a:t>
            </a:r>
            <a:endParaRPr b="0" i="0" sz="950" u="none" cap="none" strike="noStrike">
              <a:solidFill>
                <a:schemeClr val="dk1"/>
              </a:solidFill>
              <a:latin typeface="Calibri"/>
              <a:ea typeface="Calibri"/>
              <a:cs typeface="Calibri"/>
              <a:sym typeface="Calibri"/>
            </a:endParaRPr>
          </a:p>
        </p:txBody>
      </p:sp>
      <p:sp>
        <p:nvSpPr>
          <p:cNvPr id="312" name="Google Shape;312;p27"/>
          <p:cNvSpPr/>
          <p:nvPr/>
        </p:nvSpPr>
        <p:spPr>
          <a:xfrm>
            <a:off x="985838" y="2802136"/>
            <a:ext cx="3307556" cy="192881"/>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Pluggable support for APIs and open models.</a:t>
            </a:r>
            <a:endParaRPr b="0" i="0" sz="950" u="none" cap="none" strike="noStrike">
              <a:solidFill>
                <a:schemeClr val="dk1"/>
              </a:solidFill>
              <a:latin typeface="Calibri"/>
              <a:ea typeface="Calibri"/>
              <a:cs typeface="Calibri"/>
              <a:sym typeface="Calibri"/>
            </a:endParaRPr>
          </a:p>
        </p:txBody>
      </p:sp>
      <p:sp>
        <p:nvSpPr>
          <p:cNvPr id="313" name="Google Shape;313;p27"/>
          <p:cNvSpPr/>
          <p:nvPr/>
        </p:nvSpPr>
        <p:spPr>
          <a:xfrm>
            <a:off x="4707731" y="1428750"/>
            <a:ext cx="3864769" cy="1916311"/>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
          <p:cNvSpPr/>
          <p:nvPr/>
        </p:nvSpPr>
        <p:spPr>
          <a:xfrm>
            <a:off x="985838" y="1859161"/>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15" name="Google Shape;315;p27"/>
          <p:cNvSpPr/>
          <p:nvPr/>
        </p:nvSpPr>
        <p:spPr>
          <a:xfrm>
            <a:off x="985838" y="2302073"/>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16" name="Google Shape;316;p27"/>
          <p:cNvSpPr/>
          <p:nvPr/>
        </p:nvSpPr>
        <p:spPr>
          <a:xfrm>
            <a:off x="985838" y="2552105"/>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17" name="Google Shape;317;p27"/>
          <p:cNvSpPr/>
          <p:nvPr/>
        </p:nvSpPr>
        <p:spPr>
          <a:xfrm>
            <a:off x="985838" y="2802136"/>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18" name="Google Shape;318;p27"/>
          <p:cNvSpPr/>
          <p:nvPr/>
        </p:nvSpPr>
        <p:spPr>
          <a:xfrm>
            <a:off x="4843463" y="1514475"/>
            <a:ext cx="1332309" cy="230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2342"/>
              </a:buClr>
              <a:buSzPts val="1250"/>
              <a:buFont typeface="Montserrat"/>
              <a:buNone/>
            </a:pPr>
            <a:r>
              <a:rPr b="1" i="0" lang="en-GB" sz="1250" u="none" cap="none" strike="noStrike">
                <a:solidFill>
                  <a:srgbClr val="0A2342"/>
                </a:solidFill>
                <a:latin typeface="Montserrat"/>
                <a:ea typeface="Montserrat"/>
                <a:cs typeface="Montserrat"/>
                <a:sym typeface="Montserrat"/>
              </a:rPr>
              <a:t>Why It Matters</a:t>
            </a:r>
            <a:endParaRPr b="0" i="0" sz="1250" u="none" cap="none" strike="noStrike">
              <a:solidFill>
                <a:schemeClr val="dk1"/>
              </a:solidFill>
              <a:latin typeface="Calibri"/>
              <a:ea typeface="Calibri"/>
              <a:cs typeface="Calibri"/>
              <a:sym typeface="Calibri"/>
            </a:endParaRPr>
          </a:p>
        </p:txBody>
      </p:sp>
      <p:sp>
        <p:nvSpPr>
          <p:cNvPr id="319" name="Google Shape;319;p27"/>
          <p:cNvSpPr/>
          <p:nvPr/>
        </p:nvSpPr>
        <p:spPr>
          <a:xfrm>
            <a:off x="5129213" y="1859161"/>
            <a:ext cx="3314700"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Exposes the </a:t>
            </a:r>
            <a:r>
              <a:rPr b="0" i="0" lang="en-GB" sz="900" u="none" cap="none" strike="noStrike">
                <a:solidFill>
                  <a:srgbClr val="3182CE"/>
                </a:solidFill>
                <a:latin typeface="Inter SemiBold"/>
                <a:ea typeface="Inter SemiBold"/>
                <a:cs typeface="Inter SemiBold"/>
                <a:sym typeface="Inter SemiBold"/>
              </a:rPr>
              <a:t>Rashomon Effect</a:t>
            </a:r>
            <a:r>
              <a:rPr b="0" i="0" lang="en-GB" sz="950" u="none" cap="none" strike="noStrike">
                <a:solidFill>
                  <a:srgbClr val="2D3748"/>
                </a:solidFill>
                <a:latin typeface="Inter"/>
                <a:ea typeface="Inter"/>
                <a:cs typeface="Inter"/>
                <a:sym typeface="Inter"/>
              </a:rPr>
              <a:t>: same answer ≠ same reasoning.</a:t>
            </a:r>
            <a:endParaRPr b="0" i="0" sz="950" u="none" cap="none" strike="noStrike">
              <a:solidFill>
                <a:schemeClr val="dk1"/>
              </a:solidFill>
              <a:latin typeface="Calibri"/>
              <a:ea typeface="Calibri"/>
              <a:cs typeface="Calibri"/>
              <a:sym typeface="Calibri"/>
            </a:endParaRPr>
          </a:p>
        </p:txBody>
      </p:sp>
      <p:sp>
        <p:nvSpPr>
          <p:cNvPr id="320" name="Google Shape;320;p27"/>
          <p:cNvSpPr/>
          <p:nvPr/>
        </p:nvSpPr>
        <p:spPr>
          <a:xfrm>
            <a:off x="5129213" y="2302073"/>
            <a:ext cx="3314700" cy="385763"/>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Critical for high-stakes domains (medical, legal, engineering).</a:t>
            </a:r>
            <a:endParaRPr b="0" i="0" sz="950" u="none" cap="none" strike="noStrike">
              <a:solidFill>
                <a:schemeClr val="dk1"/>
              </a:solidFill>
              <a:latin typeface="Calibri"/>
              <a:ea typeface="Calibri"/>
              <a:cs typeface="Calibri"/>
              <a:sym typeface="Calibri"/>
            </a:endParaRPr>
          </a:p>
        </p:txBody>
      </p:sp>
      <p:sp>
        <p:nvSpPr>
          <p:cNvPr id="321" name="Google Shape;321;p27"/>
          <p:cNvSpPr/>
          <p:nvPr/>
        </p:nvSpPr>
        <p:spPr>
          <a:xfrm>
            <a:off x="5129213" y="2744986"/>
            <a:ext cx="3314700" cy="192881"/>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Enables trustworthy AI with verifiable logic.</a:t>
            </a:r>
            <a:endParaRPr b="0" i="0" sz="950" u="none" cap="none" strike="noStrike">
              <a:solidFill>
                <a:schemeClr val="dk1"/>
              </a:solidFill>
              <a:latin typeface="Calibri"/>
              <a:ea typeface="Calibri"/>
              <a:cs typeface="Calibri"/>
              <a:sym typeface="Calibri"/>
            </a:endParaRPr>
          </a:p>
        </p:txBody>
      </p:sp>
      <p:sp>
        <p:nvSpPr>
          <p:cNvPr id="322" name="Google Shape;322;p27"/>
          <p:cNvSpPr/>
          <p:nvPr/>
        </p:nvSpPr>
        <p:spPr>
          <a:xfrm>
            <a:off x="5129213" y="2995017"/>
            <a:ext cx="3314700" cy="192881"/>
          </a:xfrm>
          <a:prstGeom prst="rect">
            <a:avLst/>
          </a:prstGeom>
          <a:noFill/>
          <a:ln>
            <a:noFill/>
          </a:ln>
        </p:spPr>
        <p:txBody>
          <a:bodyPr anchorCtr="0" anchor="t" bIns="0" lIns="212575" spcFirstLastPara="1" rIns="0" wrap="square" tIns="0">
            <a:noAutofit/>
          </a:bodyPr>
          <a:lstStyle/>
          <a:p>
            <a:pPr indent="0" lvl="0" marL="0" marR="0" rtl="0" algn="l">
              <a:lnSpc>
                <a:spcPct val="120000"/>
              </a:lnSpc>
              <a:spcBef>
                <a:spcPts val="0"/>
              </a:spcBef>
              <a:spcAft>
                <a:spcPts val="0"/>
              </a:spcAft>
              <a:buClr>
                <a:srgbClr val="2D3748"/>
              </a:buClr>
              <a:buSzPts val="950"/>
              <a:buFont typeface="Inter"/>
              <a:buNone/>
            </a:pPr>
            <a:r>
              <a:rPr b="0" i="0" lang="en-GB" sz="950" u="none" cap="none" strike="noStrike">
                <a:solidFill>
                  <a:srgbClr val="2D3748"/>
                </a:solidFill>
                <a:latin typeface="Inter"/>
                <a:ea typeface="Inter"/>
                <a:cs typeface="Inter"/>
                <a:sym typeface="Inter"/>
              </a:rPr>
              <a:t>Actionable insights via configurable metric weights.</a:t>
            </a:r>
            <a:endParaRPr b="0" i="0" sz="950" u="none" cap="none" strike="noStrike">
              <a:solidFill>
                <a:schemeClr val="dk1"/>
              </a:solidFill>
              <a:latin typeface="Calibri"/>
              <a:ea typeface="Calibri"/>
              <a:cs typeface="Calibri"/>
              <a:sym typeface="Calibri"/>
            </a:endParaRPr>
          </a:p>
        </p:txBody>
      </p:sp>
      <p:sp>
        <p:nvSpPr>
          <p:cNvPr id="323" name="Google Shape;323;p27"/>
          <p:cNvSpPr/>
          <p:nvPr/>
        </p:nvSpPr>
        <p:spPr>
          <a:xfrm>
            <a:off x="0" y="3473648"/>
            <a:ext cx="9144000" cy="551492"/>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7"/>
          <p:cNvSpPr/>
          <p:nvPr/>
        </p:nvSpPr>
        <p:spPr>
          <a:xfrm>
            <a:off x="5129213" y="1859161"/>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25" name="Google Shape;325;p27"/>
          <p:cNvSpPr/>
          <p:nvPr/>
        </p:nvSpPr>
        <p:spPr>
          <a:xfrm>
            <a:off x="5129213" y="2302073"/>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26" name="Google Shape;326;p27"/>
          <p:cNvSpPr/>
          <p:nvPr/>
        </p:nvSpPr>
        <p:spPr>
          <a:xfrm>
            <a:off x="5129213" y="2744986"/>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27" name="Google Shape;327;p27"/>
          <p:cNvSpPr/>
          <p:nvPr/>
        </p:nvSpPr>
        <p:spPr>
          <a:xfrm>
            <a:off x="5129213" y="2995017"/>
            <a:ext cx="107156"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rPr b="1" i="0" lang="en-GB" sz="900" u="none" cap="none" strike="noStrike">
                <a:solidFill>
                  <a:srgbClr val="3182CE"/>
                </a:solidFill>
                <a:latin typeface="Inter SemiBold"/>
                <a:ea typeface="Inter SemiBold"/>
                <a:cs typeface="Inter SemiBold"/>
                <a:sym typeface="Inter SemiBold"/>
              </a:rPr>
              <a:t>✓</a:t>
            </a:r>
            <a:endParaRPr b="0" i="0" sz="900" u="none" cap="none" strike="noStrike">
              <a:solidFill>
                <a:schemeClr val="dk1"/>
              </a:solidFill>
              <a:latin typeface="Calibri"/>
              <a:ea typeface="Calibri"/>
              <a:cs typeface="Calibri"/>
              <a:sym typeface="Calibri"/>
            </a:endParaRPr>
          </a:p>
        </p:txBody>
      </p:sp>
      <p:sp>
        <p:nvSpPr>
          <p:cNvPr id="328" name="Google Shape;328;p27"/>
          <p:cNvSpPr/>
          <p:nvPr/>
        </p:nvSpPr>
        <p:spPr>
          <a:xfrm>
            <a:off x="285750" y="3616523"/>
            <a:ext cx="8572500" cy="280029"/>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FFFFFF"/>
              </a:buClr>
              <a:buSzPts val="1500"/>
              <a:buFont typeface="Montserrat"/>
              <a:buNone/>
            </a:pPr>
            <a:r>
              <a:rPr b="0" i="1" lang="en-GB" sz="1700" u="none" cap="none" strike="noStrike">
                <a:solidFill>
                  <a:srgbClr val="FFFFFF"/>
                </a:solidFill>
                <a:latin typeface="Montserrat"/>
                <a:ea typeface="Montserrat"/>
                <a:cs typeface="Montserrat"/>
                <a:sym typeface="Montserrat"/>
              </a:rPr>
              <a:t>"Would you trust a model that got the right answer via flawed reasoning?"</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descr="preencoded.png" id="334" name="Google Shape;334;p2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35" name="Google Shape;335;p28"/>
          <p:cNvSpPr/>
          <p:nvPr/>
        </p:nvSpPr>
        <p:spPr>
          <a:xfrm>
            <a:off x="2918222" y="1832372"/>
            <a:ext cx="3307556" cy="730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350"/>
              <a:buFont typeface="Montserrat"/>
              <a:buNone/>
            </a:pPr>
            <a:r>
              <a:rPr b="1" i="0" lang="en-GB" sz="4350" u="none" cap="none" strike="noStrike">
                <a:solidFill>
                  <a:srgbClr val="FFFFFF"/>
                </a:solidFill>
                <a:latin typeface="Montserrat"/>
                <a:ea typeface="Montserrat"/>
                <a:cs typeface="Montserrat"/>
                <a:sym typeface="Montserrat"/>
              </a:rPr>
              <a:t>Thank You</a:t>
            </a:r>
            <a:endParaRPr b="0" i="0" sz="4350" u="none" cap="none" strike="noStrike">
              <a:solidFill>
                <a:schemeClr val="dk1"/>
              </a:solidFill>
              <a:latin typeface="Calibri"/>
              <a:ea typeface="Calibri"/>
              <a:cs typeface="Calibri"/>
              <a:sym typeface="Calibri"/>
            </a:endParaRPr>
          </a:p>
        </p:txBody>
      </p:sp>
      <p:sp>
        <p:nvSpPr>
          <p:cNvPr id="336" name="Google Shape;336;p28"/>
          <p:cNvSpPr/>
          <p:nvPr/>
        </p:nvSpPr>
        <p:spPr>
          <a:xfrm>
            <a:off x="3695998" y="2705695"/>
            <a:ext cx="1752005" cy="2768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182CE"/>
              </a:buClr>
              <a:buSzPts val="1600"/>
              <a:buFont typeface="Inter SemiBold"/>
              <a:buNone/>
            </a:pPr>
            <a:r>
              <a:rPr b="0" i="0" lang="en-GB" sz="1600" u="none" cap="none" strike="noStrike">
                <a:solidFill>
                  <a:srgbClr val="3182CE"/>
                </a:solidFill>
                <a:latin typeface="Inter SemiBold"/>
                <a:ea typeface="Inter SemiBold"/>
                <a:cs typeface="Inter SemiBold"/>
                <a:sym typeface="Inter SemiBold"/>
              </a:rPr>
              <a:t>QUESTIONS?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descr="preencoded.png" id="342" name="Google Shape;342;p2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43" name="Google Shape;343;p29"/>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9"/>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Team Contributions</a:t>
            </a:r>
            <a:endParaRPr b="0" i="0" sz="2450" u="none" cap="none" strike="noStrike">
              <a:solidFill>
                <a:schemeClr val="dk1"/>
              </a:solidFill>
              <a:latin typeface="Calibri"/>
              <a:ea typeface="Calibri"/>
              <a:cs typeface="Calibri"/>
              <a:sym typeface="Calibri"/>
            </a:endParaRPr>
          </a:p>
        </p:txBody>
      </p:sp>
      <p:sp>
        <p:nvSpPr>
          <p:cNvPr id="345" name="Google Shape;345;p29"/>
          <p:cNvSpPr/>
          <p:nvPr/>
        </p:nvSpPr>
        <p:spPr>
          <a:xfrm>
            <a:off x="717947" y="1718072"/>
            <a:ext cx="1927027" cy="312539"/>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9"/>
          <p:cNvSpPr/>
          <p:nvPr/>
        </p:nvSpPr>
        <p:spPr>
          <a:xfrm>
            <a:off x="717947" y="1718072"/>
            <a:ext cx="1927027" cy="312539"/>
          </a:xfrm>
          <a:prstGeom prst="rect">
            <a:avLst/>
          </a:prstGeom>
          <a:noFill/>
          <a:ln>
            <a:noFill/>
          </a:ln>
        </p:spPr>
        <p:txBody>
          <a:bodyPr anchorCtr="0" anchor="ctr" bIns="8500" lIns="170050" spcFirstLastPara="1" rIns="170050" wrap="square" tIns="127500">
            <a:noAutofit/>
          </a:bodyPr>
          <a:lstStyle/>
          <a:p>
            <a:pPr indent="0" lvl="0" marL="0" marR="0" rtl="0" algn="l">
              <a:spcBef>
                <a:spcPts val="0"/>
              </a:spcBef>
              <a:spcAft>
                <a:spcPts val="0"/>
              </a:spcAft>
              <a:buClr>
                <a:srgbClr val="FFFFFF"/>
              </a:buClr>
              <a:buSzPts val="1100"/>
              <a:buFont typeface="Montserrat"/>
              <a:buNone/>
            </a:pPr>
            <a:r>
              <a:rPr b="1" i="0" lang="en-GB" sz="1100" u="none" cap="none" strike="noStrike">
                <a:solidFill>
                  <a:srgbClr val="FFFFFF"/>
                </a:solidFill>
                <a:latin typeface="Montserrat"/>
                <a:ea typeface="Montserrat"/>
                <a:cs typeface="Montserrat"/>
                <a:sym typeface="Montserrat"/>
              </a:rPr>
              <a:t>Member</a:t>
            </a:r>
            <a:endParaRPr b="0" i="0" sz="1100" u="none" cap="none" strike="noStrike">
              <a:solidFill>
                <a:schemeClr val="dk1"/>
              </a:solidFill>
              <a:latin typeface="Calibri"/>
              <a:ea typeface="Calibri"/>
              <a:cs typeface="Calibri"/>
              <a:sym typeface="Calibri"/>
            </a:endParaRPr>
          </a:p>
        </p:txBody>
      </p:sp>
      <p:sp>
        <p:nvSpPr>
          <p:cNvPr id="347" name="Google Shape;347;p29"/>
          <p:cNvSpPr/>
          <p:nvPr/>
        </p:nvSpPr>
        <p:spPr>
          <a:xfrm>
            <a:off x="2644973" y="1718072"/>
            <a:ext cx="5781080" cy="312539"/>
          </a:xfrm>
          <a:prstGeom prst="rect">
            <a:avLst/>
          </a:prstGeom>
          <a:solidFill>
            <a:srgbClr val="3182CE"/>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9"/>
          <p:cNvSpPr/>
          <p:nvPr/>
        </p:nvSpPr>
        <p:spPr>
          <a:xfrm>
            <a:off x="2644973" y="1718072"/>
            <a:ext cx="5781000" cy="312600"/>
          </a:xfrm>
          <a:prstGeom prst="rect">
            <a:avLst/>
          </a:prstGeom>
          <a:noFill/>
          <a:ln>
            <a:noFill/>
          </a:ln>
        </p:spPr>
        <p:txBody>
          <a:bodyPr anchorCtr="0" anchor="ctr" bIns="8500" lIns="170050" spcFirstLastPara="1" rIns="170050" wrap="square" tIns="127500">
            <a:noAutofit/>
          </a:bodyPr>
          <a:lstStyle/>
          <a:p>
            <a:pPr indent="0" lvl="0" marL="0" marR="0" rtl="0" algn="l">
              <a:spcBef>
                <a:spcPts val="0"/>
              </a:spcBef>
              <a:spcAft>
                <a:spcPts val="0"/>
              </a:spcAft>
              <a:buClr>
                <a:srgbClr val="FFFFFF"/>
              </a:buClr>
              <a:buSzPts val="1100"/>
              <a:buFont typeface="Montserrat"/>
              <a:buNone/>
            </a:pPr>
            <a:r>
              <a:rPr b="1" i="0" lang="en-GB" sz="1100" u="none" cap="none" strike="noStrike">
                <a:solidFill>
                  <a:srgbClr val="FFFFFF"/>
                </a:solidFill>
                <a:latin typeface="Montserrat"/>
                <a:ea typeface="Montserrat"/>
                <a:cs typeface="Montserrat"/>
                <a:sym typeface="Montserrat"/>
              </a:rPr>
              <a:t>Contributions</a:t>
            </a:r>
            <a:endParaRPr b="0" i="0" sz="1100" u="none" cap="none" strike="noStrike">
              <a:solidFill>
                <a:schemeClr val="dk1"/>
              </a:solidFill>
              <a:latin typeface="Calibri"/>
              <a:ea typeface="Calibri"/>
              <a:cs typeface="Calibri"/>
              <a:sym typeface="Calibri"/>
            </a:endParaRPr>
          </a:p>
        </p:txBody>
      </p:sp>
      <p:sp>
        <p:nvSpPr>
          <p:cNvPr id="349" name="Google Shape;349;p29"/>
          <p:cNvSpPr/>
          <p:nvPr/>
        </p:nvSpPr>
        <p:spPr>
          <a:xfrm>
            <a:off x="717947" y="2023467"/>
            <a:ext cx="1927027" cy="568598"/>
          </a:xfrm>
          <a:prstGeom prst="rect">
            <a:avLst/>
          </a:prstGeom>
          <a:noFill/>
          <a:ln>
            <a:noFill/>
          </a:ln>
        </p:spPr>
        <p:txBody>
          <a:bodyPr anchorCtr="0" anchor="ctr" bIns="8500" lIns="170050" spcFirstLastPara="1" rIns="170050" wrap="square" tIns="170050">
            <a:noAutofit/>
          </a:bodyPr>
          <a:lstStyle/>
          <a:p>
            <a:pPr indent="0" lvl="0" marL="0" marR="0" rtl="0" algn="l">
              <a:lnSpc>
                <a:spcPct val="128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Varun</a:t>
            </a:r>
            <a:endParaRPr b="0" i="0" sz="900" u="none" cap="none" strike="noStrike">
              <a:solidFill>
                <a:schemeClr val="dk1"/>
              </a:solidFill>
              <a:latin typeface="Calibri"/>
              <a:ea typeface="Calibri"/>
              <a:cs typeface="Calibri"/>
              <a:sym typeface="Calibri"/>
            </a:endParaRPr>
          </a:p>
        </p:txBody>
      </p:sp>
      <p:sp>
        <p:nvSpPr>
          <p:cNvPr id="350" name="Google Shape;350;p29"/>
          <p:cNvSpPr/>
          <p:nvPr/>
        </p:nvSpPr>
        <p:spPr>
          <a:xfrm>
            <a:off x="2644973" y="2023467"/>
            <a:ext cx="5781080" cy="568598"/>
          </a:xfrm>
          <a:prstGeom prst="rect">
            <a:avLst/>
          </a:prstGeom>
          <a:noFill/>
          <a:ln>
            <a:noFill/>
          </a:ln>
        </p:spPr>
        <p:txBody>
          <a:bodyPr anchorCtr="0" anchor="ctr" bIns="8500" lIns="170050" spcFirstLastPara="1" rIns="170050" wrap="square" tIns="170050">
            <a:noAutofit/>
          </a:bodyPr>
          <a:lstStyle/>
          <a:p>
            <a:pPr indent="0" lvl="0" marL="0" marR="0" rtl="0" algn="l">
              <a:lnSpc>
                <a:spcPct val="128000"/>
              </a:lnSpc>
              <a:spcBef>
                <a:spcPts val="0"/>
              </a:spcBef>
              <a:spcAft>
                <a:spcPts val="0"/>
              </a:spcAft>
              <a:buClr>
                <a:srgbClr val="2D3748"/>
              </a:buClr>
              <a:buSzPts val="950"/>
              <a:buFont typeface="Inter"/>
              <a:buNone/>
            </a:pPr>
            <a:r>
              <a:t/>
            </a:r>
            <a:endParaRPr b="0" i="0" sz="950" u="none" cap="none" strike="noStrike">
              <a:solidFill>
                <a:schemeClr val="dk1"/>
              </a:solidFill>
              <a:latin typeface="Calibri"/>
              <a:ea typeface="Calibri"/>
              <a:cs typeface="Calibri"/>
              <a:sym typeface="Calibri"/>
            </a:endParaRPr>
          </a:p>
        </p:txBody>
      </p:sp>
      <p:sp>
        <p:nvSpPr>
          <p:cNvPr id="351" name="Google Shape;351;p29"/>
          <p:cNvSpPr/>
          <p:nvPr/>
        </p:nvSpPr>
        <p:spPr>
          <a:xfrm>
            <a:off x="717947" y="2592065"/>
            <a:ext cx="1927027" cy="362880"/>
          </a:xfrm>
          <a:prstGeom prst="rect">
            <a:avLst/>
          </a:prstGeom>
          <a:noFill/>
          <a:ln>
            <a:noFill/>
          </a:ln>
        </p:spPr>
        <p:txBody>
          <a:bodyPr anchorCtr="0" anchor="ctr" bIns="8500" lIns="170050" spcFirstLastPara="1" rIns="170050" wrap="square" tIns="170050">
            <a:noAutofit/>
          </a:bodyPr>
          <a:lstStyle/>
          <a:p>
            <a:pPr indent="0" lvl="0" marL="0" marR="0" rtl="0" algn="l">
              <a:lnSpc>
                <a:spcPct val="128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Pranika</a:t>
            </a:r>
            <a:endParaRPr b="0" i="0" sz="900" u="none" cap="none" strike="noStrike">
              <a:solidFill>
                <a:schemeClr val="dk1"/>
              </a:solidFill>
              <a:latin typeface="Calibri"/>
              <a:ea typeface="Calibri"/>
              <a:cs typeface="Calibri"/>
              <a:sym typeface="Calibri"/>
            </a:endParaRPr>
          </a:p>
        </p:txBody>
      </p:sp>
      <p:sp>
        <p:nvSpPr>
          <p:cNvPr id="352" name="Google Shape;352;p29"/>
          <p:cNvSpPr/>
          <p:nvPr/>
        </p:nvSpPr>
        <p:spPr>
          <a:xfrm>
            <a:off x="2644973" y="2592065"/>
            <a:ext cx="5781080" cy="362880"/>
          </a:xfrm>
          <a:prstGeom prst="rect">
            <a:avLst/>
          </a:prstGeom>
          <a:noFill/>
          <a:ln>
            <a:noFill/>
          </a:ln>
        </p:spPr>
        <p:txBody>
          <a:bodyPr anchorCtr="0" anchor="ctr" bIns="8500" lIns="170050" spcFirstLastPara="1" rIns="170050" wrap="square" tIns="170050">
            <a:noAutofit/>
          </a:bodyPr>
          <a:lstStyle/>
          <a:p>
            <a:pPr indent="0" lvl="0" marL="0" marR="0" rtl="0" algn="l">
              <a:lnSpc>
                <a:spcPct val="128000"/>
              </a:lnSpc>
              <a:spcBef>
                <a:spcPts val="0"/>
              </a:spcBef>
              <a:spcAft>
                <a:spcPts val="0"/>
              </a:spcAft>
              <a:buClr>
                <a:srgbClr val="2D3748"/>
              </a:buClr>
              <a:buSzPts val="950"/>
              <a:buFont typeface="Inter"/>
              <a:buNone/>
            </a:pPr>
            <a:r>
              <a:t/>
            </a:r>
            <a:endParaRPr b="0" i="0" sz="950" u="none" cap="none" strike="noStrike">
              <a:solidFill>
                <a:schemeClr val="dk1"/>
              </a:solidFill>
              <a:latin typeface="Calibri"/>
              <a:ea typeface="Calibri"/>
              <a:cs typeface="Calibri"/>
              <a:sym typeface="Calibri"/>
            </a:endParaRPr>
          </a:p>
        </p:txBody>
      </p:sp>
      <p:sp>
        <p:nvSpPr>
          <p:cNvPr id="353" name="Google Shape;353;p29"/>
          <p:cNvSpPr/>
          <p:nvPr/>
        </p:nvSpPr>
        <p:spPr>
          <a:xfrm>
            <a:off x="717947" y="2954945"/>
            <a:ext cx="1926900" cy="363000"/>
          </a:xfrm>
          <a:prstGeom prst="rect">
            <a:avLst/>
          </a:prstGeom>
          <a:noFill/>
          <a:ln>
            <a:noFill/>
          </a:ln>
        </p:spPr>
        <p:txBody>
          <a:bodyPr anchorCtr="0" anchor="ctr" bIns="8500" lIns="170050" spcFirstLastPara="1" rIns="170050" wrap="square" tIns="170050">
            <a:noAutofit/>
          </a:bodyPr>
          <a:lstStyle/>
          <a:p>
            <a:pPr indent="0" lvl="0" marL="0" marR="0" rtl="0" algn="l">
              <a:lnSpc>
                <a:spcPct val="128000"/>
              </a:lnSpc>
              <a:spcBef>
                <a:spcPts val="0"/>
              </a:spcBef>
              <a:spcAft>
                <a:spcPts val="0"/>
              </a:spcAft>
              <a:buClr>
                <a:srgbClr val="0A2342"/>
              </a:buClr>
              <a:buSzPts val="900"/>
              <a:buFont typeface="Inter SemiBold"/>
              <a:buNone/>
            </a:pPr>
            <a:r>
              <a:rPr b="1" i="0" lang="en-GB" sz="900" u="none" cap="none" strike="noStrike">
                <a:solidFill>
                  <a:srgbClr val="0A2342"/>
                </a:solidFill>
                <a:latin typeface="Inter SemiBold"/>
                <a:ea typeface="Inter SemiBold"/>
                <a:cs typeface="Inter SemiBold"/>
                <a:sym typeface="Inter SemiBold"/>
              </a:rPr>
              <a:t>Mihir</a:t>
            </a:r>
            <a:endParaRPr b="0" i="0" sz="900" u="none" cap="none" strike="noStrike">
              <a:solidFill>
                <a:schemeClr val="dk1"/>
              </a:solidFill>
              <a:latin typeface="Calibri"/>
              <a:ea typeface="Calibri"/>
              <a:cs typeface="Calibri"/>
              <a:sym typeface="Calibri"/>
            </a:endParaRPr>
          </a:p>
        </p:txBody>
      </p:sp>
      <p:sp>
        <p:nvSpPr>
          <p:cNvPr id="354" name="Google Shape;354;p29"/>
          <p:cNvSpPr/>
          <p:nvPr/>
        </p:nvSpPr>
        <p:spPr>
          <a:xfrm>
            <a:off x="2644973" y="2954945"/>
            <a:ext cx="5781000" cy="363000"/>
          </a:xfrm>
          <a:prstGeom prst="rect">
            <a:avLst/>
          </a:prstGeom>
          <a:noFill/>
          <a:ln>
            <a:noFill/>
          </a:ln>
        </p:spPr>
        <p:txBody>
          <a:bodyPr anchorCtr="0" anchor="ctr" bIns="8500" lIns="170050" spcFirstLastPara="1" rIns="170050" wrap="square" tIns="170050">
            <a:noAutofit/>
          </a:bodyPr>
          <a:lstStyle/>
          <a:p>
            <a:pPr indent="0" lvl="0" marL="0" marR="0" rtl="0" algn="l">
              <a:lnSpc>
                <a:spcPct val="128000"/>
              </a:lnSpc>
              <a:spcBef>
                <a:spcPts val="0"/>
              </a:spcBef>
              <a:spcAft>
                <a:spcPts val="0"/>
              </a:spcAft>
              <a:buClr>
                <a:srgbClr val="2D3748"/>
              </a:buClr>
              <a:buSzPts val="950"/>
              <a:buFont typeface="Inter"/>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0"/>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0"/>
          <p:cNvSpPr/>
          <p:nvPr/>
        </p:nvSpPr>
        <p:spPr>
          <a:xfrm>
            <a:off x="571500" y="505420"/>
            <a:ext cx="8001000" cy="41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lang="en-GB" sz="2450">
                <a:solidFill>
                  <a:srgbClr val="FFFFFF"/>
                </a:solidFill>
                <a:latin typeface="Montserrat"/>
                <a:ea typeface="Montserrat"/>
                <a:cs typeface="Montserrat"/>
                <a:sym typeface="Montserrat"/>
              </a:rPr>
              <a:t>Additional Results</a:t>
            </a:r>
            <a:endParaRPr b="0" i="0" sz="2450" u="none" cap="none" strike="noStrike">
              <a:solidFill>
                <a:schemeClr val="dk1"/>
              </a:solidFill>
              <a:latin typeface="Calibri"/>
              <a:ea typeface="Calibri"/>
              <a:cs typeface="Calibri"/>
              <a:sym typeface="Calibri"/>
            </a:endParaRPr>
          </a:p>
        </p:txBody>
      </p:sp>
      <p:pic>
        <p:nvPicPr>
          <p:cNvPr id="362" name="Google Shape;362;p30"/>
          <p:cNvPicPr preferRelativeResize="0"/>
          <p:nvPr/>
        </p:nvPicPr>
        <p:blipFill>
          <a:blip r:embed="rId3">
            <a:alphaModFix/>
          </a:blip>
          <a:stretch>
            <a:fillRect/>
          </a:stretch>
        </p:blipFill>
        <p:spPr>
          <a:xfrm>
            <a:off x="152400" y="1295400"/>
            <a:ext cx="5867788" cy="36956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1"/>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1"/>
          <p:cNvSpPr/>
          <p:nvPr/>
        </p:nvSpPr>
        <p:spPr>
          <a:xfrm>
            <a:off x="571500" y="505420"/>
            <a:ext cx="8001000" cy="41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lang="en-GB" sz="2450">
                <a:solidFill>
                  <a:srgbClr val="FFFFFF"/>
                </a:solidFill>
                <a:latin typeface="Montserrat"/>
                <a:ea typeface="Montserrat"/>
                <a:cs typeface="Montserrat"/>
                <a:sym typeface="Montserrat"/>
              </a:rPr>
              <a:t>Additional Results</a:t>
            </a:r>
            <a:endParaRPr b="0" i="0" sz="2450" u="none" cap="none" strike="noStrike">
              <a:solidFill>
                <a:schemeClr val="dk1"/>
              </a:solidFill>
              <a:latin typeface="Calibri"/>
              <a:ea typeface="Calibri"/>
              <a:cs typeface="Calibri"/>
              <a:sym typeface="Calibri"/>
            </a:endParaRPr>
          </a:p>
        </p:txBody>
      </p:sp>
      <p:pic>
        <p:nvPicPr>
          <p:cNvPr id="370" name="Google Shape;370;p31"/>
          <p:cNvPicPr preferRelativeResize="0"/>
          <p:nvPr/>
        </p:nvPicPr>
        <p:blipFill>
          <a:blip r:embed="rId3">
            <a:alphaModFix/>
          </a:blip>
          <a:stretch>
            <a:fillRect/>
          </a:stretch>
        </p:blipFill>
        <p:spPr>
          <a:xfrm>
            <a:off x="152400" y="1295400"/>
            <a:ext cx="8839200" cy="304075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2"/>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2"/>
          <p:cNvSpPr/>
          <p:nvPr/>
        </p:nvSpPr>
        <p:spPr>
          <a:xfrm>
            <a:off x="571500" y="505420"/>
            <a:ext cx="8001000" cy="41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lang="en-GB" sz="2450">
                <a:solidFill>
                  <a:srgbClr val="FFFFFF"/>
                </a:solidFill>
                <a:latin typeface="Montserrat"/>
                <a:ea typeface="Montserrat"/>
                <a:cs typeface="Montserrat"/>
                <a:sym typeface="Montserrat"/>
              </a:rPr>
              <a:t>Additional Results</a:t>
            </a:r>
            <a:endParaRPr b="0" i="0" sz="2450" u="none" cap="none" strike="noStrike">
              <a:solidFill>
                <a:schemeClr val="dk1"/>
              </a:solidFill>
              <a:latin typeface="Calibri"/>
              <a:ea typeface="Calibri"/>
              <a:cs typeface="Calibri"/>
              <a:sym typeface="Calibri"/>
            </a:endParaRPr>
          </a:p>
        </p:txBody>
      </p:sp>
      <p:pic>
        <p:nvPicPr>
          <p:cNvPr id="378" name="Google Shape;378;p32"/>
          <p:cNvPicPr preferRelativeResize="0"/>
          <p:nvPr/>
        </p:nvPicPr>
        <p:blipFill>
          <a:blip r:embed="rId3">
            <a:alphaModFix/>
          </a:blip>
          <a:stretch>
            <a:fillRect/>
          </a:stretch>
        </p:blipFill>
        <p:spPr>
          <a:xfrm>
            <a:off x="152400" y="1295400"/>
            <a:ext cx="8839202" cy="368797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descr="preencoded.png" id="384" name="Google Shape;384;p3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85" name="Google Shape;385;p33"/>
          <p:cNvSpPr/>
          <p:nvPr/>
        </p:nvSpPr>
        <p:spPr>
          <a:xfrm>
            <a:off x="0" y="0"/>
            <a:ext cx="9144000" cy="1143000"/>
          </a:xfrm>
          <a:prstGeom prst="rect">
            <a:avLst/>
          </a:prstGeom>
          <a:solidFill>
            <a:srgbClr val="0A23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
          <p:cNvSpPr/>
          <p:nvPr/>
        </p:nvSpPr>
        <p:spPr>
          <a:xfrm>
            <a:off x="571500" y="505420"/>
            <a:ext cx="8001000" cy="4179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50"/>
              <a:buFont typeface="Montserrat"/>
              <a:buNone/>
            </a:pPr>
            <a:r>
              <a:rPr b="1" i="0" lang="en-GB" sz="2450" u="none" cap="none" strike="noStrike">
                <a:solidFill>
                  <a:srgbClr val="FFFFFF"/>
                </a:solidFill>
                <a:latin typeface="Montserrat"/>
                <a:ea typeface="Montserrat"/>
                <a:cs typeface="Montserrat"/>
                <a:sym typeface="Montserrat"/>
              </a:rPr>
              <a:t>Project Repository</a:t>
            </a:r>
            <a:endParaRPr b="0" i="0" sz="2450" u="none" cap="none" strike="noStrike">
              <a:solidFill>
                <a:schemeClr val="dk1"/>
              </a:solidFill>
              <a:latin typeface="Calibri"/>
              <a:ea typeface="Calibri"/>
              <a:cs typeface="Calibri"/>
              <a:sym typeface="Calibri"/>
            </a:endParaRPr>
          </a:p>
        </p:txBody>
      </p:sp>
      <p:sp>
        <p:nvSpPr>
          <p:cNvPr id="387" name="Google Shape;387;p33"/>
          <p:cNvSpPr/>
          <p:nvPr/>
        </p:nvSpPr>
        <p:spPr>
          <a:xfrm>
            <a:off x="857250" y="1714500"/>
            <a:ext cx="7429500" cy="951905"/>
          </a:xfrm>
          <a:prstGeom prst="rect">
            <a:avLst/>
          </a:prstGeom>
          <a:solidFill>
            <a:srgbClr val="F8FAFC"/>
          </a:solidFill>
          <a:ln cap="flat" cmpd="sng" w="9525">
            <a:solidFill>
              <a:srgbClr val="3182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3"/>
          <p:cNvSpPr/>
          <p:nvPr/>
        </p:nvSpPr>
        <p:spPr>
          <a:xfrm>
            <a:off x="1143000" y="2000250"/>
            <a:ext cx="6858000" cy="20895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2342"/>
              </a:buClr>
              <a:buSzPts val="1250"/>
              <a:buFont typeface="Montserrat"/>
              <a:buNone/>
            </a:pPr>
            <a:r>
              <a:rPr b="1" i="0" lang="en-GB" sz="1250" u="none" cap="none" strike="noStrike">
                <a:solidFill>
                  <a:srgbClr val="0A2342"/>
                </a:solidFill>
                <a:latin typeface="Montserrat"/>
                <a:ea typeface="Montserrat"/>
                <a:cs typeface="Montserrat"/>
                <a:sym typeface="Montserrat"/>
              </a:rPr>
              <a:t>GITHUB REPOSITORY</a:t>
            </a:r>
            <a:endParaRPr b="0" i="0" sz="1250" u="none" cap="none" strike="noStrike">
              <a:solidFill>
                <a:schemeClr val="dk1"/>
              </a:solidFill>
              <a:latin typeface="Calibri"/>
              <a:ea typeface="Calibri"/>
              <a:cs typeface="Calibri"/>
              <a:sym typeface="Calibri"/>
            </a:endParaRPr>
          </a:p>
        </p:txBody>
      </p:sp>
      <p:sp>
        <p:nvSpPr>
          <p:cNvPr id="389" name="Google Shape;389;p33"/>
          <p:cNvSpPr/>
          <p:nvPr/>
        </p:nvSpPr>
        <p:spPr>
          <a:xfrm>
            <a:off x="1143000" y="2352080"/>
            <a:ext cx="6858000" cy="30003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182CE"/>
              </a:buClr>
              <a:buSzPts val="1600"/>
              <a:buFont typeface="Fira Code"/>
              <a:buNone/>
            </a:pPr>
            <a:r>
              <a:rPr b="1" i="0" lang="en-GB" sz="1600" u="none" cap="none" strike="noStrike">
                <a:solidFill>
                  <a:srgbClr val="3182CE"/>
                </a:solidFill>
                <a:latin typeface="Fira Code"/>
                <a:ea typeface="Fira Code"/>
                <a:cs typeface="Fira Code"/>
                <a:sym typeface="Fira Code"/>
              </a:rPr>
              <a:t>https://</a:t>
            </a:r>
            <a:r>
              <a:rPr b="1" lang="en-GB" sz="1600">
                <a:solidFill>
                  <a:srgbClr val="3182CE"/>
                </a:solidFill>
                <a:latin typeface="Fira Code"/>
                <a:ea typeface="Fira Code"/>
                <a:cs typeface="Fira Code"/>
                <a:sym typeface="Fira Code"/>
              </a:rPr>
              <a:t>github.com/mihir965/roshomon_effect_project/</a:t>
            </a:r>
            <a:endParaRPr b="0" i="0" sz="1600" u="none" cap="none" strike="noStrike">
              <a:solidFill>
                <a:schemeClr val="dk1"/>
              </a:solidFill>
              <a:latin typeface="Calibri"/>
              <a:ea typeface="Calibri"/>
              <a:cs typeface="Calibri"/>
              <a:sym typeface="Calibri"/>
            </a:endParaRPr>
          </a:p>
        </p:txBody>
      </p:sp>
      <p:sp>
        <p:nvSpPr>
          <p:cNvPr id="390" name="Google Shape;390;p33"/>
          <p:cNvSpPr/>
          <p:nvPr/>
        </p:nvSpPr>
        <p:spPr>
          <a:xfrm>
            <a:off x="6000750" y="3080742"/>
            <a:ext cx="128588" cy="192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182CE"/>
              </a:buClr>
              <a:buSzPts val="900"/>
              <a:buFont typeface="Inter SemiBold"/>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43000"/>
          </a:xfrm>
          <a:prstGeom prst="rect">
            <a:avLst/>
          </a:prstGeom>
          <a:solidFill>
            <a:srgbClr val="0A2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02920"/>
            <a:ext cx="8001000" cy="420624"/>
          </a:xfrm>
          <a:prstGeom prst="rect">
            <a:avLst/>
          </a:prstGeom>
          <a:noFill/>
        </p:spPr>
        <p:txBody>
          <a:bodyPr wrap="square" lIns="45720" rIns="45720" tIns="18288" bIns="18288">
            <a:spAutoFit/>
          </a:bodyPr>
          <a:lstStyle/>
          <a:p>
            <a:r>
              <a:rPr sz="2400" b="1">
                <a:solidFill>
                  <a:srgbClr val="FFFFFF"/>
                </a:solidFill>
                <a:latin typeface="Montserrat"/>
              </a:rPr>
              <a:t>How to Read Each Score</a:t>
            </a:r>
          </a:p>
        </p:txBody>
      </p:sp>
      <p:sp>
        <p:nvSpPr>
          <p:cNvPr id="4" name="TextBox 3"/>
          <p:cNvSpPr txBox="1"/>
          <p:nvPr/>
        </p:nvSpPr>
        <p:spPr>
          <a:xfrm>
            <a:off x="566928" y="960120"/>
            <a:ext cx="8001000" cy="182880"/>
          </a:xfrm>
          <a:prstGeom prst="rect">
            <a:avLst/>
          </a:prstGeom>
          <a:noFill/>
        </p:spPr>
        <p:txBody>
          <a:bodyPr wrap="square" lIns="45720" rIns="45720" tIns="18288" bIns="18288">
            <a:spAutoFit/>
          </a:bodyPr>
          <a:lstStyle/>
          <a:p>
            <a:r>
              <a:rPr sz="1000" b="0">
                <a:solidFill>
                  <a:srgbClr val="718096"/>
                </a:solidFill>
                <a:latin typeface="Inter"/>
              </a:rPr>
              <a:t>Plain-language guide for an evaluator picking a model</a:t>
            </a:r>
          </a:p>
        </p:txBody>
      </p:sp>
      <p:sp>
        <p:nvSpPr>
          <p:cNvPr id="5" name="Rectangle 4"/>
          <p:cNvSpPr/>
          <p:nvPr/>
        </p:nvSpPr>
        <p:spPr>
          <a:xfrm>
            <a:off x="576072" y="1280160"/>
            <a:ext cx="2212848" cy="292608"/>
          </a:xfrm>
          <a:prstGeom prst="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280160"/>
            <a:ext cx="2212848" cy="292608"/>
          </a:xfrm>
          <a:prstGeom prst="rect">
            <a:avLst/>
          </a:prstGeom>
          <a:noFill/>
        </p:spPr>
        <p:txBody>
          <a:bodyPr wrap="square" lIns="45720" rIns="45720" tIns="18288" bIns="18288">
            <a:spAutoFit/>
          </a:bodyPr>
          <a:lstStyle/>
          <a:p>
            <a:r>
              <a:rPr sz="1000" b="1">
                <a:solidFill>
                  <a:srgbClr val="FFFFFF"/>
                </a:solidFill>
                <a:latin typeface="Montserrat"/>
              </a:rPr>
              <a:t>Metric  —  question it answers</a:t>
            </a:r>
          </a:p>
        </p:txBody>
      </p:sp>
      <p:sp>
        <p:nvSpPr>
          <p:cNvPr id="7" name="Rectangle 6"/>
          <p:cNvSpPr/>
          <p:nvPr/>
        </p:nvSpPr>
        <p:spPr>
          <a:xfrm>
            <a:off x="2788920" y="1280160"/>
            <a:ext cx="2587752" cy="292608"/>
          </a:xfrm>
          <a:prstGeom prst="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8920" y="1280160"/>
            <a:ext cx="2587752" cy="292608"/>
          </a:xfrm>
          <a:prstGeom prst="rect">
            <a:avLst/>
          </a:prstGeom>
          <a:noFill/>
        </p:spPr>
        <p:txBody>
          <a:bodyPr wrap="square" lIns="45720" rIns="45720" tIns="18288" bIns="18288">
            <a:spAutoFit/>
          </a:bodyPr>
          <a:lstStyle/>
          <a:p>
            <a:r>
              <a:rPr sz="1000" b="1">
                <a:solidFill>
                  <a:srgbClr val="FFFFFF"/>
                </a:solidFill>
                <a:latin typeface="Montserrat"/>
              </a:rPr>
              <a:t>What a high value means (≥ 0.7)</a:t>
            </a:r>
          </a:p>
        </p:txBody>
      </p:sp>
      <p:sp>
        <p:nvSpPr>
          <p:cNvPr id="9" name="Rectangle 8"/>
          <p:cNvSpPr/>
          <p:nvPr/>
        </p:nvSpPr>
        <p:spPr>
          <a:xfrm>
            <a:off x="5376672" y="1280160"/>
            <a:ext cx="3191256" cy="292608"/>
          </a:xfrm>
          <a:prstGeom prst="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76672" y="1280160"/>
            <a:ext cx="3191256" cy="292608"/>
          </a:xfrm>
          <a:prstGeom prst="rect">
            <a:avLst/>
          </a:prstGeom>
          <a:noFill/>
        </p:spPr>
        <p:txBody>
          <a:bodyPr wrap="square" lIns="45720" rIns="45720" tIns="18288" bIns="18288">
            <a:spAutoFit/>
          </a:bodyPr>
          <a:lstStyle/>
          <a:p>
            <a:r>
              <a:rPr sz="1000" b="1">
                <a:solidFill>
                  <a:srgbClr val="FFFFFF"/>
                </a:solidFill>
                <a:latin typeface="Montserrat"/>
              </a:rPr>
              <a:t>Most telling for</a:t>
            </a:r>
          </a:p>
        </p:txBody>
      </p:sp>
      <p:sp>
        <p:nvSpPr>
          <p:cNvPr id="11" name="TextBox 10"/>
          <p:cNvSpPr txBox="1"/>
          <p:nvPr/>
        </p:nvSpPr>
        <p:spPr>
          <a:xfrm>
            <a:off x="576072" y="1572768"/>
            <a:ext cx="2212848" cy="329184"/>
          </a:xfrm>
          <a:prstGeom prst="rect">
            <a:avLst/>
          </a:prstGeom>
          <a:noFill/>
        </p:spPr>
        <p:txBody>
          <a:bodyPr wrap="square" lIns="45720" rIns="45720" tIns="18288" bIns="18288">
            <a:spAutoFit/>
          </a:bodyPr>
          <a:lstStyle/>
          <a:p>
            <a:r>
              <a:rPr sz="900" b="1">
                <a:solidFill>
                  <a:srgbClr val="0A2342"/>
                </a:solidFill>
                <a:latin typeface="Inter SemiBold"/>
              </a:rPr>
              <a:t>AAS  —  "Did it land on the right answer?"</a:t>
            </a:r>
          </a:p>
        </p:txBody>
      </p:sp>
      <p:sp>
        <p:nvSpPr>
          <p:cNvPr id="12" name="TextBox 11"/>
          <p:cNvSpPr txBox="1"/>
          <p:nvPr/>
        </p:nvSpPr>
        <p:spPr>
          <a:xfrm>
            <a:off x="2788920" y="1572768"/>
            <a:ext cx="2587752" cy="329184"/>
          </a:xfrm>
          <a:prstGeom prst="rect">
            <a:avLst/>
          </a:prstGeom>
          <a:noFill/>
        </p:spPr>
        <p:txBody>
          <a:bodyPr wrap="square" lIns="45720" rIns="45720" tIns="18288" bIns="18288">
            <a:spAutoFit/>
          </a:bodyPr>
          <a:lstStyle/>
          <a:p>
            <a:r>
              <a:rPr sz="900" b="0">
                <a:solidFill>
                  <a:srgbClr val="2D3748"/>
                </a:solidFill>
                <a:latin typeface="Inter"/>
              </a:rPr>
              <a:t>Same answer as golden, perhaps reworded</a:t>
            </a:r>
          </a:p>
        </p:txBody>
      </p:sp>
      <p:sp>
        <p:nvSpPr>
          <p:cNvPr id="13" name="TextBox 12"/>
          <p:cNvSpPr txBox="1"/>
          <p:nvPr/>
        </p:nvSpPr>
        <p:spPr>
          <a:xfrm>
            <a:off x="5376672" y="1572768"/>
            <a:ext cx="3191256" cy="329184"/>
          </a:xfrm>
          <a:prstGeom prst="rect">
            <a:avLst/>
          </a:prstGeom>
          <a:noFill/>
        </p:spPr>
        <p:txBody>
          <a:bodyPr wrap="square" lIns="45720" rIns="45720" tIns="18288" bIns="18288">
            <a:spAutoFit/>
          </a:bodyPr>
          <a:lstStyle/>
          <a:p>
            <a:r>
              <a:rPr sz="900" b="0">
                <a:solidFill>
                  <a:srgbClr val="2D3748"/>
                </a:solidFill>
                <a:latin typeface="Inter"/>
              </a:rPr>
              <a:t>Chatbots, search summaries, lookups</a:t>
            </a:r>
          </a:p>
        </p:txBody>
      </p:sp>
      <p:sp>
        <p:nvSpPr>
          <p:cNvPr id="14" name="Rectangle 13"/>
          <p:cNvSpPr/>
          <p:nvPr/>
        </p:nvSpPr>
        <p:spPr>
          <a:xfrm>
            <a:off x="576072" y="1901952"/>
            <a:ext cx="7991856" cy="32918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1901952"/>
            <a:ext cx="2212848" cy="329184"/>
          </a:xfrm>
          <a:prstGeom prst="rect">
            <a:avLst/>
          </a:prstGeom>
          <a:noFill/>
        </p:spPr>
        <p:txBody>
          <a:bodyPr wrap="square" lIns="45720" rIns="45720" tIns="18288" bIns="18288">
            <a:spAutoFit/>
          </a:bodyPr>
          <a:lstStyle/>
          <a:p>
            <a:r>
              <a:rPr sz="900" b="1">
                <a:solidFill>
                  <a:srgbClr val="0A2342"/>
                </a:solidFill>
                <a:latin typeface="Inter SemiBold"/>
              </a:rPr>
              <a:t>RAS  —  "Did it think about it the same way?"</a:t>
            </a:r>
          </a:p>
        </p:txBody>
      </p:sp>
      <p:sp>
        <p:nvSpPr>
          <p:cNvPr id="16" name="TextBox 15"/>
          <p:cNvSpPr txBox="1"/>
          <p:nvPr/>
        </p:nvSpPr>
        <p:spPr>
          <a:xfrm>
            <a:off x="2788920" y="1901952"/>
            <a:ext cx="2587752" cy="329184"/>
          </a:xfrm>
          <a:prstGeom prst="rect">
            <a:avLst/>
          </a:prstGeom>
          <a:noFill/>
        </p:spPr>
        <p:txBody>
          <a:bodyPr wrap="square" lIns="45720" rIns="45720" tIns="18288" bIns="18288">
            <a:spAutoFit/>
          </a:bodyPr>
          <a:lstStyle/>
          <a:p>
            <a:r>
              <a:rPr sz="900" b="0">
                <a:solidFill>
                  <a:srgbClr val="2D3748"/>
                </a:solidFill>
                <a:latin typeface="Inter"/>
              </a:rPr>
              <a:t>Reasoning chain matches in argument structure</a:t>
            </a:r>
          </a:p>
        </p:txBody>
      </p:sp>
      <p:sp>
        <p:nvSpPr>
          <p:cNvPr id="17" name="TextBox 16"/>
          <p:cNvSpPr txBox="1"/>
          <p:nvPr/>
        </p:nvSpPr>
        <p:spPr>
          <a:xfrm>
            <a:off x="5376672" y="1901952"/>
            <a:ext cx="3191256" cy="329184"/>
          </a:xfrm>
          <a:prstGeom prst="rect">
            <a:avLst/>
          </a:prstGeom>
          <a:noFill/>
        </p:spPr>
        <p:txBody>
          <a:bodyPr wrap="square" lIns="45720" rIns="45720" tIns="18288" bIns="18288">
            <a:spAutoFit/>
          </a:bodyPr>
          <a:lstStyle/>
          <a:p>
            <a:r>
              <a:rPr sz="900" b="0">
                <a:solidFill>
                  <a:srgbClr val="2D3748"/>
                </a:solidFill>
                <a:latin typeface="Inter"/>
              </a:rPr>
              <a:t>High-stakes domains (medical, legal); auditability</a:t>
            </a:r>
          </a:p>
        </p:txBody>
      </p:sp>
      <p:sp>
        <p:nvSpPr>
          <p:cNvPr id="18" name="TextBox 17"/>
          <p:cNvSpPr txBox="1"/>
          <p:nvPr/>
        </p:nvSpPr>
        <p:spPr>
          <a:xfrm>
            <a:off x="576072" y="2231136"/>
            <a:ext cx="2212848" cy="329184"/>
          </a:xfrm>
          <a:prstGeom prst="rect">
            <a:avLst/>
          </a:prstGeom>
          <a:noFill/>
        </p:spPr>
        <p:txBody>
          <a:bodyPr wrap="square" lIns="45720" rIns="45720" tIns="18288" bIns="18288">
            <a:spAutoFit/>
          </a:bodyPr>
          <a:lstStyle/>
          <a:p>
            <a:r>
              <a:rPr sz="900" b="1">
                <a:solidFill>
                  <a:srgbClr val="0A2342"/>
                </a:solidFill>
                <a:latin typeface="Inter SemiBold"/>
              </a:rPr>
              <a:t>SLMS  —  "Did it walk through every required step?"</a:t>
            </a:r>
          </a:p>
        </p:txBody>
      </p:sp>
      <p:sp>
        <p:nvSpPr>
          <p:cNvPr id="19" name="TextBox 18"/>
          <p:cNvSpPr txBox="1"/>
          <p:nvPr/>
        </p:nvSpPr>
        <p:spPr>
          <a:xfrm>
            <a:off x="2788920" y="2231136"/>
            <a:ext cx="2587752" cy="329184"/>
          </a:xfrm>
          <a:prstGeom prst="rect">
            <a:avLst/>
          </a:prstGeom>
          <a:noFill/>
        </p:spPr>
        <p:txBody>
          <a:bodyPr wrap="square" lIns="45720" rIns="45720" tIns="18288" bIns="18288">
            <a:spAutoFit/>
          </a:bodyPr>
          <a:lstStyle/>
          <a:p>
            <a:r>
              <a:rPr sz="900" b="0">
                <a:solidFill>
                  <a:srgbClr val="2D3748"/>
                </a:solidFill>
                <a:latin typeface="Inter"/>
              </a:rPr>
              <a:t>Touched every golden step (asymmetric)</a:t>
            </a:r>
          </a:p>
        </p:txBody>
      </p:sp>
      <p:sp>
        <p:nvSpPr>
          <p:cNvPr id="20" name="TextBox 19"/>
          <p:cNvSpPr txBox="1"/>
          <p:nvPr/>
        </p:nvSpPr>
        <p:spPr>
          <a:xfrm>
            <a:off x="5376672" y="2231136"/>
            <a:ext cx="3191256" cy="329184"/>
          </a:xfrm>
          <a:prstGeom prst="rect">
            <a:avLst/>
          </a:prstGeom>
          <a:noFill/>
        </p:spPr>
        <p:txBody>
          <a:bodyPr wrap="square" lIns="45720" rIns="45720" tIns="18288" bIns="18288">
            <a:spAutoFit/>
          </a:bodyPr>
          <a:lstStyle/>
          <a:p>
            <a:r>
              <a:rPr sz="900" b="0">
                <a:solidFill>
                  <a:srgbClr val="2D3748"/>
                </a:solidFill>
                <a:latin typeface="Inter"/>
              </a:rPr>
              <a:t>Safety-critical reasoning; no skipped steps</a:t>
            </a:r>
          </a:p>
        </p:txBody>
      </p:sp>
      <p:sp>
        <p:nvSpPr>
          <p:cNvPr id="21" name="Rectangle 20"/>
          <p:cNvSpPr/>
          <p:nvPr/>
        </p:nvSpPr>
        <p:spPr>
          <a:xfrm>
            <a:off x="576072" y="2560320"/>
            <a:ext cx="7991856" cy="32918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 y="2560320"/>
            <a:ext cx="2212848" cy="329184"/>
          </a:xfrm>
          <a:prstGeom prst="rect">
            <a:avLst/>
          </a:prstGeom>
          <a:noFill/>
        </p:spPr>
        <p:txBody>
          <a:bodyPr wrap="square" lIns="45720" rIns="45720" tIns="18288" bIns="18288">
            <a:spAutoFit/>
          </a:bodyPr>
          <a:lstStyle/>
          <a:p>
            <a:r>
              <a:rPr sz="900" b="1">
                <a:solidFill>
                  <a:srgbClr val="0A2342"/>
                </a:solidFill>
                <a:latin typeface="Inter SemiBold"/>
              </a:rPr>
              <a:t>CS  —  "Does it tell the same story twice?"</a:t>
            </a:r>
          </a:p>
        </p:txBody>
      </p:sp>
      <p:sp>
        <p:nvSpPr>
          <p:cNvPr id="23" name="TextBox 22"/>
          <p:cNvSpPr txBox="1"/>
          <p:nvPr/>
        </p:nvSpPr>
        <p:spPr>
          <a:xfrm>
            <a:off x="2788920" y="2560320"/>
            <a:ext cx="2587752" cy="329184"/>
          </a:xfrm>
          <a:prstGeom prst="rect">
            <a:avLst/>
          </a:prstGeom>
          <a:noFill/>
        </p:spPr>
        <p:txBody>
          <a:bodyPr wrap="square" lIns="45720" rIns="45720" tIns="18288" bIns="18288">
            <a:spAutoFit/>
          </a:bodyPr>
          <a:lstStyle/>
          <a:p>
            <a:r>
              <a:rPr sz="900" b="0">
                <a:solidFill>
                  <a:srgbClr val="2D3748"/>
                </a:solidFill>
                <a:latin typeface="Inter"/>
              </a:rPr>
              <a:t>Stable reasoning across repeated runs</a:t>
            </a:r>
          </a:p>
        </p:txBody>
      </p:sp>
      <p:sp>
        <p:nvSpPr>
          <p:cNvPr id="24" name="TextBox 23"/>
          <p:cNvSpPr txBox="1"/>
          <p:nvPr/>
        </p:nvSpPr>
        <p:spPr>
          <a:xfrm>
            <a:off x="5376672" y="2560320"/>
            <a:ext cx="3191256" cy="329184"/>
          </a:xfrm>
          <a:prstGeom prst="rect">
            <a:avLst/>
          </a:prstGeom>
          <a:noFill/>
        </p:spPr>
        <p:txBody>
          <a:bodyPr wrap="square" lIns="45720" rIns="45720" tIns="18288" bIns="18288">
            <a:spAutoFit/>
          </a:bodyPr>
          <a:lstStyle/>
          <a:p>
            <a:r>
              <a:rPr sz="900" b="0">
                <a:solidFill>
                  <a:srgbClr val="2D3748"/>
                </a:solidFill>
                <a:latin typeface="Inter"/>
              </a:rPr>
              <a:t>Agentic loops; pipelines that re-query</a:t>
            </a:r>
          </a:p>
        </p:txBody>
      </p:sp>
      <p:sp>
        <p:nvSpPr>
          <p:cNvPr id="25" name="TextBox 24"/>
          <p:cNvSpPr txBox="1"/>
          <p:nvPr/>
        </p:nvSpPr>
        <p:spPr>
          <a:xfrm>
            <a:off x="576072" y="2889504"/>
            <a:ext cx="2212848" cy="329184"/>
          </a:xfrm>
          <a:prstGeom prst="rect">
            <a:avLst/>
          </a:prstGeom>
          <a:noFill/>
        </p:spPr>
        <p:txBody>
          <a:bodyPr wrap="square" lIns="45720" rIns="45720" tIns="18288" bIns="18288">
            <a:spAutoFit/>
          </a:bodyPr>
          <a:lstStyle/>
          <a:p>
            <a:r>
              <a:rPr sz="900" b="1">
                <a:solidFill>
                  <a:srgbClr val="0A2342"/>
                </a:solidFill>
                <a:latin typeface="Inter SemiBold"/>
              </a:rPr>
              <a:t>DKUS  —  "Does it use the domain vocabulary?"</a:t>
            </a:r>
          </a:p>
        </p:txBody>
      </p:sp>
      <p:sp>
        <p:nvSpPr>
          <p:cNvPr id="26" name="TextBox 25"/>
          <p:cNvSpPr txBox="1"/>
          <p:nvPr/>
        </p:nvSpPr>
        <p:spPr>
          <a:xfrm>
            <a:off x="2788920" y="2889504"/>
            <a:ext cx="2587752" cy="329184"/>
          </a:xfrm>
          <a:prstGeom prst="rect">
            <a:avLst/>
          </a:prstGeom>
          <a:noFill/>
        </p:spPr>
        <p:txBody>
          <a:bodyPr wrap="square" lIns="45720" rIns="45720" tIns="18288" bIns="18288">
            <a:spAutoFit/>
          </a:bodyPr>
          <a:lstStyle/>
          <a:p>
            <a:r>
              <a:rPr sz="900" b="0">
                <a:solidFill>
                  <a:srgbClr val="2D3748"/>
                </a:solidFill>
                <a:latin typeface="Inter"/>
              </a:rPr>
              <a:t>Uses the required technical terms</a:t>
            </a:r>
          </a:p>
        </p:txBody>
      </p:sp>
      <p:sp>
        <p:nvSpPr>
          <p:cNvPr id="27" name="TextBox 26"/>
          <p:cNvSpPr txBox="1"/>
          <p:nvPr/>
        </p:nvSpPr>
        <p:spPr>
          <a:xfrm>
            <a:off x="5376672" y="2889504"/>
            <a:ext cx="3191256" cy="329184"/>
          </a:xfrm>
          <a:prstGeom prst="rect">
            <a:avLst/>
          </a:prstGeom>
          <a:noFill/>
        </p:spPr>
        <p:txBody>
          <a:bodyPr wrap="square" lIns="45720" rIns="45720" tIns="18288" bIns="18288">
            <a:spAutoFit/>
          </a:bodyPr>
          <a:lstStyle/>
          <a:p>
            <a:r>
              <a:rPr sz="900" b="0">
                <a:solidFill>
                  <a:srgbClr val="2D3748"/>
                </a:solidFill>
                <a:latin typeface="Inter"/>
              </a:rPr>
              <a:t>Specialist domains (finance, biomedicine, security)</a:t>
            </a:r>
          </a:p>
        </p:txBody>
      </p:sp>
      <p:sp>
        <p:nvSpPr>
          <p:cNvPr id="28" name="Rectangle 27"/>
          <p:cNvSpPr/>
          <p:nvPr/>
        </p:nvSpPr>
        <p:spPr>
          <a:xfrm>
            <a:off x="576072" y="3218688"/>
            <a:ext cx="7991856" cy="32918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3218688"/>
            <a:ext cx="2212848" cy="329184"/>
          </a:xfrm>
          <a:prstGeom prst="rect">
            <a:avLst/>
          </a:prstGeom>
          <a:noFill/>
        </p:spPr>
        <p:txBody>
          <a:bodyPr wrap="square" lIns="45720" rIns="45720" tIns="18288" bIns="18288">
            <a:spAutoFit/>
          </a:bodyPr>
          <a:lstStyle/>
          <a:p>
            <a:r>
              <a:rPr sz="900" b="1">
                <a:solidFill>
                  <a:srgbClr val="0A2342"/>
                </a:solidFill>
                <a:latin typeface="Inter SemiBold"/>
              </a:rPr>
              <a:t>FPS  —  "What do I look at first?"</a:t>
            </a:r>
          </a:p>
        </p:txBody>
      </p:sp>
      <p:sp>
        <p:nvSpPr>
          <p:cNvPr id="30" name="TextBox 29"/>
          <p:cNvSpPr txBox="1"/>
          <p:nvPr/>
        </p:nvSpPr>
        <p:spPr>
          <a:xfrm>
            <a:off x="2788920" y="3218688"/>
            <a:ext cx="2587752" cy="329184"/>
          </a:xfrm>
          <a:prstGeom prst="rect">
            <a:avLst/>
          </a:prstGeom>
          <a:noFill/>
        </p:spPr>
        <p:txBody>
          <a:bodyPr wrap="square" lIns="45720" rIns="45720" tIns="18288" bIns="18288">
            <a:spAutoFit/>
          </a:bodyPr>
          <a:lstStyle/>
          <a:p>
            <a:r>
              <a:rPr sz="900" b="0">
                <a:solidFill>
                  <a:srgbClr val="2D3748"/>
                </a:solidFill>
                <a:latin typeface="Inter"/>
              </a:rPr>
              <a:t>High composite — strong starting recommendation</a:t>
            </a:r>
          </a:p>
        </p:txBody>
      </p:sp>
      <p:sp>
        <p:nvSpPr>
          <p:cNvPr id="31" name="TextBox 30"/>
          <p:cNvSpPr txBox="1"/>
          <p:nvPr/>
        </p:nvSpPr>
        <p:spPr>
          <a:xfrm>
            <a:off x="5376672" y="3218688"/>
            <a:ext cx="3191256" cy="329184"/>
          </a:xfrm>
          <a:prstGeom prst="rect">
            <a:avLst/>
          </a:prstGeom>
          <a:noFill/>
        </p:spPr>
        <p:txBody>
          <a:bodyPr wrap="square" lIns="45720" rIns="45720" tIns="18288" bIns="18288">
            <a:spAutoFit/>
          </a:bodyPr>
          <a:lstStyle/>
          <a:p>
            <a:r>
              <a:rPr sz="900" b="0">
                <a:solidFill>
                  <a:srgbClr val="2D3748"/>
                </a:solidFill>
                <a:latin typeface="Inter"/>
              </a:rPr>
              <a:t>Leaderboard view; always drill into components</a:t>
            </a:r>
          </a:p>
        </p:txBody>
      </p:sp>
      <p:sp>
        <p:nvSpPr>
          <p:cNvPr id="32" name="Rectangle 31"/>
          <p:cNvSpPr/>
          <p:nvPr/>
        </p:nvSpPr>
        <p:spPr>
          <a:xfrm>
            <a:off x="566928" y="3749039"/>
            <a:ext cx="8001000" cy="111556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3840479"/>
            <a:ext cx="7717536" cy="201168"/>
          </a:xfrm>
          <a:prstGeom prst="rect">
            <a:avLst/>
          </a:prstGeom>
          <a:noFill/>
        </p:spPr>
        <p:txBody>
          <a:bodyPr wrap="square" lIns="45720" rIns="45720" tIns="18288" bIns="18288">
            <a:spAutoFit/>
          </a:bodyPr>
          <a:lstStyle/>
          <a:p>
            <a:r>
              <a:rPr sz="1150" b="1">
                <a:solidFill>
                  <a:srgbClr val="0A2342"/>
                </a:solidFill>
                <a:latin typeface="Montserrat"/>
              </a:rPr>
              <a:t>Decision shortcut</a:t>
            </a:r>
          </a:p>
        </p:txBody>
      </p:sp>
      <p:sp>
        <p:nvSpPr>
          <p:cNvPr id="34" name="TextBox 33"/>
          <p:cNvSpPr txBox="1"/>
          <p:nvPr/>
        </p:nvSpPr>
        <p:spPr>
          <a:xfrm>
            <a:off x="713232" y="4059935"/>
            <a:ext cx="7717536" cy="182880"/>
          </a:xfrm>
          <a:prstGeom prst="rect">
            <a:avLst/>
          </a:prstGeom>
          <a:noFill/>
        </p:spPr>
        <p:txBody>
          <a:bodyPr wrap="square" lIns="45720" rIns="45720" tIns="18288" bIns="18288">
            <a:spAutoFit/>
          </a:bodyPr>
          <a:lstStyle/>
          <a:p>
            <a:r>
              <a:rPr sz="950" b="0">
                <a:solidFill>
                  <a:srgbClr val="2D3748"/>
                </a:solidFill>
                <a:latin typeface="Inter"/>
              </a:rPr>
              <a:t>•  High FPS + high RAS + high SLMS  →  recommend with confidence</a:t>
            </a:r>
          </a:p>
        </p:txBody>
      </p:sp>
      <p:sp>
        <p:nvSpPr>
          <p:cNvPr id="35" name="TextBox 34"/>
          <p:cNvSpPr txBox="1"/>
          <p:nvPr/>
        </p:nvSpPr>
        <p:spPr>
          <a:xfrm>
            <a:off x="713232" y="4242815"/>
            <a:ext cx="7717536" cy="182880"/>
          </a:xfrm>
          <a:prstGeom prst="rect">
            <a:avLst/>
          </a:prstGeom>
          <a:noFill/>
        </p:spPr>
        <p:txBody>
          <a:bodyPr wrap="square" lIns="45720" rIns="45720" tIns="18288" bIns="18288">
            <a:spAutoFit/>
          </a:bodyPr>
          <a:lstStyle/>
          <a:p>
            <a:r>
              <a:rPr sz="950" b="0">
                <a:solidFill>
                  <a:srgbClr val="2D3748"/>
                </a:solidFill>
                <a:latin typeface="Inter"/>
              </a:rPr>
              <a:t>•  High AAS but low RAS / SLMS  →  classic Rashomon case; right today, brittle tomorrow</a:t>
            </a:r>
          </a:p>
        </p:txBody>
      </p:sp>
      <p:sp>
        <p:nvSpPr>
          <p:cNvPr id="36" name="TextBox 35"/>
          <p:cNvSpPr txBox="1"/>
          <p:nvPr/>
        </p:nvSpPr>
        <p:spPr>
          <a:xfrm>
            <a:off x="713232" y="4425695"/>
            <a:ext cx="7717536" cy="182880"/>
          </a:xfrm>
          <a:prstGeom prst="rect">
            <a:avLst/>
          </a:prstGeom>
          <a:noFill/>
        </p:spPr>
        <p:txBody>
          <a:bodyPr wrap="square" lIns="45720" rIns="45720" tIns="18288" bIns="18288">
            <a:spAutoFit/>
          </a:bodyPr>
          <a:lstStyle/>
          <a:p>
            <a:r>
              <a:rPr sz="950" b="0">
                <a:solidFill>
                  <a:srgbClr val="2D3748"/>
                </a:solidFill>
                <a:latin typeface="Inter"/>
              </a:rPr>
              <a:t>•  High everything except CS  →  fine for one-shot use, risky in agentic loops</a:t>
            </a:r>
          </a:p>
        </p:txBody>
      </p:sp>
      <p:sp>
        <p:nvSpPr>
          <p:cNvPr id="37" name="TextBox 36"/>
          <p:cNvSpPr txBox="1"/>
          <p:nvPr/>
        </p:nvSpPr>
        <p:spPr>
          <a:xfrm>
            <a:off x="713232" y="4608575"/>
            <a:ext cx="7717536" cy="182880"/>
          </a:xfrm>
          <a:prstGeom prst="rect">
            <a:avLst/>
          </a:prstGeom>
          <a:noFill/>
        </p:spPr>
        <p:txBody>
          <a:bodyPr wrap="square" lIns="45720" rIns="45720" tIns="18288" bIns="18288">
            <a:spAutoFit/>
          </a:bodyPr>
          <a:lstStyle/>
          <a:p>
            <a:r>
              <a:rPr sz="950" b="0">
                <a:solidFill>
                  <a:srgbClr val="2D3748"/>
                </a:solidFill>
                <a:latin typeface="Inter"/>
              </a:rPr>
              <a:t>•  High everything except DKUS  →  fine for general reasoning, suspect in specialist domains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43000"/>
          </a:xfrm>
          <a:prstGeom prst="rect">
            <a:avLst/>
          </a:prstGeom>
          <a:solidFill>
            <a:srgbClr val="0A2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02920"/>
            <a:ext cx="8001000" cy="420624"/>
          </a:xfrm>
          <a:prstGeom prst="rect">
            <a:avLst/>
          </a:prstGeom>
          <a:noFill/>
        </p:spPr>
        <p:txBody>
          <a:bodyPr wrap="square" lIns="45720" rIns="45720" tIns="18288" bIns="18288">
            <a:spAutoFit/>
          </a:bodyPr>
          <a:lstStyle/>
          <a:p>
            <a:r>
              <a:rPr sz="2400" b="1">
                <a:solidFill>
                  <a:srgbClr val="FFFFFF"/>
                </a:solidFill>
                <a:latin typeface="Montserrat"/>
              </a:rPr>
              <a:t>FPS Weight Justification</a:t>
            </a:r>
          </a:p>
        </p:txBody>
      </p:sp>
      <p:sp>
        <p:nvSpPr>
          <p:cNvPr id="4" name="TextBox 3"/>
          <p:cNvSpPr txBox="1"/>
          <p:nvPr/>
        </p:nvSpPr>
        <p:spPr>
          <a:xfrm>
            <a:off x="566928" y="960120"/>
            <a:ext cx="8001000" cy="182880"/>
          </a:xfrm>
          <a:prstGeom prst="rect">
            <a:avLst/>
          </a:prstGeom>
          <a:noFill/>
        </p:spPr>
        <p:txBody>
          <a:bodyPr wrap="square" lIns="45720" rIns="45720" tIns="18288" bIns="18288">
            <a:spAutoFit/>
          </a:bodyPr>
          <a:lstStyle/>
          <a:p>
            <a:r>
              <a:rPr sz="1000" b="0">
                <a:solidFill>
                  <a:srgbClr val="718096"/>
                </a:solidFill>
                <a:latin typeface="Inter"/>
              </a:rPr>
              <a:t>Why each metric carries the weight it does — and why the ranking is robust</a:t>
            </a:r>
          </a:p>
        </p:txBody>
      </p:sp>
      <p:sp>
        <p:nvSpPr>
          <p:cNvPr id="5" name="Rectangle 4"/>
          <p:cNvSpPr/>
          <p:nvPr/>
        </p:nvSpPr>
        <p:spPr>
          <a:xfrm>
            <a:off x="576072" y="1280160"/>
            <a:ext cx="1920240" cy="292608"/>
          </a:xfrm>
          <a:prstGeom prst="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280160"/>
            <a:ext cx="1920240" cy="292608"/>
          </a:xfrm>
          <a:prstGeom prst="rect">
            <a:avLst/>
          </a:prstGeom>
          <a:noFill/>
        </p:spPr>
        <p:txBody>
          <a:bodyPr wrap="square" lIns="45720" rIns="45720" tIns="18288" bIns="18288">
            <a:spAutoFit/>
          </a:bodyPr>
          <a:lstStyle/>
          <a:p>
            <a:r>
              <a:rPr sz="1000" b="1">
                <a:solidFill>
                  <a:srgbClr val="FFFFFF"/>
                </a:solidFill>
                <a:latin typeface="Montserrat"/>
              </a:rPr>
              <a:t>Weight</a:t>
            </a:r>
          </a:p>
        </p:txBody>
      </p:sp>
      <p:sp>
        <p:nvSpPr>
          <p:cNvPr id="7" name="Rectangle 6"/>
          <p:cNvSpPr/>
          <p:nvPr/>
        </p:nvSpPr>
        <p:spPr>
          <a:xfrm>
            <a:off x="2606040" y="1280160"/>
            <a:ext cx="5961888" cy="292608"/>
          </a:xfrm>
          <a:prstGeom prst="rect">
            <a:avLst/>
          </a:prstGeom>
          <a:solidFill>
            <a:srgbClr val="318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06040" y="1280160"/>
            <a:ext cx="5961888" cy="292608"/>
          </a:xfrm>
          <a:prstGeom prst="rect">
            <a:avLst/>
          </a:prstGeom>
          <a:noFill/>
        </p:spPr>
        <p:txBody>
          <a:bodyPr wrap="square" lIns="45720" rIns="45720" tIns="18288" bIns="18288">
            <a:spAutoFit/>
          </a:bodyPr>
          <a:lstStyle/>
          <a:p>
            <a:r>
              <a:rPr sz="1000" b="1">
                <a:solidFill>
                  <a:srgbClr val="FFFFFF"/>
                </a:solidFill>
                <a:latin typeface="Montserrat"/>
              </a:rPr>
              <a:t>Justification</a:t>
            </a:r>
          </a:p>
        </p:txBody>
      </p:sp>
      <p:sp>
        <p:nvSpPr>
          <p:cNvPr id="9" name="TextBox 8"/>
          <p:cNvSpPr txBox="1"/>
          <p:nvPr/>
        </p:nvSpPr>
        <p:spPr>
          <a:xfrm>
            <a:off x="576072" y="1572768"/>
            <a:ext cx="1920240" cy="384048"/>
          </a:xfrm>
          <a:prstGeom prst="rect">
            <a:avLst/>
          </a:prstGeom>
          <a:noFill/>
        </p:spPr>
        <p:txBody>
          <a:bodyPr wrap="square" lIns="45720" rIns="45720" tIns="18288" bIns="18288">
            <a:spAutoFit/>
          </a:bodyPr>
          <a:lstStyle/>
          <a:p>
            <a:r>
              <a:rPr sz="900" b="1">
                <a:solidFill>
                  <a:srgbClr val="0A2342"/>
                </a:solidFill>
                <a:latin typeface="Inter SemiBold"/>
              </a:rPr>
              <a:t>w_RAS = 0.30  (highest)</a:t>
            </a:r>
          </a:p>
        </p:txBody>
      </p:sp>
      <p:sp>
        <p:nvSpPr>
          <p:cNvPr id="10" name="TextBox 9"/>
          <p:cNvSpPr txBox="1"/>
          <p:nvPr/>
        </p:nvSpPr>
        <p:spPr>
          <a:xfrm>
            <a:off x="2606040" y="1572768"/>
            <a:ext cx="5961888" cy="384048"/>
          </a:xfrm>
          <a:prstGeom prst="rect">
            <a:avLst/>
          </a:prstGeom>
          <a:noFill/>
        </p:spPr>
        <p:txBody>
          <a:bodyPr wrap="square" lIns="45720" rIns="45720" tIns="18288" bIns="18288">
            <a:spAutoFit/>
          </a:bodyPr>
          <a:lstStyle/>
          <a:p>
            <a:r>
              <a:rPr sz="900" b="0">
                <a:solidFill>
                  <a:srgbClr val="2D3748"/>
                </a:solidFill>
                <a:latin typeface="Inter"/>
              </a:rPr>
              <a:t>Full-chain alignment is the most direct test of "did it reason like the golden answer." Captures the Rashomon Effect head-on.</a:t>
            </a:r>
          </a:p>
        </p:txBody>
      </p:sp>
      <p:sp>
        <p:nvSpPr>
          <p:cNvPr id="11" name="Rectangle 10"/>
          <p:cNvSpPr/>
          <p:nvPr/>
        </p:nvSpPr>
        <p:spPr>
          <a:xfrm>
            <a:off x="576072" y="1956816"/>
            <a:ext cx="7991855" cy="3840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956816"/>
            <a:ext cx="1920240" cy="384048"/>
          </a:xfrm>
          <a:prstGeom prst="rect">
            <a:avLst/>
          </a:prstGeom>
          <a:noFill/>
        </p:spPr>
        <p:txBody>
          <a:bodyPr wrap="square" lIns="45720" rIns="45720" tIns="18288" bIns="18288">
            <a:spAutoFit/>
          </a:bodyPr>
          <a:lstStyle/>
          <a:p>
            <a:r>
              <a:rPr sz="900" b="1">
                <a:solidFill>
                  <a:srgbClr val="0A2342"/>
                </a:solidFill>
                <a:latin typeface="Inter SemiBold"/>
              </a:rPr>
              <a:t>w_SLMS = 0.25</a:t>
            </a:r>
          </a:p>
        </p:txBody>
      </p:sp>
      <p:sp>
        <p:nvSpPr>
          <p:cNvPr id="13" name="TextBox 12"/>
          <p:cNvSpPr txBox="1"/>
          <p:nvPr/>
        </p:nvSpPr>
        <p:spPr>
          <a:xfrm>
            <a:off x="2606040" y="1956816"/>
            <a:ext cx="5961888" cy="384048"/>
          </a:xfrm>
          <a:prstGeom prst="rect">
            <a:avLst/>
          </a:prstGeom>
          <a:noFill/>
        </p:spPr>
        <p:txBody>
          <a:bodyPr wrap="square" lIns="45720" rIns="45720" tIns="18288" bIns="18288">
            <a:spAutoFit/>
          </a:bodyPr>
          <a:lstStyle/>
          <a:p>
            <a:r>
              <a:rPr sz="900" b="0">
                <a:solidFill>
                  <a:srgbClr val="2D3748"/>
                </a:solidFill>
                <a:latin typeface="Inter"/>
              </a:rPr>
              <a:t>Forces the model to walk through each required step, not just produce a chain that aggregates to a similar embedding.</a:t>
            </a:r>
          </a:p>
        </p:txBody>
      </p:sp>
      <p:sp>
        <p:nvSpPr>
          <p:cNvPr id="14" name="TextBox 13"/>
          <p:cNvSpPr txBox="1"/>
          <p:nvPr/>
        </p:nvSpPr>
        <p:spPr>
          <a:xfrm>
            <a:off x="576072" y="2340864"/>
            <a:ext cx="1920240" cy="384048"/>
          </a:xfrm>
          <a:prstGeom prst="rect">
            <a:avLst/>
          </a:prstGeom>
          <a:noFill/>
        </p:spPr>
        <p:txBody>
          <a:bodyPr wrap="square" lIns="45720" rIns="45720" tIns="18288" bIns="18288">
            <a:spAutoFit/>
          </a:bodyPr>
          <a:lstStyle/>
          <a:p>
            <a:r>
              <a:rPr sz="900" b="1">
                <a:solidFill>
                  <a:srgbClr val="0A2342"/>
                </a:solidFill>
                <a:latin typeface="Inter SemiBold"/>
              </a:rPr>
              <a:t>w_AAS = 0.20</a:t>
            </a:r>
          </a:p>
        </p:txBody>
      </p:sp>
      <p:sp>
        <p:nvSpPr>
          <p:cNvPr id="15" name="TextBox 14"/>
          <p:cNvSpPr txBox="1"/>
          <p:nvPr/>
        </p:nvSpPr>
        <p:spPr>
          <a:xfrm>
            <a:off x="2606040" y="2340864"/>
            <a:ext cx="5961888" cy="384048"/>
          </a:xfrm>
          <a:prstGeom prst="rect">
            <a:avLst/>
          </a:prstGeom>
          <a:noFill/>
        </p:spPr>
        <p:txBody>
          <a:bodyPr wrap="square" lIns="45720" rIns="45720" tIns="18288" bIns="18288">
            <a:spAutoFit/>
          </a:bodyPr>
          <a:lstStyle/>
          <a:p>
            <a:r>
              <a:rPr sz="900" b="0">
                <a:solidFill>
                  <a:srgbClr val="2D3748"/>
                </a:solidFill>
                <a:latin typeface="Inter"/>
              </a:rPr>
              <a:t>Answer correctness still matters but every other benchmark already optimises for it. Two equal-AAS models can have very different reasoning quality.</a:t>
            </a:r>
          </a:p>
        </p:txBody>
      </p:sp>
      <p:sp>
        <p:nvSpPr>
          <p:cNvPr id="16" name="Rectangle 15"/>
          <p:cNvSpPr/>
          <p:nvPr/>
        </p:nvSpPr>
        <p:spPr>
          <a:xfrm>
            <a:off x="576072" y="2724912"/>
            <a:ext cx="7991855" cy="3840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2724912"/>
            <a:ext cx="1920240" cy="384048"/>
          </a:xfrm>
          <a:prstGeom prst="rect">
            <a:avLst/>
          </a:prstGeom>
          <a:noFill/>
        </p:spPr>
        <p:txBody>
          <a:bodyPr wrap="square" lIns="45720" rIns="45720" tIns="18288" bIns="18288">
            <a:spAutoFit/>
          </a:bodyPr>
          <a:lstStyle/>
          <a:p>
            <a:r>
              <a:rPr sz="900" b="1">
                <a:solidFill>
                  <a:srgbClr val="0A2342"/>
                </a:solidFill>
                <a:latin typeface="Inter SemiBold"/>
              </a:rPr>
              <a:t>w_DKUS = 0.15</a:t>
            </a:r>
          </a:p>
        </p:txBody>
      </p:sp>
      <p:sp>
        <p:nvSpPr>
          <p:cNvPr id="18" name="TextBox 17"/>
          <p:cNvSpPr txBox="1"/>
          <p:nvPr/>
        </p:nvSpPr>
        <p:spPr>
          <a:xfrm>
            <a:off x="2606040" y="2724912"/>
            <a:ext cx="5961888" cy="384048"/>
          </a:xfrm>
          <a:prstGeom prst="rect">
            <a:avLst/>
          </a:prstGeom>
          <a:noFill/>
        </p:spPr>
        <p:txBody>
          <a:bodyPr wrap="square" lIns="45720" rIns="45720" tIns="18288" bIns="18288">
            <a:spAutoFit/>
          </a:bodyPr>
          <a:lstStyle/>
          <a:p>
            <a:r>
              <a:rPr sz="900" b="0">
                <a:solidFill>
                  <a:srgbClr val="2D3748"/>
                </a:solidFill>
                <a:latin typeface="Inter"/>
              </a:rPr>
              <a:t>Domain vocabulary check. Implementation is substring-based, so synonyms score zero — kept lower until LLM-judge variant lands.</a:t>
            </a:r>
          </a:p>
        </p:txBody>
      </p:sp>
      <p:sp>
        <p:nvSpPr>
          <p:cNvPr id="19" name="TextBox 18"/>
          <p:cNvSpPr txBox="1"/>
          <p:nvPr/>
        </p:nvSpPr>
        <p:spPr>
          <a:xfrm>
            <a:off x="576072" y="3108960"/>
            <a:ext cx="1920240" cy="384048"/>
          </a:xfrm>
          <a:prstGeom prst="rect">
            <a:avLst/>
          </a:prstGeom>
          <a:noFill/>
        </p:spPr>
        <p:txBody>
          <a:bodyPr wrap="square" lIns="45720" rIns="45720" tIns="18288" bIns="18288">
            <a:spAutoFit/>
          </a:bodyPr>
          <a:lstStyle/>
          <a:p>
            <a:r>
              <a:rPr sz="900" b="1">
                <a:solidFill>
                  <a:srgbClr val="0A2342"/>
                </a:solidFill>
                <a:latin typeface="Inter SemiBold"/>
              </a:rPr>
              <a:t>w_CS = 0.10  (lowest)</a:t>
            </a:r>
          </a:p>
        </p:txBody>
      </p:sp>
      <p:sp>
        <p:nvSpPr>
          <p:cNvPr id="20" name="TextBox 19"/>
          <p:cNvSpPr txBox="1"/>
          <p:nvPr/>
        </p:nvSpPr>
        <p:spPr>
          <a:xfrm>
            <a:off x="2606040" y="3108960"/>
            <a:ext cx="5961888" cy="384048"/>
          </a:xfrm>
          <a:prstGeom prst="rect">
            <a:avLst/>
          </a:prstGeom>
          <a:noFill/>
        </p:spPr>
        <p:txBody>
          <a:bodyPr wrap="square" lIns="45720" rIns="45720" tIns="18288" bIns="18288">
            <a:spAutoFit/>
          </a:bodyPr>
          <a:lstStyle/>
          <a:p>
            <a:r>
              <a:rPr sz="900" b="0">
                <a:solidFill>
                  <a:srgbClr val="2D3748"/>
                </a:solidFill>
                <a:latin typeface="Inter"/>
              </a:rPr>
              <a:t>At temperature 0.7 every model scored CS ≥ 0.99 — does not discriminate well in this dataset. Kept as a tie-breaker.</a:t>
            </a:r>
          </a:p>
        </p:txBody>
      </p:sp>
      <p:sp>
        <p:nvSpPr>
          <p:cNvPr id="21" name="Rectangle 20"/>
          <p:cNvSpPr/>
          <p:nvPr/>
        </p:nvSpPr>
        <p:spPr>
          <a:xfrm>
            <a:off x="566928" y="3584448"/>
            <a:ext cx="8001000"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675888"/>
            <a:ext cx="7717536" cy="201168"/>
          </a:xfrm>
          <a:prstGeom prst="rect">
            <a:avLst/>
          </a:prstGeom>
          <a:noFill/>
        </p:spPr>
        <p:txBody>
          <a:bodyPr wrap="square" lIns="45720" rIns="45720" tIns="18288" bIns="18288">
            <a:spAutoFit/>
          </a:bodyPr>
          <a:lstStyle/>
          <a:p>
            <a:r>
              <a:rPr sz="1150" b="1">
                <a:solidFill>
                  <a:srgbClr val="0A2342"/>
                </a:solidFill>
                <a:latin typeface="Montserrat"/>
              </a:rPr>
              <a:t>Sensitivity to weight choice  —  rankings are stable</a:t>
            </a:r>
          </a:p>
        </p:txBody>
      </p:sp>
      <p:sp>
        <p:nvSpPr>
          <p:cNvPr id="23" name="TextBox 22"/>
          <p:cNvSpPr txBox="1"/>
          <p:nvPr/>
        </p:nvSpPr>
        <p:spPr>
          <a:xfrm>
            <a:off x="713232" y="3913632"/>
            <a:ext cx="3108960" cy="219456"/>
          </a:xfrm>
          <a:prstGeom prst="rect">
            <a:avLst/>
          </a:prstGeom>
          <a:noFill/>
        </p:spPr>
        <p:txBody>
          <a:bodyPr wrap="square" lIns="45720" rIns="45720" tIns="18288" bIns="18288">
            <a:spAutoFit/>
          </a:bodyPr>
          <a:lstStyle/>
          <a:p>
            <a:r>
              <a:rPr sz="950" b="1">
                <a:solidFill>
                  <a:srgbClr val="0A2342"/>
                </a:solidFill>
                <a:latin typeface="Inter SemiBold"/>
              </a:rPr>
              <a:t>Default / Equal / Reasoning-only schemes</a:t>
            </a:r>
          </a:p>
        </p:txBody>
      </p:sp>
      <p:sp>
        <p:nvSpPr>
          <p:cNvPr id="24" name="TextBox 23"/>
          <p:cNvSpPr txBox="1"/>
          <p:nvPr/>
        </p:nvSpPr>
        <p:spPr>
          <a:xfrm>
            <a:off x="3840480" y="3913632"/>
            <a:ext cx="4663440" cy="219456"/>
          </a:xfrm>
          <a:prstGeom prst="rect">
            <a:avLst/>
          </a:prstGeom>
          <a:noFill/>
        </p:spPr>
        <p:txBody>
          <a:bodyPr wrap="square" lIns="45720" rIns="45720" tIns="18288" bIns="18288">
            <a:spAutoFit/>
          </a:bodyPr>
          <a:lstStyle/>
          <a:p>
            <a:r>
              <a:rPr sz="950" b="0">
                <a:solidFill>
                  <a:srgbClr val="2D3748"/>
                </a:solidFill>
                <a:latin typeface="Inter"/>
              </a:rPr>
              <a:t>claude-haiku-4-5,  claude-sonnet-4,  claude-opus-4-5    (mistral → 4)</a:t>
            </a:r>
          </a:p>
        </p:txBody>
      </p:sp>
      <p:sp>
        <p:nvSpPr>
          <p:cNvPr id="25" name="TextBox 24"/>
          <p:cNvSpPr txBox="1"/>
          <p:nvPr/>
        </p:nvSpPr>
        <p:spPr>
          <a:xfrm>
            <a:off x="713232" y="4151376"/>
            <a:ext cx="3108960" cy="219456"/>
          </a:xfrm>
          <a:prstGeom prst="rect">
            <a:avLst/>
          </a:prstGeom>
          <a:noFill/>
        </p:spPr>
        <p:txBody>
          <a:bodyPr wrap="square" lIns="45720" rIns="45720" tIns="18288" bIns="18288">
            <a:spAutoFit/>
          </a:bodyPr>
          <a:lstStyle/>
          <a:p>
            <a:r>
              <a:rPr sz="950" b="1">
                <a:solidFill>
                  <a:srgbClr val="0A2342"/>
                </a:solidFill>
                <a:latin typeface="Inter SemiBold"/>
              </a:rPr>
              <a:t>AAS-heavy  (w_AAS = 0.50)</a:t>
            </a:r>
          </a:p>
        </p:txBody>
      </p:sp>
      <p:sp>
        <p:nvSpPr>
          <p:cNvPr id="26" name="TextBox 25"/>
          <p:cNvSpPr txBox="1"/>
          <p:nvPr/>
        </p:nvSpPr>
        <p:spPr>
          <a:xfrm>
            <a:off x="3840480" y="4151376"/>
            <a:ext cx="4663440" cy="219456"/>
          </a:xfrm>
          <a:prstGeom prst="rect">
            <a:avLst/>
          </a:prstGeom>
          <a:noFill/>
        </p:spPr>
        <p:txBody>
          <a:bodyPr wrap="square" lIns="45720" rIns="45720" tIns="18288" bIns="18288">
            <a:spAutoFit/>
          </a:bodyPr>
          <a:lstStyle/>
          <a:p>
            <a:r>
              <a:rPr sz="950" b="0">
                <a:solidFill>
                  <a:srgbClr val="2D3748"/>
                </a:solidFill>
                <a:latin typeface="Inter"/>
              </a:rPr>
              <a:t>claude-sonnet-4,  mistral,  claude-haiku-4-5    (mistral → 2)</a:t>
            </a:r>
          </a:p>
        </p:txBody>
      </p:sp>
      <p:sp>
        <p:nvSpPr>
          <p:cNvPr id="27" name="TextBox 26"/>
          <p:cNvSpPr txBox="1"/>
          <p:nvPr/>
        </p:nvSpPr>
        <p:spPr>
          <a:xfrm>
            <a:off x="713232" y="4389120"/>
            <a:ext cx="3108960" cy="219456"/>
          </a:xfrm>
          <a:prstGeom prst="rect">
            <a:avLst/>
          </a:prstGeom>
          <a:noFill/>
        </p:spPr>
        <p:txBody>
          <a:bodyPr wrap="square" lIns="45720" rIns="45720" tIns="18288" bIns="18288">
            <a:spAutoFit/>
          </a:bodyPr>
          <a:lstStyle/>
          <a:p>
            <a:r>
              <a:rPr sz="950" b="1">
                <a:solidFill>
                  <a:srgbClr val="0A2342"/>
                </a:solidFill>
                <a:latin typeface="Inter SemiBold"/>
              </a:rPr>
              <a:t>AAS-only  (w_AAS = 1.00,  the failure mode)</a:t>
            </a:r>
          </a:p>
        </p:txBody>
      </p:sp>
      <p:sp>
        <p:nvSpPr>
          <p:cNvPr id="28" name="TextBox 27"/>
          <p:cNvSpPr txBox="1"/>
          <p:nvPr/>
        </p:nvSpPr>
        <p:spPr>
          <a:xfrm>
            <a:off x="3840480" y="4389120"/>
            <a:ext cx="4663440" cy="219456"/>
          </a:xfrm>
          <a:prstGeom prst="rect">
            <a:avLst/>
          </a:prstGeom>
          <a:noFill/>
        </p:spPr>
        <p:txBody>
          <a:bodyPr wrap="square" lIns="45720" rIns="45720" tIns="18288" bIns="18288">
            <a:spAutoFit/>
          </a:bodyPr>
          <a:lstStyle/>
          <a:p>
            <a:r>
              <a:rPr sz="950" b="0">
                <a:solidFill>
                  <a:srgbClr val="2D3748"/>
                </a:solidFill>
                <a:latin typeface="Inter"/>
              </a:rPr>
              <a:t>mistral,  claude-sonnet-4,  claude-opus-4-5    (mistral → 1)</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